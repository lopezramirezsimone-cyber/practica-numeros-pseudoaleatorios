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57" r:id="rId3"/>
    <p:sldId id="262" r:id="rId4"/>
    <p:sldId id="258" r:id="rId5"/>
    <p:sldId id="261" r:id="rId6"/>
    <p:sldId id="265" r:id="rId7"/>
    <p:sldId id="260"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80" d="100"/>
          <a:sy n="80"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27/09/2026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224282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27/09/2026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98135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27/09/2026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64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04380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27/09/2026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72070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D21CB79-48B0-4476-B550-9B8E0D8A515F}" type="datetimeFigureOut">
              <a:rPr lang="es-MX" smtClean="0"/>
              <a:t>27/09/2026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344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D21CB79-48B0-4476-B550-9B8E0D8A515F}" type="datetimeFigureOut">
              <a:rPr lang="es-MX" smtClean="0"/>
              <a:t>27/09/2026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6454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9022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62682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31078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496301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9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27/09/2026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538227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27/09/2026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92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27/09/2026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8271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27/09/2026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47379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27/09/2026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104729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27/09/2026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873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D21CB79-48B0-4476-B550-9B8E0D8A515F}" type="datetimeFigureOut">
              <a:rPr lang="es-MX" smtClean="0"/>
              <a:t>27/09/2026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268365690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Cynthia21Morales/SIMULACION_CynthiaJasmineMT/blob/main/SIM-Tema-1/Actividad%201.2%20Reporte%20de%20Practica_CynthiaMorales_Sim_7ISCM.pptx"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671033" y="78183"/>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992616" y="31119"/>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5285663" y="199566"/>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924425"/>
          </a:xfrm>
          <a:prstGeom prst="rect">
            <a:avLst/>
          </a:prstGeom>
        </p:spPr>
        <p:txBody>
          <a:bodyPr wrap="square" lIns="0" tIns="0" rIns="0" bIns="0" rtlCol="0" anchor="t">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MATERIA:</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SIMULACIÓN</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SEMESTRE: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SEPTIMO SEMESTRE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ESPECIALIDAD:</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INGENIERÍA EN SISTEMAS COMPUTACIONALES.</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ALUMNO: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SIMONE BELEN LOPEZ RAMIREZ / 231260010</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NOMBRE DEL DOCENTE: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ING. FRANCISCO JAVIER MINGO VELAZQUEZ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TRABAJO: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2.3 BANCO DE EJERCICIOS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FRONTERA COMALAPA, CHIAPAS. A 26 DE SEPTIEMBRE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INSTITUTO TECNOLÓGICO DE FRONTERA COMALAPA </a:t>
            </a:r>
          </a:p>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a:xfrm>
            <a:off x="2852425" y="1716946"/>
            <a:ext cx="6487150" cy="3424107"/>
          </a:xfrm>
        </p:spPr>
        <p:txBody>
          <a:bodyPr>
            <a:normAutofit/>
          </a:bodyPr>
          <a:lstStyle/>
          <a:p>
            <a:pPr marL="0" indent="0" algn="just">
              <a:buNone/>
            </a:pPr>
            <a:r>
              <a:rPr lang="es-MX" sz="1600" cap="none" dirty="0">
                <a:latin typeface="Calibri" panose="020F0502020204030204" pitchFamily="34" charset="0"/>
                <a:ea typeface="Calibri" panose="020F0502020204030204" pitchFamily="34" charset="0"/>
                <a:cs typeface="Calibri" panose="020F0502020204030204" pitchFamily="34" charset="0"/>
              </a:rPr>
              <a:t>En esta práctica se trabajó con números pseudoaleatorios. son números que parecen salir al azar, pero que la computadora obtiene siguiendo una operación. para mostrar cómo funciona, se generaron diez números en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java y rstudio y después se compararon los resultados.</a:t>
            </a:r>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a:xfrm>
            <a:off x="3357249" y="1716946"/>
            <a:ext cx="5920101" cy="3424107"/>
          </a:xfrm>
        </p:spPr>
        <p:txBody>
          <a:bodyPr>
            <a:normAutofit/>
          </a:bodyPr>
          <a:lstStyle/>
          <a:p>
            <a:pPr marL="0" indent="0" algn="just">
              <a:buNone/>
            </a:pPr>
            <a:r>
              <a:rPr lang="es-MX" sz="1600" cap="none" dirty="0">
                <a:latin typeface="Calibri" panose="020F0502020204030204" pitchFamily="34" charset="0"/>
                <a:ea typeface="Calibri" panose="020F0502020204030204" pitchFamily="34" charset="0"/>
                <a:cs typeface="Calibri" panose="020F0502020204030204" pitchFamily="34" charset="0"/>
              </a:rPr>
              <a:t>Se realizó la práctica para entender de dónde salen esos números y comprobar qué pasa al usar la misma operación y el mismo número inicial en los tres programas. así se puede ver que, aunque el código se escribe de forma diferente, los resultados son iguales.</a:t>
            </a:r>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
        <p:nvSpPr>
          <p:cNvPr id="8" name="CuadroTexto 7">
            <a:extLst>
              <a:ext uri="{FF2B5EF4-FFF2-40B4-BE49-F238E27FC236}">
                <a16:creationId xmlns:a16="http://schemas.microsoft.com/office/drawing/2014/main" id="{DCFBED2C-3019-4CD4-A9D3-CDE7B493C8CA}"/>
              </a:ext>
            </a:extLst>
          </p:cNvPr>
          <p:cNvSpPr txBox="1"/>
          <p:nvPr/>
        </p:nvSpPr>
        <p:spPr>
          <a:xfrm>
            <a:off x="535302" y="76505"/>
            <a:ext cx="9827898" cy="2031325"/>
          </a:xfrm>
          <a:prstGeom prst="rect">
            <a:avLst/>
          </a:prstGeom>
          <a:noFill/>
        </p:spPr>
        <p:txBody>
          <a:bodyPr wrap="square" rtlCol="0">
            <a:spAutoFit/>
          </a:bodyPr>
          <a:lstStyle/>
          <a:p>
            <a:r>
              <a:rPr lang="es-MX" dirty="0"/>
              <a:t>Generador </a:t>
            </a:r>
            <a:r>
              <a:rPr lang="es-MX" dirty="0" err="1"/>
              <a:t>congruencial</a:t>
            </a:r>
            <a:r>
              <a:rPr lang="es-MX" dirty="0"/>
              <a:t> en Java</a:t>
            </a:r>
          </a:p>
          <a:p>
            <a:endParaRPr lang="es-MX" dirty="0"/>
          </a:p>
          <a:p>
            <a:pPr algn="just"/>
            <a:r>
              <a:rPr lang="es-MX" dirty="0">
                <a:latin typeface="Calibri" panose="020F0502020204030204" pitchFamily="34" charset="0"/>
                <a:ea typeface="Calibri" panose="020F0502020204030204" pitchFamily="34" charset="0"/>
                <a:cs typeface="Calibri" panose="020F0502020204030204" pitchFamily="34" charset="0"/>
              </a:rPr>
              <a:t>El programa comienza con el número 4 y aplica la misma operación diez veces. Cada resultado se divide entre 16 para obtener un valor entre 0 y 1. Si se vuelve a ejecutar, aparecen los mismos números porque el valor inicial no cambia.</a:t>
            </a:r>
          </a:p>
          <a:p>
            <a:endParaRPr lang="es-MX" dirty="0"/>
          </a:p>
          <a:p>
            <a:endParaRPr lang="es-MX" dirty="0"/>
          </a:p>
        </p:txBody>
      </p:sp>
      <p:pic>
        <p:nvPicPr>
          <p:cNvPr id="10" name="Imagen 9">
            <a:extLst>
              <a:ext uri="{FF2B5EF4-FFF2-40B4-BE49-F238E27FC236}">
                <a16:creationId xmlns:a16="http://schemas.microsoft.com/office/drawing/2014/main" id="{CEB0585B-E9E4-4D5F-B2D2-9F0D42D1A8BD}"/>
              </a:ext>
            </a:extLst>
          </p:cNvPr>
          <p:cNvPicPr>
            <a:picLocks noChangeAspect="1"/>
          </p:cNvPicPr>
          <p:nvPr/>
        </p:nvPicPr>
        <p:blipFill>
          <a:blip r:embed="rId2"/>
          <a:stretch>
            <a:fillRect/>
          </a:stretch>
        </p:blipFill>
        <p:spPr>
          <a:xfrm>
            <a:off x="2145988" y="2371725"/>
            <a:ext cx="8064811" cy="4291882"/>
          </a:xfrm>
          <a:prstGeom prst="rect">
            <a:avLst/>
          </a:prstGeom>
        </p:spPr>
      </p:pic>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3">
            <a:extLst>
              <a:ext uri="{FF2B5EF4-FFF2-40B4-BE49-F238E27FC236}">
                <a16:creationId xmlns:a16="http://schemas.microsoft.com/office/drawing/2014/main" id="{C351BC62-4AB9-FDCF-6A98-8FD53AE6EF79}"/>
              </a:ext>
            </a:extLst>
          </p:cNvPr>
          <p:cNvSpPr>
            <a:spLocks noChangeArrowheads="1"/>
          </p:cNvSpPr>
          <p:nvPr/>
        </p:nvSpPr>
        <p:spPr bwMode="auto">
          <a:xfrm>
            <a:off x="2341936" y="368247"/>
            <a:ext cx="888803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65175" algn="l"/>
              </a:tabLst>
              <a:defRPr>
                <a:solidFill>
                  <a:schemeClr val="tx1"/>
                </a:solidFill>
                <a:latin typeface="Arial" panose="020B0604020202020204" pitchFamily="34" charset="0"/>
              </a:defRPr>
            </a:lvl1pPr>
            <a:lvl2pPr eaLnBrk="0" fontAlgn="base" hangingPunct="0">
              <a:spcBef>
                <a:spcPct val="0"/>
              </a:spcBef>
              <a:spcAft>
                <a:spcPct val="0"/>
              </a:spcAft>
              <a:tabLst>
                <a:tab pos="765175" algn="l"/>
              </a:tabLst>
              <a:defRPr>
                <a:solidFill>
                  <a:schemeClr val="tx1"/>
                </a:solidFill>
                <a:latin typeface="Arial" panose="020B0604020202020204" pitchFamily="34" charset="0"/>
              </a:defRPr>
            </a:lvl2pPr>
            <a:lvl3pPr eaLnBrk="0" fontAlgn="base" hangingPunct="0">
              <a:spcBef>
                <a:spcPct val="0"/>
              </a:spcBef>
              <a:spcAft>
                <a:spcPct val="0"/>
              </a:spcAft>
              <a:tabLst>
                <a:tab pos="765175" algn="l"/>
              </a:tabLst>
              <a:defRPr>
                <a:solidFill>
                  <a:schemeClr val="tx1"/>
                </a:solidFill>
                <a:latin typeface="Arial" panose="020B0604020202020204" pitchFamily="34" charset="0"/>
              </a:defRPr>
            </a:lvl3pPr>
            <a:lvl4pPr eaLnBrk="0" fontAlgn="base" hangingPunct="0">
              <a:spcBef>
                <a:spcPct val="0"/>
              </a:spcBef>
              <a:spcAft>
                <a:spcPct val="0"/>
              </a:spcAft>
              <a:tabLst>
                <a:tab pos="765175" algn="l"/>
              </a:tabLst>
              <a:defRPr>
                <a:solidFill>
                  <a:schemeClr val="tx1"/>
                </a:solidFill>
                <a:latin typeface="Arial" panose="020B0604020202020204" pitchFamily="34" charset="0"/>
              </a:defRPr>
            </a:lvl4pPr>
            <a:lvl5pPr eaLnBrk="0" fontAlgn="base" hangingPunct="0">
              <a:spcBef>
                <a:spcPct val="0"/>
              </a:spcBef>
              <a:spcAft>
                <a:spcPct val="0"/>
              </a:spcAft>
              <a:tabLst>
                <a:tab pos="765175" algn="l"/>
              </a:tabLst>
              <a:defRPr>
                <a:solidFill>
                  <a:schemeClr val="tx1"/>
                </a:solidFill>
                <a:latin typeface="Arial" panose="020B0604020202020204" pitchFamily="34" charset="0"/>
              </a:defRPr>
            </a:lvl5pPr>
            <a:lvl6pPr eaLnBrk="0" fontAlgn="base" hangingPunct="0">
              <a:spcBef>
                <a:spcPct val="0"/>
              </a:spcBef>
              <a:spcAft>
                <a:spcPct val="0"/>
              </a:spcAft>
              <a:tabLst>
                <a:tab pos="765175" algn="l"/>
              </a:tabLst>
              <a:defRPr>
                <a:solidFill>
                  <a:schemeClr val="tx1"/>
                </a:solidFill>
                <a:latin typeface="Arial" panose="020B0604020202020204" pitchFamily="34" charset="0"/>
              </a:defRPr>
            </a:lvl6pPr>
            <a:lvl7pPr eaLnBrk="0" fontAlgn="base" hangingPunct="0">
              <a:spcBef>
                <a:spcPct val="0"/>
              </a:spcBef>
              <a:spcAft>
                <a:spcPct val="0"/>
              </a:spcAft>
              <a:tabLst>
                <a:tab pos="765175" algn="l"/>
              </a:tabLst>
              <a:defRPr>
                <a:solidFill>
                  <a:schemeClr val="tx1"/>
                </a:solidFill>
                <a:latin typeface="Arial" panose="020B0604020202020204" pitchFamily="34" charset="0"/>
              </a:defRPr>
            </a:lvl7pPr>
            <a:lvl8pPr eaLnBrk="0" fontAlgn="base" hangingPunct="0">
              <a:spcBef>
                <a:spcPct val="0"/>
              </a:spcBef>
              <a:spcAft>
                <a:spcPct val="0"/>
              </a:spcAft>
              <a:tabLst>
                <a:tab pos="765175" algn="l"/>
              </a:tabLst>
              <a:defRPr>
                <a:solidFill>
                  <a:schemeClr val="tx1"/>
                </a:solidFill>
                <a:latin typeface="Arial" panose="020B0604020202020204" pitchFamily="34" charset="0"/>
              </a:defRPr>
            </a:lvl8pPr>
            <a:lvl9pPr eaLnBrk="0" fontAlgn="base" hangingPunct="0">
              <a:spcBef>
                <a:spcPct val="0"/>
              </a:spcBef>
              <a:spcAft>
                <a:spcPct val="0"/>
              </a:spcAft>
              <a:tabLst>
                <a:tab pos="765175"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765175" algn="l"/>
              </a:tabLst>
            </a:pPr>
            <a:r>
              <a:rPr kumimoji="0" lang="es-MX" altLang="es-MX"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JAVA</a:t>
            </a:r>
          </a:p>
          <a:p>
            <a:pPr algn="just"/>
            <a:r>
              <a:rPr lang="es-MX" sz="1600" dirty="0">
                <a:latin typeface="Calibri" panose="020F0502020204030204" pitchFamily="34" charset="0"/>
                <a:ea typeface="Calibri" panose="020F0502020204030204" pitchFamily="34" charset="0"/>
                <a:cs typeface="Calibri" panose="020F0502020204030204" pitchFamily="34" charset="0"/>
              </a:rPr>
              <a:t>se usó una semilla inicial de 7 y una fórmula que calcula cada número a partir del anterior. El programa repitió ese cálculo diez veces y mostró los valores obtenidos en la columna X.</a:t>
            </a:r>
          </a:p>
          <a:p>
            <a:pPr algn="just"/>
            <a:r>
              <a:rPr lang="es-MX" sz="1600" dirty="0">
                <a:latin typeface="Calibri" panose="020F0502020204030204" pitchFamily="34" charset="0"/>
                <a:ea typeface="Calibri" panose="020F0502020204030204" pitchFamily="34" charset="0"/>
                <a:cs typeface="Calibri" panose="020F0502020204030204" pitchFamily="34" charset="0"/>
              </a:rPr>
              <a:t>Después, cada valor de X se dividió entre 16 para obtener un resultado entre 0 y 1. Por ejemplo, el primer valor es 6, y al dividirlo entre 16 se obtiene 0.375. Se llaman pseudoaleatorios porque parecen aleatorios, pero si se vuelve a usar la misma semilla, saldrá la misma secuencia.</a:t>
            </a:r>
          </a:p>
          <a:p>
            <a:pPr marL="0" marR="0" lvl="0" indent="0" algn="just" defTabSz="914400" rtl="0" eaLnBrk="0" fontAlgn="base" latinLnBrk="0" hangingPunct="0">
              <a:lnSpc>
                <a:spcPct val="100000"/>
              </a:lnSpc>
              <a:spcBef>
                <a:spcPct val="0"/>
              </a:spcBef>
              <a:spcAft>
                <a:spcPct val="0"/>
              </a:spcAft>
              <a:buClrTx/>
              <a:buSzTx/>
              <a:buFontTx/>
              <a:buNone/>
              <a:tabLst>
                <a:tab pos="765175" algn="l"/>
              </a:tabLst>
            </a:pPr>
            <a:endParaRPr kumimoji="0" lang="es-MX" altLang="es-MX"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7" name="Imagen 6">
            <a:extLst>
              <a:ext uri="{FF2B5EF4-FFF2-40B4-BE49-F238E27FC236}">
                <a16:creationId xmlns:a16="http://schemas.microsoft.com/office/drawing/2014/main" id="{F3AB8C79-4898-42E3-936C-B9BE19D1BCEB}"/>
              </a:ext>
            </a:extLst>
          </p:cNvPr>
          <p:cNvPicPr>
            <a:picLocks noChangeAspect="1"/>
          </p:cNvPicPr>
          <p:nvPr/>
        </p:nvPicPr>
        <p:blipFill>
          <a:blip r:embed="rId2"/>
          <a:stretch>
            <a:fillRect/>
          </a:stretch>
        </p:blipFill>
        <p:spPr>
          <a:xfrm>
            <a:off x="2743200" y="2855741"/>
            <a:ext cx="6972300" cy="3818452"/>
          </a:xfrm>
          <a:prstGeom prst="rect">
            <a:avLst/>
          </a:prstGeom>
        </p:spPr>
      </p:pic>
    </p:spTree>
    <p:extLst>
      <p:ext uri="{BB962C8B-B14F-4D97-AF65-F5344CB8AC3E}">
        <p14:creationId xmlns:p14="http://schemas.microsoft.com/office/powerpoint/2010/main" val="207115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E7619E-5CDE-4EFF-B8F7-25C1DDDA66E3}"/>
              </a:ext>
            </a:extLst>
          </p:cNvPr>
          <p:cNvSpPr>
            <a:spLocks noGrp="1"/>
          </p:cNvSpPr>
          <p:nvPr>
            <p:ph type="title"/>
          </p:nvPr>
        </p:nvSpPr>
        <p:spPr>
          <a:xfrm>
            <a:off x="2961651" y="646484"/>
            <a:ext cx="4867899" cy="1596177"/>
          </a:xfrm>
        </p:spPr>
        <p:txBody>
          <a:bodyPr>
            <a:normAutofit fontScale="90000"/>
          </a:bodyPr>
          <a:lstStyle/>
          <a:p>
            <a:pPr algn="just"/>
            <a:r>
              <a:rPr lang="es-MX" sz="1600" b="1" dirty="0"/>
              <a:t>Rstudio</a:t>
            </a:r>
            <a:br>
              <a:rPr lang="es-MX" sz="1600" b="1" dirty="0"/>
            </a:br>
            <a:r>
              <a:rPr lang="es-MX" sz="1600" cap="none" dirty="0">
                <a:latin typeface="Calibri" panose="020F0502020204030204" pitchFamily="34" charset="0"/>
                <a:ea typeface="Calibri" panose="020F0502020204030204" pitchFamily="34" charset="0"/>
                <a:cs typeface="Calibri" panose="020F0502020204030204" pitchFamily="34" charset="0"/>
              </a:rPr>
              <a:t>en esta práctica se generaron números pseudoaleatorios en rstudio mediante una fórmula que parte de un valor inicial, llamado semilla. en cada vuelta, el programa calcula un número nuevo y lo divide entre 16 para obtener un resultado entre 0 y 1.</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al ejecutar el código se obtuvieron diez resultados. como se usa la misma semilla, la secuencia se repite cada vez que se ejecuta el programa. esto permite comprobar que el código funciona y comparar sus resultados con los obtenidos en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y java</a:t>
            </a:r>
            <a:r>
              <a:rPr lang="es-MX" sz="1600" dirty="0">
                <a:latin typeface="Calibri" panose="020F0502020204030204" pitchFamily="34" charset="0"/>
                <a:ea typeface="Calibri" panose="020F0502020204030204" pitchFamily="34" charset="0"/>
                <a:cs typeface="Calibri" panose="020F0502020204030204" pitchFamily="34" charset="0"/>
              </a:rPr>
              <a:t>.</a:t>
            </a:r>
            <a:br>
              <a:rPr lang="es-MX" sz="1000" dirty="0"/>
            </a:br>
            <a:endParaRPr lang="es-MX" sz="1600" b="1" dirty="0"/>
          </a:p>
        </p:txBody>
      </p:sp>
      <p:pic>
        <p:nvPicPr>
          <p:cNvPr id="5" name="Marcador de contenido 4">
            <a:extLst>
              <a:ext uri="{FF2B5EF4-FFF2-40B4-BE49-F238E27FC236}">
                <a16:creationId xmlns:a16="http://schemas.microsoft.com/office/drawing/2014/main" id="{D371BBA1-C15D-488B-8D99-793084F4664D}"/>
              </a:ext>
            </a:extLst>
          </p:cNvPr>
          <p:cNvPicPr>
            <a:picLocks noGrp="1" noChangeAspect="1"/>
          </p:cNvPicPr>
          <p:nvPr>
            <p:ph idx="1"/>
          </p:nvPr>
        </p:nvPicPr>
        <p:blipFill>
          <a:blip r:embed="rId2"/>
          <a:stretch>
            <a:fillRect/>
          </a:stretch>
        </p:blipFill>
        <p:spPr>
          <a:xfrm>
            <a:off x="1453665" y="2815246"/>
            <a:ext cx="9284670" cy="3424237"/>
          </a:xfrm>
        </p:spPr>
      </p:pic>
    </p:spTree>
    <p:extLst>
      <p:ext uri="{BB962C8B-B14F-4D97-AF65-F5344CB8AC3E}">
        <p14:creationId xmlns:p14="http://schemas.microsoft.com/office/powerpoint/2010/main" val="189022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2A2A-790E-677F-2565-9BEEFD32A52D}"/>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a:xfrm>
            <a:off x="2343150" y="1938468"/>
            <a:ext cx="8163552" cy="3424107"/>
          </a:xfrm>
        </p:spPr>
        <p:txBody>
          <a:bodyPr/>
          <a:lstStyle/>
          <a:p>
            <a:pPr marL="0" indent="0" algn="just">
              <a:buNone/>
            </a:pPr>
            <a:r>
              <a:rPr lang="es-MX" cap="none" dirty="0">
                <a:latin typeface="Calibri" panose="020F0502020204030204" pitchFamily="34" charset="0"/>
                <a:ea typeface="Calibri" panose="020F0502020204030204" pitchFamily="34" charset="0"/>
                <a:cs typeface="Calibri" panose="020F0502020204030204" pitchFamily="34" charset="0"/>
              </a:rPr>
              <a:t> Se observó que la computadora puede generar números que parecen salir al azar, aunque en realidad sigue una operación. al hacer el ejercicio en </a:t>
            </a:r>
            <a:r>
              <a:rPr lang="es-MX" cap="none" dirty="0" err="1">
                <a:latin typeface="Calibri" panose="020F0502020204030204" pitchFamily="34" charset="0"/>
                <a:ea typeface="Calibri" panose="020F0502020204030204" pitchFamily="34" charset="0"/>
                <a:cs typeface="Calibri" panose="020F0502020204030204" pitchFamily="34" charset="0"/>
              </a:rPr>
              <a:t>python</a:t>
            </a:r>
            <a:r>
              <a:rPr lang="es-MX" cap="none" dirty="0">
                <a:latin typeface="Calibri" panose="020F0502020204030204" pitchFamily="34" charset="0"/>
                <a:ea typeface="Calibri" panose="020F0502020204030204" pitchFamily="34" charset="0"/>
                <a:cs typeface="Calibri" panose="020F0502020204030204" pitchFamily="34" charset="0"/>
              </a:rPr>
              <a:t>, java y rstudio, se obtuvieron los mismos resultados porque se usó el mismo número inicial y la misma fórmula. esto ayudó a comprender cómo se forman estos números y a comprobar que el procedimiento funciona igual en los tres lenguajes.</a:t>
            </a:r>
          </a:p>
        </p:txBody>
      </p:sp>
    </p:spTree>
    <p:extLst>
      <p:ext uri="{BB962C8B-B14F-4D97-AF65-F5344CB8AC3E}">
        <p14:creationId xmlns:p14="http://schemas.microsoft.com/office/powerpoint/2010/main" val="34598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AE06C-DB4B-D47A-5033-09B34EA180D3}"/>
              </a:ext>
            </a:extLst>
          </p:cNvPr>
          <p:cNvSpPr>
            <a:spLocks noGrp="1"/>
          </p:cNvSpPr>
          <p:nvPr>
            <p:ph type="title"/>
          </p:nvPr>
        </p:nvSpPr>
        <p:spPr/>
        <p:txBody>
          <a:bodyPr/>
          <a:lstStyle/>
          <a:p>
            <a:r>
              <a:rPr lang="es-MX" dirty="0"/>
              <a:t>ANEXO LINK DE LA ACTIVIDAD SOLICITADA</a:t>
            </a:r>
          </a:p>
        </p:txBody>
      </p:sp>
      <p:sp>
        <p:nvSpPr>
          <p:cNvPr id="3" name="Marcador de contenido 2">
            <a:extLst>
              <a:ext uri="{FF2B5EF4-FFF2-40B4-BE49-F238E27FC236}">
                <a16:creationId xmlns:a16="http://schemas.microsoft.com/office/drawing/2014/main" id="{04B7A01D-7DBC-3D2C-2A8F-6560E4BAEACC}"/>
              </a:ext>
            </a:extLst>
          </p:cNvPr>
          <p:cNvSpPr>
            <a:spLocks noGrp="1"/>
          </p:cNvSpPr>
          <p:nvPr>
            <p:ph idx="1"/>
          </p:nvPr>
        </p:nvSpPr>
        <p:spPr>
          <a:xfrm>
            <a:off x="685175" y="2309943"/>
            <a:ext cx="10364452" cy="3424107"/>
          </a:xfrm>
        </p:spPr>
        <p:txBody>
          <a:bodyPr/>
          <a:lstStyle/>
          <a:p>
            <a:pPr marL="0" indent="0">
              <a:buNone/>
            </a:pPr>
            <a:r>
              <a:rPr lang="es-MX" dirty="0">
                <a:hlinkClick r:id="rId2"/>
              </a:rPr>
              <a:t>https://github.com/lopezramirezsimone-cyber/practica-numeros-pseudoaleatorios.git</a:t>
            </a:r>
          </a:p>
          <a:p>
            <a:pPr marL="0" indent="0">
              <a:buNone/>
            </a:pPr>
            <a:endParaRPr lang="es-MX" dirty="0">
              <a:hlinkClick r:id="rId2"/>
            </a:endParaRPr>
          </a:p>
        </p:txBody>
      </p:sp>
    </p:spTree>
    <p:extLst>
      <p:ext uri="{BB962C8B-B14F-4D97-AF65-F5344CB8AC3E}">
        <p14:creationId xmlns:p14="http://schemas.microsoft.com/office/powerpoint/2010/main" val="1434526284"/>
      </p:ext>
    </p:extLst>
  </p:cSld>
  <p:clrMapOvr>
    <a:masterClrMapping/>
  </p:clrMapOvr>
</p:sld>
</file>

<file path=ppt/theme/theme1.xml><?xml version="1.0" encoding="utf-8"?>
<a:theme xmlns:a="http://schemas.openxmlformats.org/drawingml/2006/main" name="Gota">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Gota</Template>
  <TotalTime>952</TotalTime>
  <Words>502</Words>
  <Application>Microsoft Office PowerPoint</Application>
  <PresentationFormat>Panorámica</PresentationFormat>
  <Paragraphs>37</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Tw Cen MT</vt:lpstr>
      <vt:lpstr>Gota</vt:lpstr>
      <vt:lpstr>Presentación de PowerPoint</vt:lpstr>
      <vt:lpstr>Introducción </vt:lpstr>
      <vt:lpstr>Justificación </vt:lpstr>
      <vt:lpstr>Presentación de PowerPoint</vt:lpstr>
      <vt:lpstr>Presentación de PowerPoint</vt:lpstr>
      <vt:lpstr>Rstudio en esta práctica se generaron números pseudoaleatorios en rstudio mediante una fórmula que parte de un valor inicial, llamado semilla. en cada vuelta, el programa calcula un número nuevo y lo divide entre 16 para obtener un resultado entre 0 y 1. al ejecutar el código se obtuvieron diez resultados. como se usa la misma semilla, la secuencia se repite cada vez que se ejecuta el programa. esto permite comprobar que el código funciona y comparar sus resultados con los obtenidos en python y java. </vt:lpstr>
      <vt:lpstr>Conclusión </vt:lpstr>
      <vt:lpstr>ANEXO LINK DE LA ACTIVIDAD SOLICITADA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840 G5</dc:creator>
  <cp:lastModifiedBy>Belen</cp:lastModifiedBy>
  <cp:revision>14</cp:revision>
  <dcterms:created xsi:type="dcterms:W3CDTF">2025-08-17T02:41:38Z</dcterms:created>
  <dcterms:modified xsi:type="dcterms:W3CDTF">2026-09-28T10:59:26Z</dcterms:modified>
</cp:coreProperties>
</file>