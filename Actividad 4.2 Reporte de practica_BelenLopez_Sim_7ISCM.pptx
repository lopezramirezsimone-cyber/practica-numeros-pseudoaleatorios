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62" r:id="rId4"/>
    <p:sldId id="258" r:id="rId5"/>
    <p:sldId id="261" r:id="rId6"/>
    <p:sldId id="265" r:id="rId7"/>
    <p:sldId id="260"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80" d="100"/>
          <a:sy n="80"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02/10/2026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678204"/>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4.2  REPORTE DE PRACTICA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29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400" cap="none" dirty="0">
                <a:latin typeface="Calibri" panose="020F0502020204030204" pitchFamily="34" charset="0"/>
                <a:ea typeface="Calibri" panose="020F0502020204030204" pitchFamily="34" charset="0"/>
                <a:cs typeface="Calibri" panose="020F0502020204030204" pitchFamily="34" charset="0"/>
              </a:rPr>
              <a:t>La simulación permite representar una situación real mediante un programa para observar cómo funciona. en esta práctica representé la atención de 10 clientes con una sola persona encargada de atenderlos en orden de llegada. utilicé </a:t>
            </a:r>
            <a:r>
              <a:rPr lang="es-MX" sz="1400" cap="none" dirty="0" err="1">
                <a:latin typeface="Calibri" panose="020F0502020204030204" pitchFamily="34" charset="0"/>
                <a:ea typeface="Calibri" panose="020F0502020204030204" pitchFamily="34" charset="0"/>
                <a:cs typeface="Calibri" panose="020F0502020204030204" pitchFamily="34" charset="0"/>
              </a:rPr>
              <a:t>python</a:t>
            </a:r>
            <a:r>
              <a:rPr lang="es-MX" sz="1400" cap="none" dirty="0">
                <a:latin typeface="Calibri" panose="020F0502020204030204" pitchFamily="34" charset="0"/>
                <a:ea typeface="Calibri" panose="020F0502020204030204" pitchFamily="34" charset="0"/>
                <a:cs typeface="Calibri" panose="020F0502020204030204" pitchFamily="34" charset="0"/>
              </a:rPr>
              <a:t>, java y r para generar los tiempos de llegada y servicio, calcular cuánto espera cada cliente y conocer cuándo termina su atención. con los resultados pude observar cómo se forma una fila y comparar las distintas ejecuciones de la misma simulación</a:t>
            </a:r>
            <a:r>
              <a:rPr lang="es-MX" sz="14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 e</a:t>
            </a:r>
            <a:r>
              <a:rPr lang="es-MX" sz="1600" cap="none" dirty="0">
                <a:latin typeface="Calibri" panose="020F0502020204030204" pitchFamily="34" charset="0"/>
                <a:ea typeface="Calibri" panose="020F0502020204030204" pitchFamily="34" charset="0"/>
                <a:cs typeface="Calibri" panose="020F0502020204030204" pitchFamily="34" charset="0"/>
              </a:rPr>
              <a:t>sta práctica para comprender cómo se puede representar con un programa una situación cotidiana, como la espera de clientes para recibir atención. al desarrollar la misma simulación en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java y r, pude aplicar lo aprendido en clase y observar cómo los tiempos de llegada y servicio influyen en la formación de una fila. esta actividad me ayudó a interpretar los resultados y entender cómo la simulación permite estudiar un proceso sin realizar pruebas directamente en un establecimiento.</a:t>
            </a:r>
            <a:endParaRPr lang="es-MX"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6" name="CuadroTexto 5">
            <a:extLst>
              <a:ext uri="{FF2B5EF4-FFF2-40B4-BE49-F238E27FC236}">
                <a16:creationId xmlns:a16="http://schemas.microsoft.com/office/drawing/2014/main" id="{09E02B4D-48B5-4385-9BBA-F87A3969C768}"/>
              </a:ext>
            </a:extLst>
          </p:cNvPr>
          <p:cNvSpPr txBox="1"/>
          <p:nvPr/>
        </p:nvSpPr>
        <p:spPr>
          <a:xfrm>
            <a:off x="990600" y="314336"/>
            <a:ext cx="10010775" cy="2585323"/>
          </a:xfrm>
          <a:prstGeom prst="rect">
            <a:avLst/>
          </a:prstGeom>
          <a:noFill/>
        </p:spPr>
        <p:txBody>
          <a:bodyPr wrap="square">
            <a:spAutoFit/>
          </a:bodyPr>
          <a:lstStyle/>
          <a:p>
            <a:r>
              <a:rPr lang="es-MX" dirty="0"/>
              <a:t>Simulación de atención a clientes en Python</a:t>
            </a:r>
          </a:p>
          <a:p>
            <a:r>
              <a:rPr lang="es-MX" dirty="0"/>
              <a:t>Realicé una simulación de la atención de 10 clientes con una sola persona encargada de atenderlos en orden de llegada. El programa genera tiempos de llegada y de servicio mediante números pseudoaleatorios. Después calcula cuándo comienza y termina cada atención, así como cuánto debe esperar cada cliente si la persona está ocupada.</a:t>
            </a:r>
          </a:p>
          <a:p>
            <a:r>
              <a:rPr lang="es-MX" dirty="0"/>
              <a:t>En esta ejecución, 9 de los 10 clientes tuvieron que esperar. El tiempo promedio de espera fue de 11.70 minutos y el de atención fue de 4.80 minutos. La última atención terminó en el minuto 48. Estos resultados muestran cómo se acumula la espera cuando los clientes llegan más rápido de lo que pueden ser atendidos.</a:t>
            </a:r>
          </a:p>
          <a:p>
            <a:endParaRPr lang="es-MX" dirty="0"/>
          </a:p>
        </p:txBody>
      </p:sp>
      <p:pic>
        <p:nvPicPr>
          <p:cNvPr id="12" name="Imagen 11">
            <a:extLst>
              <a:ext uri="{FF2B5EF4-FFF2-40B4-BE49-F238E27FC236}">
                <a16:creationId xmlns:a16="http://schemas.microsoft.com/office/drawing/2014/main" id="{C62C60E0-90FD-4E1E-9A40-B4A5A16F90DC}"/>
              </a:ext>
            </a:extLst>
          </p:cNvPr>
          <p:cNvPicPr>
            <a:picLocks noChangeAspect="1"/>
          </p:cNvPicPr>
          <p:nvPr/>
        </p:nvPicPr>
        <p:blipFill>
          <a:blip r:embed="rId2"/>
          <a:stretch>
            <a:fillRect/>
          </a:stretch>
        </p:blipFill>
        <p:spPr>
          <a:xfrm>
            <a:off x="2114549" y="2581274"/>
            <a:ext cx="8715375" cy="4314825"/>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2322218" y="156753"/>
            <a:ext cx="78749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algn="just"/>
            <a:r>
              <a:rPr lang="es-MX" dirty="0"/>
              <a:t>Simulación de atención a clientes en R</a:t>
            </a:r>
          </a:p>
          <a:p>
            <a:pPr algn="just"/>
            <a:endParaRPr lang="es-MX" dirty="0"/>
          </a:p>
          <a:p>
            <a:pPr marL="0" marR="0" lvl="0" indent="0" algn="just" defTabSz="914400" rtl="0" eaLnBrk="0" fontAlgn="base" latinLnBrk="0" hangingPunct="0">
              <a:lnSpc>
                <a:spcPct val="100000"/>
              </a:lnSpc>
              <a:spcBef>
                <a:spcPct val="0"/>
              </a:spcBef>
              <a:spcAft>
                <a:spcPct val="0"/>
              </a:spcAft>
              <a:buClrTx/>
              <a:buSzTx/>
              <a:buFontTx/>
              <a:buNone/>
              <a:tabLst>
                <a:tab pos="765175" algn="l"/>
              </a:tabLst>
            </a:pPr>
            <a:endParaRPr lang="es-MX" altLang="es-MX" dirty="0"/>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381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
        <p:nvSpPr>
          <p:cNvPr id="19" name="Rectangle 4">
            <a:extLst>
              <a:ext uri="{FF2B5EF4-FFF2-40B4-BE49-F238E27FC236}">
                <a16:creationId xmlns:a16="http://schemas.microsoft.com/office/drawing/2014/main" id="{7DEF4646-0527-448A-B60D-33F117F27CB8}"/>
              </a:ext>
            </a:extLst>
          </p:cNvPr>
          <p:cNvSpPr>
            <a:spLocks noChangeArrowheads="1"/>
          </p:cNvSpPr>
          <p:nvPr/>
        </p:nvSpPr>
        <p:spPr bwMode="auto">
          <a:xfrm>
            <a:off x="1604962" y="1100435"/>
            <a:ext cx="98964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dirty="0"/>
              <a:t>Representé la llegada y atención de 10 clientes, considerando que una sola persona los atiende en orden de llegada. El programa genera tiempos pseudoaleatorios y organiza en una tabla la llegada de cada cliente, la duración del servicio, el inicio y fin de su atención y el tiempo que tuvo que esperar.</a:t>
            </a:r>
            <a:endParaRPr lang="es-MX" altLang="es-MX" dirty="0"/>
          </a:p>
        </p:txBody>
      </p:sp>
      <p:pic>
        <p:nvPicPr>
          <p:cNvPr id="21" name="Imagen 20">
            <a:extLst>
              <a:ext uri="{FF2B5EF4-FFF2-40B4-BE49-F238E27FC236}">
                <a16:creationId xmlns:a16="http://schemas.microsoft.com/office/drawing/2014/main" id="{38D541AE-292A-4D0F-A932-81F1EF85B4BB}"/>
              </a:ext>
            </a:extLst>
          </p:cNvPr>
          <p:cNvPicPr>
            <a:picLocks noChangeAspect="1"/>
          </p:cNvPicPr>
          <p:nvPr/>
        </p:nvPicPr>
        <p:blipFill>
          <a:blip r:embed="rId2"/>
          <a:stretch>
            <a:fillRect/>
          </a:stretch>
        </p:blipFill>
        <p:spPr>
          <a:xfrm>
            <a:off x="2603388" y="2666999"/>
            <a:ext cx="7708109" cy="4053298"/>
          </a:xfrm>
          <a:prstGeom prst="rect">
            <a:avLst/>
          </a:prstGeom>
        </p:spPr>
      </p:pic>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DB22BF8-CC59-4633-9741-AF760023AE61}"/>
              </a:ext>
            </a:extLst>
          </p:cNvPr>
          <p:cNvSpPr>
            <a:spLocks noGrp="1"/>
          </p:cNvSpPr>
          <p:nvPr>
            <p:ph type="title"/>
          </p:nvPr>
        </p:nvSpPr>
        <p:spPr>
          <a:xfrm>
            <a:off x="2571900" y="0"/>
            <a:ext cx="6781650" cy="215800"/>
          </a:xfrm>
        </p:spPr>
        <p:txBody>
          <a:bodyPr>
            <a:normAutofit fontScale="90000"/>
          </a:bodyPr>
          <a:lstStyle/>
          <a:p>
            <a:br>
              <a:rPr lang="es-MX" dirty="0"/>
            </a:br>
            <a:endParaRPr lang="es-MX"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
            <a:extLst>
              <a:ext uri="{FF2B5EF4-FFF2-40B4-BE49-F238E27FC236}">
                <a16:creationId xmlns:a16="http://schemas.microsoft.com/office/drawing/2014/main" id="{E8FBFE25-E68A-49C1-B8F1-02864E4EC93E}"/>
              </a:ext>
            </a:extLst>
          </p:cNvPr>
          <p:cNvSpPr>
            <a:spLocks noChangeArrowheads="1"/>
          </p:cNvSpPr>
          <p:nvPr/>
        </p:nvSpPr>
        <p:spPr bwMode="auto">
          <a:xfrm>
            <a:off x="1200150" y="272563"/>
            <a:ext cx="1068705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t>Simulación de atención a clientes en Java</a:t>
            </a:r>
          </a:p>
          <a:p>
            <a:r>
              <a:rPr lang="es-MX" dirty="0"/>
              <a:t>Simulé la atención de 10 clientes, considerando una sola persona que los atiende en orden de llegada. El programa genera tiempos pseudoaleatorios entre llegadas y tiempos de servicio. Con esos datos calcula cuándo comienza y termina cada atención, además del tiempo que espera cada cliente cuando la persona encargada está ocupada.</a:t>
            </a:r>
          </a:p>
          <a:p>
            <a:r>
              <a:rPr lang="es-MX" dirty="0"/>
              <a:t>En esta ejecución, 3 clientes tuvieron que esperar. La espera promedio fue de 1.60 minutos y el tiempo promedio de atención fue de 3.60 minutos. La última atención terminó en el minuto 42. Esto permite observar cómo los tiempos de llegada y servicio influyen en la formación de una fila.</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latin typeface="Calibri" panose="020F0502020204030204" pitchFamily="34" charset="0"/>
              <a:ea typeface="Calibri" panose="020F0502020204030204" pitchFamily="34" charset="0"/>
              <a:cs typeface="Calibri" panose="020F0502020204030204" pitchFamily="34" charset="0"/>
            </a:endParaRPr>
          </a:p>
        </p:txBody>
      </p:sp>
      <p:pic>
        <p:nvPicPr>
          <p:cNvPr id="16" name="Imagen 15">
            <a:extLst>
              <a:ext uri="{FF2B5EF4-FFF2-40B4-BE49-F238E27FC236}">
                <a16:creationId xmlns:a16="http://schemas.microsoft.com/office/drawing/2014/main" id="{91AFF7CF-46EC-4E39-9AAF-895B2B3DDC40}"/>
              </a:ext>
            </a:extLst>
          </p:cNvPr>
          <p:cNvPicPr>
            <a:picLocks noChangeAspect="1"/>
          </p:cNvPicPr>
          <p:nvPr/>
        </p:nvPicPr>
        <p:blipFill>
          <a:blip r:embed="rId2"/>
          <a:stretch>
            <a:fillRect/>
          </a:stretch>
        </p:blipFill>
        <p:spPr>
          <a:xfrm>
            <a:off x="2714545" y="2844701"/>
            <a:ext cx="7200980" cy="3972666"/>
          </a:xfrm>
          <a:prstGeom prst="rect">
            <a:avLst/>
          </a:prstGeom>
        </p:spPr>
      </p:pic>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a:xfrm>
            <a:off x="913774" y="285141"/>
            <a:ext cx="10364451" cy="1596177"/>
          </a:xfrm>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2867025" y="1716946"/>
            <a:ext cx="7086600" cy="3424107"/>
          </a:xfrm>
        </p:spPr>
        <p:txBody>
          <a:bodyPr>
            <a:normAutofit/>
          </a:bodyPr>
          <a:lstStyle/>
          <a:p>
            <a:pPr marL="0" indent="0" algn="just">
              <a:buNone/>
            </a:pPr>
            <a:r>
              <a:rPr lang="es-MX" sz="1400" dirty="0">
                <a:latin typeface="Calibri" panose="020F0502020204030204" pitchFamily="34" charset="0"/>
                <a:ea typeface="Calibri" panose="020F0502020204030204" pitchFamily="34" charset="0"/>
                <a:cs typeface="Calibri" panose="020F0502020204030204" pitchFamily="34" charset="0"/>
              </a:rPr>
              <a:t>C</a:t>
            </a:r>
            <a:r>
              <a:rPr lang="es-MX" sz="1400" cap="none" dirty="0">
                <a:latin typeface="Calibri" panose="020F0502020204030204" pitchFamily="34" charset="0"/>
                <a:ea typeface="Calibri" panose="020F0502020204030204" pitchFamily="34" charset="0"/>
                <a:cs typeface="Calibri" panose="020F0502020204030204" pitchFamily="34" charset="0"/>
              </a:rPr>
              <a:t>on esta práctica comprendí cómo representar la atención de clientes mediante una simulación en </a:t>
            </a:r>
            <a:r>
              <a:rPr lang="es-MX" sz="1400" cap="none" dirty="0" err="1">
                <a:latin typeface="Calibri" panose="020F0502020204030204" pitchFamily="34" charset="0"/>
                <a:ea typeface="Calibri" panose="020F0502020204030204" pitchFamily="34" charset="0"/>
                <a:cs typeface="Calibri" panose="020F0502020204030204" pitchFamily="34" charset="0"/>
              </a:rPr>
              <a:t>python</a:t>
            </a:r>
            <a:r>
              <a:rPr lang="es-MX" sz="1400" cap="none" dirty="0">
                <a:latin typeface="Calibri" panose="020F0502020204030204" pitchFamily="34" charset="0"/>
                <a:ea typeface="Calibri" panose="020F0502020204030204" pitchFamily="34" charset="0"/>
                <a:cs typeface="Calibri" panose="020F0502020204030204" pitchFamily="34" charset="0"/>
              </a:rPr>
              <a:t>, java y r. observé que la espera depende tanto del tiempo entre llegadas como de la duración de cada atención. también aprendí que los resultados pueden variar porque cada lenguaje genera diferentes tiempos pseudoaleatorios, aunque se utilicen las mismas reglas</a:t>
            </a:r>
            <a:r>
              <a:rPr lang="es-MX" sz="1400" cap="none" dirty="0"/>
              <a:t>.</a:t>
            </a: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98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Gota</Template>
  <TotalTime>1280</TotalTime>
  <Words>621</Words>
  <Application>Microsoft Office PowerPoint</Application>
  <PresentationFormat>Panorámica</PresentationFormat>
  <Paragraphs>38</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 </vt:lpstr>
      <vt:lpstr>Conclusión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38</cp:revision>
  <dcterms:created xsi:type="dcterms:W3CDTF">2025-08-17T02:41:38Z</dcterms:created>
  <dcterms:modified xsi:type="dcterms:W3CDTF">2026-10-03T11:09:49Z</dcterms:modified>
</cp:coreProperties>
</file>