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62" r:id="rId4"/>
    <p:sldId id="258" r:id="rId5"/>
    <p:sldId id="261" r:id="rId6"/>
    <p:sldId id="265" r:id="rId7"/>
    <p:sldId id="266" r:id="rId8"/>
    <p:sldId id="267" r:id="rId9"/>
    <p:sldId id="268" r:id="rId10"/>
    <p:sldId id="269" r:id="rId11"/>
    <p:sldId id="270" r:id="rId12"/>
    <p:sldId id="260"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p:cViewPr varScale="1">
        <p:scale>
          <a:sx n="80" d="100"/>
          <a:sy n="80"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02/10/2026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924425"/>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2.3 BANCO DE EJERCICIOS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26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600" cap="none" dirty="0">
                <a:latin typeface="Calibri" panose="020F0502020204030204" pitchFamily="34" charset="0"/>
                <a:ea typeface="Calibri" panose="020F0502020204030204" pitchFamily="34" charset="0"/>
                <a:cs typeface="Calibri" panose="020F0502020204030204" pitchFamily="34" charset="0"/>
              </a:rPr>
              <a:t>En esta práctica se trabajó con números pseudoaleatorios. son números que parecen salir al azar, pero que la computadora obtiene siguiendo una operación. para mostrar cómo funciona, se generaron diez números en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java y rstudio y después se compararon los resultados.</a:t>
            </a: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600" cap="none" dirty="0">
                <a:latin typeface="Calibri" panose="020F0502020204030204" pitchFamily="34" charset="0"/>
                <a:ea typeface="Calibri" panose="020F0502020204030204" pitchFamily="34" charset="0"/>
                <a:cs typeface="Calibri" panose="020F0502020204030204" pitchFamily="34" charset="0"/>
              </a:rPr>
              <a:t>Se realizó la práctica para entender de dónde salen esos números y comprobar qué pasa al usar la misma operación y el mismo número inicial en los tres programas. así se puede ver que, aunque el código se escribe de forma diferente, los resultados son iguales.</a:t>
            </a: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8" name="CuadroTexto 7">
            <a:extLst>
              <a:ext uri="{FF2B5EF4-FFF2-40B4-BE49-F238E27FC236}">
                <a16:creationId xmlns:a16="http://schemas.microsoft.com/office/drawing/2014/main" id="{DCFBED2C-3019-4CD4-A9D3-CDE7B493C8CA}"/>
              </a:ext>
            </a:extLst>
          </p:cNvPr>
          <p:cNvSpPr txBox="1"/>
          <p:nvPr/>
        </p:nvSpPr>
        <p:spPr>
          <a:xfrm>
            <a:off x="535302" y="76505"/>
            <a:ext cx="9827898" cy="2031325"/>
          </a:xfrm>
          <a:prstGeom prst="rect">
            <a:avLst/>
          </a:prstGeom>
          <a:noFill/>
        </p:spPr>
        <p:txBody>
          <a:bodyPr wrap="square" rtlCol="0">
            <a:spAutoFit/>
          </a:bodyPr>
          <a:lstStyle/>
          <a:p>
            <a:r>
              <a:rPr lang="es-MX" dirty="0"/>
              <a:t>Generador </a:t>
            </a:r>
            <a:r>
              <a:rPr lang="es-MX" dirty="0" err="1"/>
              <a:t>congruencial</a:t>
            </a:r>
            <a:r>
              <a:rPr lang="es-MX" dirty="0"/>
              <a:t> en Java</a:t>
            </a:r>
          </a:p>
          <a:p>
            <a:endParaRPr lang="es-MX" dirty="0"/>
          </a:p>
          <a:p>
            <a:pPr algn="just"/>
            <a:r>
              <a:rPr lang="es-MX" dirty="0">
                <a:latin typeface="Calibri" panose="020F0502020204030204" pitchFamily="34" charset="0"/>
                <a:ea typeface="Calibri" panose="020F0502020204030204" pitchFamily="34" charset="0"/>
                <a:cs typeface="Calibri" panose="020F0502020204030204" pitchFamily="34" charset="0"/>
              </a:rPr>
              <a:t>El programa comienza con el número 4 y aplica la misma operación diez veces. Cada resultado se divide entre 16 para obtener un valor entre 0 y 1. Si se vuelve a ejecutar, aparecen los mismos números porque el valor inicial no cambia.</a:t>
            </a:r>
          </a:p>
          <a:p>
            <a:endParaRPr lang="es-MX" dirty="0"/>
          </a:p>
          <a:p>
            <a:endParaRPr lang="es-MX" dirty="0"/>
          </a:p>
        </p:txBody>
      </p:sp>
      <p:pic>
        <p:nvPicPr>
          <p:cNvPr id="10" name="Imagen 9">
            <a:extLst>
              <a:ext uri="{FF2B5EF4-FFF2-40B4-BE49-F238E27FC236}">
                <a16:creationId xmlns:a16="http://schemas.microsoft.com/office/drawing/2014/main" id="{CEB0585B-E9E4-4D5F-B2D2-9F0D42D1A8BD}"/>
              </a:ext>
            </a:extLst>
          </p:cNvPr>
          <p:cNvPicPr>
            <a:picLocks noChangeAspect="1"/>
          </p:cNvPicPr>
          <p:nvPr/>
        </p:nvPicPr>
        <p:blipFill>
          <a:blip r:embed="rId2"/>
          <a:stretch>
            <a:fillRect/>
          </a:stretch>
        </p:blipFill>
        <p:spPr>
          <a:xfrm>
            <a:off x="2145988" y="2371725"/>
            <a:ext cx="8064811" cy="4291882"/>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2341936" y="368247"/>
            <a:ext cx="888803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765175" algn="l"/>
              </a:tabLst>
            </a:pPr>
            <a:r>
              <a:rPr kumimoji="0" lang="es-MX" altLang="es-MX"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JAVA</a:t>
            </a:r>
          </a:p>
          <a:p>
            <a:pPr algn="just"/>
            <a:r>
              <a:rPr lang="es-MX" sz="1600" dirty="0">
                <a:latin typeface="Calibri" panose="020F0502020204030204" pitchFamily="34" charset="0"/>
                <a:ea typeface="Calibri" panose="020F0502020204030204" pitchFamily="34" charset="0"/>
                <a:cs typeface="Calibri" panose="020F0502020204030204" pitchFamily="34" charset="0"/>
              </a:rPr>
              <a:t>se usó una semilla inicial de 7 y una fórmula que calcula cada número a partir del anterior. El programa repitió ese cálculo diez veces y mostró los valores obtenidos en la columna X.</a:t>
            </a:r>
          </a:p>
          <a:p>
            <a:pPr algn="just"/>
            <a:r>
              <a:rPr lang="es-MX" sz="1600" dirty="0">
                <a:latin typeface="Calibri" panose="020F0502020204030204" pitchFamily="34" charset="0"/>
                <a:ea typeface="Calibri" panose="020F0502020204030204" pitchFamily="34" charset="0"/>
                <a:cs typeface="Calibri" panose="020F0502020204030204" pitchFamily="34" charset="0"/>
              </a:rPr>
              <a:t>Después, cada valor de X se dividió entre 16 para obtener un resultado entre 0 y 1. Por ejemplo, el primer valor es 6, y al dividirlo entre 16 se obtiene 0.375. Se llaman pseudoaleatorios porque parecen aleatorios, pero si se vuelve a usar la misma semilla, saldrá la misma secuencia.</a:t>
            </a:r>
          </a:p>
          <a:p>
            <a:pPr marL="0" marR="0" lvl="0" indent="0" algn="just" defTabSz="914400" rtl="0" eaLnBrk="0" fontAlgn="base" latinLnBrk="0" hangingPunct="0">
              <a:lnSpc>
                <a:spcPct val="100000"/>
              </a:lnSpc>
              <a:spcBef>
                <a:spcPct val="0"/>
              </a:spcBef>
              <a:spcAft>
                <a:spcPct val="0"/>
              </a:spcAft>
              <a:buClrTx/>
              <a:buSzTx/>
              <a:buFontTx/>
              <a:buNone/>
              <a:tabLst>
                <a:tab pos="765175" algn="l"/>
              </a:tabLst>
            </a:pPr>
            <a:endParaRPr kumimoji="0" lang="es-MX" altLang="es-MX"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7" name="Imagen 6">
            <a:extLst>
              <a:ext uri="{FF2B5EF4-FFF2-40B4-BE49-F238E27FC236}">
                <a16:creationId xmlns:a16="http://schemas.microsoft.com/office/drawing/2014/main" id="{F3AB8C79-4898-42E3-936C-B9BE19D1BCEB}"/>
              </a:ext>
            </a:extLst>
          </p:cNvPr>
          <p:cNvPicPr>
            <a:picLocks noChangeAspect="1"/>
          </p:cNvPicPr>
          <p:nvPr/>
        </p:nvPicPr>
        <p:blipFill>
          <a:blip r:embed="rId2"/>
          <a:stretch>
            <a:fillRect/>
          </a:stretch>
        </p:blipFill>
        <p:spPr>
          <a:xfrm>
            <a:off x="2743200" y="2855741"/>
            <a:ext cx="6972300" cy="3818452"/>
          </a:xfrm>
          <a:prstGeom prst="rect">
            <a:avLst/>
          </a:prstGeom>
        </p:spPr>
      </p:pic>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DB22BF8-CC59-4633-9741-AF760023AE61}"/>
              </a:ext>
            </a:extLst>
          </p:cNvPr>
          <p:cNvSpPr>
            <a:spLocks noGrp="1"/>
          </p:cNvSpPr>
          <p:nvPr>
            <p:ph type="title"/>
          </p:nvPr>
        </p:nvSpPr>
        <p:spPr>
          <a:xfrm>
            <a:off x="2780676" y="123824"/>
            <a:ext cx="5706099" cy="2200275"/>
          </a:xfrm>
        </p:spPr>
        <p:txBody>
          <a:bodyPr>
            <a:normAutofit fontScale="90000"/>
          </a:bodyPr>
          <a:lstStyle/>
          <a:p>
            <a:br>
              <a:rPr lang="es-MX" sz="1600" dirty="0">
                <a:latin typeface="Calibri" panose="020F0502020204030204" pitchFamily="34" charset="0"/>
                <a:ea typeface="Calibri" panose="020F0502020204030204" pitchFamily="34" charset="0"/>
                <a:cs typeface="Calibri" panose="020F0502020204030204" pitchFamily="34" charset="0"/>
              </a:rPr>
            </a:br>
            <a:br>
              <a:rPr lang="es-MX" sz="1000" dirty="0"/>
            </a:br>
            <a:r>
              <a:rPr lang="es-MX" sz="1600" b="1" i="0" dirty="0">
                <a:solidFill>
                  <a:srgbClr val="0D0D0D"/>
                </a:solidFill>
                <a:effectLst/>
                <a:latin typeface="Calibri" panose="020F0502020204030204" pitchFamily="34" charset="0"/>
                <a:ea typeface="Calibri" panose="020F0502020204030204" pitchFamily="34" charset="0"/>
                <a:cs typeface="Calibri" panose="020F0502020204030204" pitchFamily="34" charset="0"/>
              </a:rPr>
              <a:t>Generación de números pseudoaleatorios en Java.</a:t>
            </a:r>
            <a:br>
              <a:rPr lang="es-MX" sz="1600" dirty="0">
                <a:latin typeface="Calibri" panose="020F0502020204030204" pitchFamily="34" charset="0"/>
                <a:ea typeface="Calibri" panose="020F0502020204030204" pitchFamily="34" charset="0"/>
                <a:cs typeface="Calibri" panose="020F0502020204030204" pitchFamily="34" charset="0"/>
              </a:rPr>
            </a:b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p</a:t>
            </a:r>
            <a:r>
              <a:rPr lang="es-MX" sz="1600" cap="none" dirty="0">
                <a:latin typeface="Calibri" panose="020F0502020204030204" pitchFamily="34" charset="0"/>
                <a:ea typeface="Calibri" panose="020F0502020204030204" pitchFamily="34" charset="0"/>
                <a:cs typeface="Calibri" panose="020F0502020204030204" pitchFamily="34" charset="0"/>
              </a:rPr>
              <a:t>ara generar diez números pseudoaleatorios. comencé con el número 4, llamado semilla. para obtener cada nuevo valor, el programa multiplica el anterior por 5, suma 1 y toma el residuo de dividir entre 16.</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después divide cada valor entre 16 para mostrar números decimales desde 0 hasta menos de 1. se llaman pseudoaleatorios porque parecen variar al azar, pero siguen una fórmula. si ejecuto nuevamente el programa con la misma semilla, obtengo exactamente los mismos resultados.</a:t>
            </a:r>
            <a:br>
              <a:rPr lang="es-MX" sz="1600" dirty="0">
                <a:latin typeface="Calibri" panose="020F0502020204030204" pitchFamily="34" charset="0"/>
                <a:ea typeface="Calibri" panose="020F0502020204030204" pitchFamily="34" charset="0"/>
                <a:cs typeface="Calibri" panose="020F0502020204030204" pitchFamily="34" charset="0"/>
              </a:rPr>
            </a:b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81453E28-ED9B-4B27-8733-0F1668D4F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319" y="2257425"/>
            <a:ext cx="8105864" cy="4071960"/>
          </a:xfrm>
          <a:prstGeom prst="rect">
            <a:avLst/>
          </a:prstGeom>
        </p:spPr>
      </p:pic>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18CA2F4-E47A-4B5D-9832-E43F01F09285}"/>
              </a:ext>
            </a:extLst>
          </p:cNvPr>
          <p:cNvPicPr>
            <a:picLocks noGrp="1" noChangeAspect="1"/>
          </p:cNvPicPr>
          <p:nvPr>
            <p:ph idx="1"/>
          </p:nvPr>
        </p:nvPicPr>
        <p:blipFill>
          <a:blip r:embed="rId2"/>
          <a:stretch>
            <a:fillRect/>
          </a:stretch>
        </p:blipFill>
        <p:spPr>
          <a:xfrm>
            <a:off x="1666673" y="2815246"/>
            <a:ext cx="8858654" cy="3424237"/>
          </a:xfrm>
        </p:spPr>
      </p:pic>
      <p:sp>
        <p:nvSpPr>
          <p:cNvPr id="6" name="Rectangle 1">
            <a:extLst>
              <a:ext uri="{FF2B5EF4-FFF2-40B4-BE49-F238E27FC236}">
                <a16:creationId xmlns:a16="http://schemas.microsoft.com/office/drawing/2014/main" id="{09A9F6B2-5513-498F-A283-74E7AD41766C}"/>
              </a:ext>
            </a:extLst>
          </p:cNvPr>
          <p:cNvSpPr>
            <a:spLocks noGrp="1" noChangeArrowheads="1"/>
          </p:cNvSpPr>
          <p:nvPr>
            <p:ph type="title"/>
          </p:nvPr>
        </p:nvSpPr>
        <p:spPr bwMode="auto">
          <a:xfrm>
            <a:off x="2871628" y="387685"/>
            <a:ext cx="5548472"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s-MX" sz="1400" b="1" dirty="0">
                <a:latin typeface="Calibri" panose="020F0502020204030204" pitchFamily="34" charset="0"/>
                <a:ea typeface="Calibri" panose="020F0502020204030204" pitchFamily="34" charset="0"/>
                <a:cs typeface="Calibri" panose="020F0502020204030204" pitchFamily="34" charset="0"/>
              </a:rPr>
              <a:t>Simulación de lanzamientos de un dado en Java</a:t>
            </a:r>
            <a:br>
              <a:rPr lang="es-MX" altLang="es-MX" sz="1600" dirty="0">
                <a:latin typeface="Calibri" panose="020F0502020204030204" pitchFamily="34" charset="0"/>
                <a:ea typeface="Calibri" panose="020F0502020204030204" pitchFamily="34" charset="0"/>
                <a:cs typeface="Calibri" panose="020F0502020204030204" pitchFamily="34" charset="0"/>
              </a:rPr>
            </a:br>
            <a:br>
              <a:rPr lang="es-MX" altLang="es-MX" sz="1600" dirty="0">
                <a:latin typeface="Calibri" panose="020F0502020204030204" pitchFamily="34" charset="0"/>
                <a:ea typeface="Calibri" panose="020F0502020204030204" pitchFamily="34" charset="0"/>
                <a:cs typeface="Calibri" panose="020F0502020204030204" pitchFamily="34" charset="0"/>
              </a:rPr>
            </a:br>
            <a:r>
              <a:rPr lang="es-MX" altLang="es-MX" sz="1600" dirty="0">
                <a:latin typeface="Calibri" panose="020F0502020204030204" pitchFamily="34" charset="0"/>
                <a:ea typeface="Calibri" panose="020F0502020204030204" pitchFamily="34" charset="0"/>
                <a:cs typeface="Calibri" panose="020F0502020204030204" pitchFamily="34" charset="0"/>
              </a:rPr>
              <a:t>r</a:t>
            </a:r>
            <a:r>
              <a:rPr lang="es-MX" altLang="es-MX" sz="1600" cap="none" dirty="0">
                <a:latin typeface="Calibri" panose="020F0502020204030204" pitchFamily="34" charset="0"/>
                <a:ea typeface="Calibri" panose="020F0502020204030204" pitchFamily="34" charset="0"/>
                <a:cs typeface="Calibri" panose="020F0502020204030204" pitchFamily="34" charset="0"/>
              </a:rPr>
              <a:t>epresentar diez lanzamientos de un dado. el programa comienza con la semilla 4 y genera números mediante una fórmula. después, la operación (x % 6) + 1 los convierte en valores del 1 al 6, que representan las caras del dado.</a:t>
            </a:r>
            <a:br>
              <a:rPr lang="es-MX" altLang="es-MX" sz="1600" cap="none" dirty="0">
                <a:latin typeface="Calibri" panose="020F0502020204030204" pitchFamily="34" charset="0"/>
                <a:ea typeface="Calibri" panose="020F0502020204030204" pitchFamily="34" charset="0"/>
                <a:cs typeface="Calibri" panose="020F0502020204030204" pitchFamily="34" charset="0"/>
              </a:rPr>
            </a:br>
            <a:r>
              <a:rPr lang="es-MX" altLang="es-MX" sz="1600" cap="none" dirty="0">
                <a:latin typeface="Calibri" panose="020F0502020204030204" pitchFamily="34" charset="0"/>
                <a:ea typeface="Calibri" panose="020F0502020204030204" pitchFamily="34" charset="0"/>
                <a:cs typeface="Calibri" panose="020F0502020204030204" pitchFamily="34" charset="0"/>
              </a:rPr>
              <a:t>al ejecutar el programa obtuve diez resultados. como se mantiene la misma semilla, la secuencia se repite en cada ejecución</a:t>
            </a:r>
          </a:p>
        </p:txBody>
      </p:sp>
    </p:spTree>
    <p:extLst>
      <p:ext uri="{BB962C8B-B14F-4D97-AF65-F5344CB8AC3E}">
        <p14:creationId xmlns:p14="http://schemas.microsoft.com/office/powerpoint/2010/main" val="301293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209B5-B337-4F54-B9F0-C1A8A4AAB045}"/>
              </a:ext>
            </a:extLst>
          </p:cNvPr>
          <p:cNvSpPr>
            <a:spLocks noGrp="1"/>
          </p:cNvSpPr>
          <p:nvPr>
            <p:ph type="title"/>
          </p:nvPr>
        </p:nvSpPr>
        <p:spPr>
          <a:xfrm>
            <a:off x="2076451" y="361950"/>
            <a:ext cx="7048500" cy="1834517"/>
          </a:xfrm>
        </p:spPr>
        <p:txBody>
          <a:bodyPr>
            <a:noAutofit/>
          </a:bodyPr>
          <a:lstStyle/>
          <a:p>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400" b="1" dirty="0">
                <a:latin typeface="Calibri" panose="020F0502020204030204" pitchFamily="34" charset="0"/>
                <a:ea typeface="Calibri" panose="020F0502020204030204" pitchFamily="34" charset="0"/>
                <a:cs typeface="Calibri" panose="020F0502020204030204" pitchFamily="34" charset="0"/>
              </a:rPr>
              <a:t>Análisis de correlación entre números consecutivos en Python.</a:t>
            </a:r>
            <a:br>
              <a:rPr lang="es-MX" sz="1400" dirty="0">
                <a:latin typeface="Calibri" panose="020F0502020204030204" pitchFamily="34" charset="0"/>
                <a:ea typeface="Calibri" panose="020F0502020204030204" pitchFamily="34" charset="0"/>
                <a:cs typeface="Calibri" panose="020F0502020204030204" pitchFamily="34" charset="0"/>
              </a:rPr>
            </a:b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En este ejercicio utilicé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para generar mil números pseudoaleatorios con la semilla 31. después comparé cada número con el siguiente mediante la correlación, que permite observar si ambos tienden a aumentar o disminuir juntos.</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el resultado fue 0.0081, un valor muy cercano a cero. esto indica que en esta muestra casi no existe una relación lineal entre números consecutivos, aunque por sí solo no demuestra que sean completamente independientes.</a:t>
            </a:r>
            <a:br>
              <a:rPr lang="es-MX" sz="1600" cap="none" dirty="0">
                <a:latin typeface="Calibri" panose="020F0502020204030204" pitchFamily="34" charset="0"/>
                <a:ea typeface="Calibri" panose="020F0502020204030204" pitchFamily="34" charset="0"/>
                <a:cs typeface="Calibri" panose="020F0502020204030204" pitchFamily="34" charset="0"/>
              </a:rPr>
            </a:b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344E1593-201C-44AA-AC53-1B30ED2A2B99}"/>
              </a:ext>
            </a:extLst>
          </p:cNvPr>
          <p:cNvPicPr>
            <a:picLocks noGrp="1" noChangeAspect="1"/>
          </p:cNvPicPr>
          <p:nvPr>
            <p:ph idx="1"/>
          </p:nvPr>
        </p:nvPicPr>
        <p:blipFill>
          <a:blip r:embed="rId2"/>
          <a:stretch>
            <a:fillRect/>
          </a:stretch>
        </p:blipFill>
        <p:spPr>
          <a:xfrm>
            <a:off x="1724025" y="3028904"/>
            <a:ext cx="8743950" cy="3228806"/>
          </a:xfrm>
        </p:spPr>
      </p:pic>
    </p:spTree>
    <p:extLst>
      <p:ext uri="{BB962C8B-B14F-4D97-AF65-F5344CB8AC3E}">
        <p14:creationId xmlns:p14="http://schemas.microsoft.com/office/powerpoint/2010/main" val="272574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FB8B0-7874-4B74-9F17-FACA4F8C2E7C}"/>
              </a:ext>
            </a:extLst>
          </p:cNvPr>
          <p:cNvSpPr>
            <a:spLocks noGrp="1"/>
          </p:cNvSpPr>
          <p:nvPr>
            <p:ph type="title"/>
          </p:nvPr>
        </p:nvSpPr>
        <p:spPr>
          <a:xfrm>
            <a:off x="2180601" y="224723"/>
            <a:ext cx="8483757" cy="1976569"/>
          </a:xfrm>
        </p:spPr>
        <p:txBody>
          <a:bodyPr>
            <a:noAutofit/>
          </a:bodyPr>
          <a:lstStyle/>
          <a:p>
            <a:r>
              <a:rPr lang="es-MX" sz="1600" b="1" dirty="0">
                <a:latin typeface="Calibri" panose="020F0502020204030204" pitchFamily="34" charset="0"/>
                <a:ea typeface="Calibri" panose="020F0502020204030204" pitchFamily="34" charset="0"/>
                <a:cs typeface="Calibri" panose="020F0502020204030204" pitchFamily="34" charset="0"/>
              </a:rPr>
              <a:t>Aproximación de π mediante el método de Monte Carlo en Python.</a:t>
            </a:r>
            <a:br>
              <a:rPr lang="es-MX" sz="1600" dirty="0">
                <a:latin typeface="Calibri" panose="020F0502020204030204" pitchFamily="34" charset="0"/>
                <a:ea typeface="Calibri" panose="020F0502020204030204" pitchFamily="34" charset="0"/>
                <a:cs typeface="Calibri" panose="020F0502020204030204" pitchFamily="34" charset="0"/>
              </a:rPr>
            </a:b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para aproximar el valor de π mediante el método de Monte Carlo. El programa genera diez mil puntos pseudoaleatorios dentro de un cuadrado y cuenta cuántos quedan dentro de un cuarto de círculo.</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Después divide los puntos que quedaron dentro entre el total y multiplica por cuatro. Así obtuve 3.1084, una aproximación al valor de π, que es aproximadamente 3.1416. El resultado no es exacto porque se calcula usando una cantidad limitada de puntos.</a:t>
            </a:r>
            <a:br>
              <a:rPr lang="es-MX" sz="1600" dirty="0">
                <a:latin typeface="Calibri" panose="020F0502020204030204" pitchFamily="34" charset="0"/>
                <a:ea typeface="Calibri" panose="020F0502020204030204" pitchFamily="34" charset="0"/>
                <a:cs typeface="Calibri" panose="020F0502020204030204" pitchFamily="34" charset="0"/>
              </a:rPr>
            </a:b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104D6AF3-C411-4802-8CE4-F703C85B87C1}"/>
              </a:ext>
            </a:extLst>
          </p:cNvPr>
          <p:cNvPicPr>
            <a:picLocks noGrp="1" noChangeAspect="1"/>
          </p:cNvPicPr>
          <p:nvPr>
            <p:ph idx="1"/>
          </p:nvPr>
        </p:nvPicPr>
        <p:blipFill>
          <a:blip r:embed="rId2"/>
          <a:stretch>
            <a:fillRect/>
          </a:stretch>
        </p:blipFill>
        <p:spPr>
          <a:xfrm>
            <a:off x="2180601" y="2338388"/>
            <a:ext cx="8483756" cy="4399533"/>
          </a:xfrm>
        </p:spPr>
      </p:pic>
    </p:spTree>
    <p:extLst>
      <p:ext uri="{BB962C8B-B14F-4D97-AF65-F5344CB8AC3E}">
        <p14:creationId xmlns:p14="http://schemas.microsoft.com/office/powerpoint/2010/main" val="218884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24D9D-86D4-467A-B23F-C5DFBB91CB14}"/>
              </a:ext>
            </a:extLst>
          </p:cNvPr>
          <p:cNvSpPr>
            <a:spLocks noGrp="1"/>
          </p:cNvSpPr>
          <p:nvPr>
            <p:ph type="title"/>
          </p:nvPr>
        </p:nvSpPr>
        <p:spPr>
          <a:xfrm>
            <a:off x="2761624" y="209550"/>
            <a:ext cx="7096751" cy="2236364"/>
          </a:xfrm>
        </p:spPr>
        <p:txBody>
          <a:bodyPr>
            <a:noAutofit/>
          </a:bodyPr>
          <a:lstStyle/>
          <a:p>
            <a:pPr algn="just"/>
            <a:r>
              <a:rPr lang="es-MX" sz="1600" b="1" dirty="0">
                <a:latin typeface="Calibri" panose="020F0502020204030204" pitchFamily="34" charset="0"/>
                <a:ea typeface="Calibri" panose="020F0502020204030204" pitchFamily="34" charset="0"/>
                <a:cs typeface="Calibri" panose="020F0502020204030204" pitchFamily="34" charset="0"/>
              </a:rPr>
              <a:t>Repetición de números pseudoaleatorios usando una semilla en </a:t>
            </a:r>
            <a:r>
              <a:rPr lang="es-MX" sz="1600" b="1" dirty="0" err="1">
                <a:latin typeface="Calibri" panose="020F0502020204030204" pitchFamily="34" charset="0"/>
                <a:ea typeface="Calibri" panose="020F0502020204030204" pitchFamily="34" charset="0"/>
                <a:cs typeface="Calibri" panose="020F0502020204030204" pitchFamily="34" charset="0"/>
              </a:rPr>
              <a:t>Rstudio</a:t>
            </a:r>
            <a:r>
              <a:rPr lang="es-MX" sz="1600" b="1" dirty="0">
                <a:latin typeface="Calibri" panose="020F0502020204030204" pitchFamily="34" charset="0"/>
                <a:ea typeface="Calibri" panose="020F0502020204030204" pitchFamily="34" charset="0"/>
                <a:cs typeface="Calibri" panose="020F0502020204030204" pitchFamily="34" charset="0"/>
              </a:rPr>
              <a:t>.</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En este ejercicio generé dos secuencias de cinco números en </a:t>
            </a:r>
            <a:r>
              <a:rPr lang="es-MX" sz="1600" dirty="0" err="1">
                <a:latin typeface="Calibri" panose="020F0502020204030204" pitchFamily="34" charset="0"/>
                <a:ea typeface="Calibri" panose="020F0502020204030204" pitchFamily="34" charset="0"/>
                <a:cs typeface="Calibri" panose="020F0502020204030204" pitchFamily="34" charset="0"/>
              </a:rPr>
              <a:t>RStudio</a:t>
            </a:r>
            <a:r>
              <a:rPr lang="es-MX" sz="1600" dirty="0">
                <a:latin typeface="Calibri" panose="020F0502020204030204" pitchFamily="34" charset="0"/>
                <a:ea typeface="Calibri" panose="020F0502020204030204" pitchFamily="34" charset="0"/>
                <a:cs typeface="Calibri" panose="020F0502020204030204" pitchFamily="34" charset="0"/>
              </a:rPr>
              <a:t>. Antes de crear cada una, coloqué la misma semilla, el número 31, que sirve como punto de partida para generar los valores.</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Al comparar las secuencias, obtuve TRUE porque sus números son exactamente iguales. Esto muestra que los números pseudoaleatorios se pueden repetir al usar la misma semilla y el mismo procedimiento, lo que ayuda a revisar los resultados de una simulación.</a:t>
            </a:r>
            <a:br>
              <a:rPr lang="es-MX" sz="1600" dirty="0">
                <a:latin typeface="Calibri" panose="020F0502020204030204" pitchFamily="34" charset="0"/>
                <a:ea typeface="Calibri" panose="020F0502020204030204" pitchFamily="34" charset="0"/>
                <a:cs typeface="Calibri" panose="020F0502020204030204" pitchFamily="34" charset="0"/>
              </a:rPr>
            </a:b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F156153E-BB2A-46DF-86F6-C05942031518}"/>
              </a:ext>
            </a:extLst>
          </p:cNvPr>
          <p:cNvPicPr>
            <a:picLocks noGrp="1" noChangeAspect="1"/>
          </p:cNvPicPr>
          <p:nvPr>
            <p:ph idx="1"/>
          </p:nvPr>
        </p:nvPicPr>
        <p:blipFill>
          <a:blip r:embed="rId2"/>
          <a:stretch>
            <a:fillRect/>
          </a:stretch>
        </p:blipFill>
        <p:spPr>
          <a:xfrm>
            <a:off x="2038350" y="2411237"/>
            <a:ext cx="8332789" cy="4446763"/>
          </a:xfrm>
        </p:spPr>
      </p:pic>
    </p:spTree>
    <p:extLst>
      <p:ext uri="{BB962C8B-B14F-4D97-AF65-F5344CB8AC3E}">
        <p14:creationId xmlns:p14="http://schemas.microsoft.com/office/powerpoint/2010/main" val="256270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66E91-A7E2-4193-8420-FA3A2DE60077}"/>
              </a:ext>
            </a:extLst>
          </p:cNvPr>
          <p:cNvSpPr>
            <a:spLocks noGrp="1"/>
          </p:cNvSpPr>
          <p:nvPr>
            <p:ph type="title"/>
          </p:nvPr>
        </p:nvSpPr>
        <p:spPr>
          <a:xfrm>
            <a:off x="1914212" y="371476"/>
            <a:ext cx="8363575" cy="1967044"/>
          </a:xfrm>
        </p:spPr>
        <p:txBody>
          <a:bodyPr>
            <a:normAutofit fontScale="90000"/>
          </a:bodyPr>
          <a:lstStyle/>
          <a:p>
            <a:r>
              <a:rPr lang="es-MX" sz="1800" b="1" dirty="0"/>
              <a:t>Análisis de uniformidad en </a:t>
            </a:r>
            <a:r>
              <a:rPr lang="es-MX" sz="1800" b="1" dirty="0" err="1"/>
              <a:t>RStudio</a:t>
            </a:r>
            <a:r>
              <a:rPr lang="es-MX" sz="1800" dirty="0"/>
              <a:t>,</a:t>
            </a:r>
            <a:br>
              <a:rPr lang="es-MX" sz="1800" dirty="0"/>
            </a:br>
            <a:r>
              <a:rPr lang="es-MX" sz="1800" dirty="0"/>
              <a:t>E</a:t>
            </a:r>
            <a:r>
              <a:rPr lang="es-MX" sz="1800" cap="none" dirty="0"/>
              <a:t>n este ejercicio generé mil números pseudoaleatorios entre 0 y 1 y los separé en cinco intervalos. en cada grupo aparecieron 197, 181, 216, 196 y 210 números. la gráfica muestra que las cantidades son parecidas y cercanas a los 200 que se esperan por intervalo cuando la distribución es uniforme.</a:t>
            </a:r>
            <a:br>
              <a:rPr lang="es-MX" sz="1800" cap="none" dirty="0"/>
            </a:br>
            <a:r>
              <a:rPr lang="es-MX" sz="1800" cap="none" dirty="0"/>
              <a:t>después apliqué una prueba chi-cuadrado y obtuve un valor p de 0.4467. como es mayor que 0.05, no encontré evidencia suficiente para rechazar la distribución uniforme. </a:t>
            </a:r>
            <a:br>
              <a:rPr lang="es-MX" sz="1800" cap="none" dirty="0"/>
            </a:br>
            <a:br>
              <a:rPr lang="es-MX" dirty="0"/>
            </a:br>
            <a:endParaRPr lang="es-MX" dirty="0"/>
          </a:p>
        </p:txBody>
      </p:sp>
      <p:pic>
        <p:nvPicPr>
          <p:cNvPr id="9" name="Imagen 8">
            <a:extLst>
              <a:ext uri="{FF2B5EF4-FFF2-40B4-BE49-F238E27FC236}">
                <a16:creationId xmlns:a16="http://schemas.microsoft.com/office/drawing/2014/main" id="{B0511CBD-ABF1-4721-9F8C-DCDA8176B7C1}"/>
              </a:ext>
            </a:extLst>
          </p:cNvPr>
          <p:cNvPicPr>
            <a:picLocks noChangeAspect="1"/>
          </p:cNvPicPr>
          <p:nvPr/>
        </p:nvPicPr>
        <p:blipFill>
          <a:blip r:embed="rId2"/>
          <a:stretch>
            <a:fillRect/>
          </a:stretch>
        </p:blipFill>
        <p:spPr>
          <a:xfrm>
            <a:off x="2066923" y="1865870"/>
            <a:ext cx="8934451" cy="4612084"/>
          </a:xfrm>
          <a:prstGeom prst="rect">
            <a:avLst/>
          </a:prstGeom>
        </p:spPr>
      </p:pic>
    </p:spTree>
    <p:extLst>
      <p:ext uri="{BB962C8B-B14F-4D97-AF65-F5344CB8AC3E}">
        <p14:creationId xmlns:p14="http://schemas.microsoft.com/office/powerpoint/2010/main" val="405354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a:xfrm>
            <a:off x="913774" y="285141"/>
            <a:ext cx="10364451" cy="1596177"/>
          </a:xfrm>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2143125" y="1881318"/>
            <a:ext cx="8163552" cy="3424107"/>
          </a:xfrm>
        </p:spPr>
        <p:txBody>
          <a:bodyPr/>
          <a:lstStyle/>
          <a:p>
            <a:pPr marL="0" indent="0" algn="just">
              <a:buNone/>
            </a:pPr>
            <a:r>
              <a:rPr lang="es-MX" dirty="0">
                <a:latin typeface="Calibri" panose="020F0502020204030204" pitchFamily="34" charset="0"/>
                <a:ea typeface="Calibri" panose="020F0502020204030204" pitchFamily="34" charset="0"/>
                <a:cs typeface="Calibri" panose="020F0502020204030204" pitchFamily="34" charset="0"/>
              </a:rPr>
              <a:t>A</a:t>
            </a:r>
            <a:r>
              <a:rPr lang="es-MX" cap="none" dirty="0">
                <a:latin typeface="Calibri" panose="020F0502020204030204" pitchFamily="34" charset="0"/>
                <a:ea typeface="Calibri" panose="020F0502020204030204" pitchFamily="34" charset="0"/>
                <a:cs typeface="Calibri" panose="020F0502020204030204" pitchFamily="34" charset="0"/>
              </a:rPr>
              <a:t>l realizar estos ejercicios comprendí cómo se generan y utilizan los números pseudoaleatorios en java, </a:t>
            </a:r>
            <a:r>
              <a:rPr lang="es-MX" cap="none" dirty="0" err="1">
                <a:latin typeface="Calibri" panose="020F0502020204030204" pitchFamily="34" charset="0"/>
                <a:ea typeface="Calibri" panose="020F0502020204030204" pitchFamily="34" charset="0"/>
                <a:cs typeface="Calibri" panose="020F0502020204030204" pitchFamily="34" charset="0"/>
              </a:rPr>
              <a:t>python</a:t>
            </a:r>
            <a:r>
              <a:rPr lang="es-MX" cap="none" dirty="0">
                <a:latin typeface="Calibri" panose="020F0502020204030204" pitchFamily="34" charset="0"/>
                <a:ea typeface="Calibri" panose="020F0502020204030204" pitchFamily="34" charset="0"/>
                <a:cs typeface="Calibri" panose="020F0502020204030204" pitchFamily="34" charset="0"/>
              </a:rPr>
              <a:t> y </a:t>
            </a:r>
            <a:r>
              <a:rPr lang="es-MX" cap="none" dirty="0" err="1">
                <a:latin typeface="Calibri" panose="020F0502020204030204" pitchFamily="34" charset="0"/>
                <a:ea typeface="Calibri" panose="020F0502020204030204" pitchFamily="34" charset="0"/>
                <a:cs typeface="Calibri" panose="020F0502020204030204" pitchFamily="34" charset="0"/>
              </a:rPr>
              <a:t>rstudio</a:t>
            </a:r>
            <a:r>
              <a:rPr lang="es-MX" cap="none" dirty="0">
                <a:latin typeface="Calibri" panose="020F0502020204030204" pitchFamily="34" charset="0"/>
                <a:ea typeface="Calibri" panose="020F0502020204030204" pitchFamily="34" charset="0"/>
                <a:cs typeface="Calibri" panose="020F0502020204030204" pitchFamily="34" charset="0"/>
              </a:rPr>
              <a:t>. observé que una misma semilla permite repetir los resultados y que estos números sirven para representar situaciones, como los lanzamientos de un dado o la aproximación de π. también aprendí a revisar su distribución y la relación entre valores consecutivos, considerando que los análisis realizados ayudan a evaluar su comportamiento, pero no garantizan una aleatoriedad perfecta.</a:t>
            </a:r>
          </a:p>
        </p:txBody>
      </p:sp>
    </p:spTree>
    <p:extLst>
      <p:ext uri="{BB962C8B-B14F-4D97-AF65-F5344CB8AC3E}">
        <p14:creationId xmlns:p14="http://schemas.microsoft.com/office/powerpoint/2010/main" val="345983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Gota</Template>
  <TotalTime>1053</TotalTime>
  <Words>974</Words>
  <Application>Microsoft Office PowerPoint</Application>
  <PresentationFormat>Panorámica</PresentationFormat>
  <Paragraphs>42</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  Generación de números pseudoaleatorios en Java.  para generar diez números pseudoaleatorios. comencé con el número 4, llamado semilla. para obtener cada nuevo valor, el programa multiplica el anterior por 5, suma 1 y toma el residuo de dividir entre 16. después divide cada valor entre 16 para mostrar números decimales desde 0 hasta menos de 1. se llaman pseudoaleatorios porque parecen variar al azar, pero siguen una fórmula. si ejecuto nuevamente el programa con la misma semilla, obtengo exactamente los mismos resultados. </vt:lpstr>
      <vt:lpstr>Simulación de lanzamientos de un dado en Java  representar diez lanzamientos de un dado. el programa comienza con la semilla 4 y genera números mediante una fórmula. después, la operación (x % 6) + 1 los convierte en valores del 1 al 6, que representan las caras del dado. al ejecutar el programa obtuve diez resultados. como se mantiene la misma semilla, la secuencia se repite en cada ejecución</vt:lpstr>
      <vt:lpstr> Análisis de correlación entre números consecutivos en Python.  En este ejercicio utilicé python para generar mil números pseudoaleatorios con la semilla 31. después comparé cada número con el siguiente mediante la correlación, que permite observar si ambos tienden a aumentar o disminuir juntos. el resultado fue 0.0081, un valor muy cercano a cero. esto indica que en esta muestra casi no existe una relación lineal entre números consecutivos, aunque por sí solo no demuestra que sean completamente independientes. </vt:lpstr>
      <vt:lpstr>Aproximación de π mediante el método de Monte Carlo en Python.  para aproximar el valor de π mediante el método de Monte Carlo. El programa genera diez mil puntos pseudoaleatorios dentro de un cuadrado y cuenta cuántos quedan dentro de un cuarto de círculo. Después divide los puntos que quedaron dentro entre el total y multiplica por cuatro. Así obtuve 3.1084, una aproximación al valor de π, que es aproximadamente 3.1416. El resultado no es exacto porque se calcula usando una cantidad limitada de puntos. </vt:lpstr>
      <vt:lpstr>Repetición de números pseudoaleatorios usando una semilla en Rstudio. En este ejercicio generé dos secuencias de cinco números en RStudio. Antes de crear cada una, coloqué la misma semilla, el número 31, que sirve como punto de partida para generar los valores. Al comparar las secuencias, obtuve TRUE porque sus números son exactamente iguales. Esto muestra que los números pseudoaleatorios se pueden repetir al usar la misma semilla y el mismo procedimiento, lo que ayuda a revisar los resultados de una simulación. </vt:lpstr>
      <vt:lpstr>Análisis de uniformidad en RStudio, En este ejercicio generé mil números pseudoaleatorios entre 0 y 1 y los separé en cinco intervalos. en cada grupo aparecieron 197, 181, 216, 196 y 210 números. la gráfica muestra que las cantidades son parecidas y cercanas a los 200 que se esperan por intervalo cuando la distribución es uniforme. después apliqué una prueba chi-cuadrado y obtuve un valor p de 0.4467. como es mayor que 0.05, no encontré evidencia suficiente para rechazar la distribución uniforme.   </vt:lpstr>
      <vt:lpstr>Conclusión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20</cp:revision>
  <dcterms:created xsi:type="dcterms:W3CDTF">2025-08-17T02:41:38Z</dcterms:created>
  <dcterms:modified xsi:type="dcterms:W3CDTF">2026-10-03T07:22:42Z</dcterms:modified>
</cp:coreProperties>
</file>