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editable reconstruido a partir de los archivos BPMN suministrados. Esta vista no es una captura de la aplicación ni evidencia de ejecución. Modelo académico simplificado.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editable reconstruido a partir de los archivos BPMN suministrados. Esta vista no es una captura de la aplicación ni evidencia de ejecución. Modelo académico simplificado.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editable reconstruido a partir de los archivos BPMN suministrados. Esta vista no es una captura de la aplicación ni evidencia de ejecución. Modelo académico simplificado.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pezramirezsimone-cyber/practica-numeros-pseudoaleatorios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78B89E1-5EEE-4A2D-6441-A9EC8F94DBED}"/>
              </a:ext>
            </a:extLst>
          </p:cNvPr>
          <p:cNvSpPr>
            <a:spLocks noGrp="1"/>
          </p:cNvSpPr>
          <p:nvPr/>
        </p:nvSpPr>
        <p:spPr>
          <a:xfrm>
            <a:off x="724073" y="121862"/>
            <a:ext cx="1584976" cy="771316"/>
          </a:xfrm>
          <a:custGeom>
            <a:avLst/>
            <a:gdLst/>
            <a:ahLst/>
            <a:cxnLst/>
            <a:rect l="l" t="t" r="r" b="b"/>
            <a:pathLst>
              <a:path w="3073400" h="1308100">
                <a:moveTo>
                  <a:pt x="0" y="0"/>
                </a:moveTo>
                <a:lnTo>
                  <a:pt x="3073400" y="0"/>
                </a:lnTo>
                <a:lnTo>
                  <a:pt x="3073400" y="1308100"/>
                </a:lnTo>
                <a:lnTo>
                  <a:pt x="0" y="1308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8090B14-B306-F208-7FC6-D06A8B0A38A1}"/>
              </a:ext>
            </a:extLst>
          </p:cNvPr>
          <p:cNvSpPr>
            <a:spLocks noGrp="1"/>
          </p:cNvSpPr>
          <p:nvPr/>
        </p:nvSpPr>
        <p:spPr>
          <a:xfrm>
            <a:off x="7534413" y="177619"/>
            <a:ext cx="1095182" cy="801613"/>
          </a:xfrm>
          <a:custGeom>
            <a:avLst/>
            <a:gdLst/>
            <a:ahLst/>
            <a:cxnLst/>
            <a:rect l="l" t="t" r="r" b="b"/>
            <a:pathLst>
              <a:path w="1981200" h="1625600">
                <a:moveTo>
                  <a:pt x="0" y="0"/>
                </a:moveTo>
                <a:lnTo>
                  <a:pt x="1981200" y="0"/>
                </a:lnTo>
                <a:lnTo>
                  <a:pt x="19812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C77706D-4B02-9404-B038-A5D4874EF789}"/>
              </a:ext>
            </a:extLst>
          </p:cNvPr>
          <p:cNvSpPr>
            <a:spLocks noGrp="1"/>
          </p:cNvSpPr>
          <p:nvPr/>
        </p:nvSpPr>
        <p:spPr>
          <a:xfrm>
            <a:off x="3456850" y="121862"/>
            <a:ext cx="2230300" cy="456563"/>
          </a:xfrm>
          <a:custGeom>
            <a:avLst/>
            <a:gdLst/>
            <a:ahLst/>
            <a:cxnLst/>
            <a:rect l="l" t="t" r="r" b="b"/>
            <a:pathLst>
              <a:path w="4343400" h="901700">
                <a:moveTo>
                  <a:pt x="0" y="0"/>
                </a:moveTo>
                <a:lnTo>
                  <a:pt x="4343400" y="0"/>
                </a:lnTo>
                <a:lnTo>
                  <a:pt x="43434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E554014D-942B-87EF-E1BF-43FF3B48C28E}"/>
              </a:ext>
            </a:extLst>
          </p:cNvPr>
          <p:cNvSpPr>
            <a:spLocks noGrp="1"/>
          </p:cNvSpPr>
          <p:nvPr/>
        </p:nvSpPr>
        <p:spPr>
          <a:xfrm>
            <a:off x="2309049" y="1231759"/>
            <a:ext cx="4471712" cy="3657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Simulación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 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Septimo semestre 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Ingeniería en Sistemas Computacionales.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  <a:p>
            <a:pPr algn="ctr">
              <a:buNone/>
            </a:pPr>
            <a:r>
              <a:rPr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Simone Belén López Ramírez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Nombre del docente: 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 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PROYECTO INTEGRADOR</a:t>
            </a: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</a:t>
            </a:r>
          </a:p>
          <a:p>
            <a:pPr algn="ctr">
              <a:buNone/>
            </a:pP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buNone/>
            </a:pPr>
            <a:r>
              <a:rPr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Frontera Comalapa, Chiapas. 3 de octubre de 2026.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EEAB9-5DD3-3C96-2CDA-E2E35B0B52FF}"/>
              </a:ext>
            </a:extLst>
          </p:cNvPr>
          <p:cNvSpPr>
            <a:spLocks noGrp="1"/>
          </p:cNvSpPr>
          <p:nvPr/>
        </p:nvSpPr>
        <p:spPr>
          <a:xfrm>
            <a:off x="2199385" y="454163"/>
            <a:ext cx="4888108" cy="6955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08"/>
              </a:lnSpc>
              <a:buNone/>
            </a:pPr>
            <a:r>
              <a:rPr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  <a:buNone/>
            </a:pPr>
            <a:r>
              <a:rPr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</p:spTree>
    <p:extLst>
      <p:ext uri="{BB962C8B-B14F-4D97-AF65-F5344CB8AC3E}">
        <p14:creationId xmlns:p14="http://schemas.microsoft.com/office/powerpoint/2010/main" val="406792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408857B-096E-47D0-87DE-DBE4188CE215}"/>
              </a:ext>
            </a:extLst>
          </p:cNvPr>
          <p:cNvSpPr>
            <a:spLocks noGrp="1"/>
          </p:cNvSpPr>
          <p:nvPr/>
        </p:nvSpPr>
        <p:spPr>
          <a:xfrm>
            <a:off x="552450" y="1285875"/>
            <a:ext cx="8048625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INTEGRADOR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32F2FB-8252-4511-A548-296914B818F6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7667625" cy="1238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Modelado y análisis del proceso de producción y envasado de Coca-Cola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0869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C4D584C-DA37-40FA-AAB4-D883A0CCE397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Introducción y objetivo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315AD9-2FD6-4A3C-8C4D-47BD2E44B3BE}"/>
              </a:ext>
            </a:extLst>
          </p:cNvPr>
          <p:cNvSpPr>
            <a:spLocks noGrp="1"/>
          </p:cNvSpPr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02F85F-5942-4FA9-B53D-0AF8BF2FE256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noFill/>
          <a:ln w="0"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3C0399-5468-46F9-BC95-305CB08E0DC4}"/>
              </a:ext>
            </a:extLst>
          </p:cNvPr>
          <p:cNvSpPr>
            <a:spLocks noGrp="1"/>
          </p:cNvSpPr>
          <p:nvPr/>
        </p:nvSpPr>
        <p:spPr>
          <a:xfrm>
            <a:off x="640080" y="11612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¿Qué se estudia?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43BB73-4EDB-4307-B558-8CFBA01CF17B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proceso comienza con la recepción de materias primas y termina cuando el producto queda almacenado.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modelo muestra cómo se prepara y envasa la bebida, y cómo se revisa la calidad.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Representa un caso académico simplificado de Coca-Cola.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00C947-38FD-46E8-A8F4-EDE45C4D8926}"/>
              </a:ext>
            </a:extLst>
          </p:cNvPr>
          <p:cNvSpPr>
            <a:spLocks noGrp="1"/>
          </p:cNvSpPr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noFill/>
          <a:ln w="0"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C9D2D44-1A0D-4965-B711-37FFCCAEB89D}"/>
              </a:ext>
            </a:extLst>
          </p:cNvPr>
          <p:cNvSpPr>
            <a:spLocks noGrp="1"/>
          </p:cNvSpPr>
          <p:nvPr/>
        </p:nvSpPr>
        <p:spPr>
          <a:xfrm>
            <a:off x="4846320" y="11612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Objetivo y alcance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4EF563-EAB2-4294-9254-80A5AE7FD589}"/>
              </a:ext>
            </a:extLst>
          </p:cNvPr>
          <p:cNvSpPr>
            <a:spLocks noGrp="1"/>
          </p:cNvSpPr>
          <p:nvPr/>
        </p:nvSpPr>
        <p:spPr>
          <a:xfrm>
            <a:off x="4846320" y="1554480"/>
            <a:ext cx="365760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Representar las actividades y decisiones con BPMN 2.0.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Organizar el flujo en tres áreas responsables.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Usar el mismo proceso como base para Camunda, Bizagi y Bonita.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5913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96064E6-C74B-49B7-A9E8-56422BF803D6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Modelo del sistema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C4C4B6-CE1A-408C-99F4-AFF37D9562CB}"/>
              </a:ext>
            </a:extLst>
          </p:cNvPr>
          <p:cNvSpPr>
            <a:spLocks noGrp="1"/>
          </p:cNvSpPr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ED3888-6E72-465F-953F-511801715035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651760" cy="3566160"/>
          </a:xfrm>
          <a:prstGeom prst="roundRect">
            <a:avLst>
              <a:gd name="adj" fmla="val 2759"/>
            </a:avLst>
          </a:prstGeom>
          <a:noFill/>
          <a:ln w="0"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01B280-B246-480B-A7FA-7D1EC2EBDBD7}"/>
              </a:ext>
            </a:extLst>
          </p:cNvPr>
          <p:cNvSpPr>
            <a:spLocks noGrp="1"/>
          </p:cNvSpPr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Componentes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3636D7-C037-40CD-AC21-7C0B8EA31C40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228600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Recepción y almacén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Producción y envasado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Control de calidad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8ECE82C-81DE-4347-9F97-3B80D04765CC}"/>
              </a:ext>
            </a:extLst>
          </p:cNvPr>
          <p:cNvSpPr>
            <a:spLocks noGrp="1"/>
          </p:cNvSpPr>
          <p:nvPr/>
        </p:nvSpPr>
        <p:spPr>
          <a:xfrm>
            <a:off x="3246120" y="1051560"/>
            <a:ext cx="2651760" cy="3566160"/>
          </a:xfrm>
          <a:prstGeom prst="roundRect">
            <a:avLst>
              <a:gd name="adj" fmla="val 2759"/>
            </a:avLst>
          </a:prstGeom>
          <a:noFill/>
          <a:ln w="0"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2F7B88-9ABF-4741-89C8-1B4DEBB4997F}"/>
              </a:ext>
            </a:extLst>
          </p:cNvPr>
          <p:cNvSpPr>
            <a:spLocks noGrp="1"/>
          </p:cNvSpPr>
          <p:nvPr/>
        </p:nvSpPr>
        <p:spPr>
          <a:xfrm>
            <a:off x="3429000" y="1161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Eventos y reglas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A90735-249F-457F-A448-35A43B0E2E79}"/>
              </a:ext>
            </a:extLst>
          </p:cNvPr>
          <p:cNvSpPr>
            <a:spLocks noGrp="1"/>
          </p:cNvSpPr>
          <p:nvPr/>
        </p:nvSpPr>
        <p:spPr>
          <a:xfrm>
            <a:off x="3429000" y="1554480"/>
            <a:ext cx="228600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Revisar materias primas antes de producir.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Continuar solo con materiales aprobados.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Inspeccionar el lote antes de empacar.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Separar los lotes no conformes.</a:t>
            </a:r>
            <a:endParaRPr sz="12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A4FBE8-1908-48EE-B481-0BA21D0C80FE}"/>
              </a:ext>
            </a:extLst>
          </p:cNvPr>
          <p:cNvSpPr>
            <a:spLocks noGrp="1"/>
          </p:cNvSpPr>
          <p:nvPr/>
        </p:nvSpPr>
        <p:spPr>
          <a:xfrm>
            <a:off x="6035040" y="1051560"/>
            <a:ext cx="2651760" cy="3566160"/>
          </a:xfrm>
          <a:prstGeom prst="roundRect">
            <a:avLst>
              <a:gd name="adj" fmla="val 2759"/>
            </a:avLst>
          </a:prstGeom>
          <a:noFill/>
          <a:ln w="0"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DAB14B-1FDA-4779-A162-D976F4824FD8}"/>
              </a:ext>
            </a:extLst>
          </p:cNvPr>
          <p:cNvSpPr>
            <a:spLocks noGrp="1"/>
          </p:cNvSpPr>
          <p:nvPr/>
        </p:nvSpPr>
        <p:spPr>
          <a:xfrm>
            <a:off x="6217920" y="1161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Salidas del proceso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4EFD48A-4399-445E-A1BA-2E28604AC37F}"/>
              </a:ext>
            </a:extLst>
          </p:cNvPr>
          <p:cNvSpPr>
            <a:spLocks noGrp="1"/>
          </p:cNvSpPr>
          <p:nvPr/>
        </p:nvSpPr>
        <p:spPr>
          <a:xfrm>
            <a:off x="6217920" y="1554480"/>
            <a:ext cx="228600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Producto listo para distribución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Materias primas rechazadas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Lote rechazado</a:t>
            </a:r>
            <a:endParaRPr sz="1250"/>
          </a:p>
          <a:p>
            <a:pPr marL="342900" indent="-342900">
              <a:spcAft>
                <a:spcPts val="600"/>
              </a:spcAft>
              <a:buSzPct val="100000"/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Los tiempos y cantidades requieren una simulación posterior.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4136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8097D6-6E1E-48DD-A98D-7A424FAA3656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Diagrama 1: Bizagi Modeler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14B1BA-B306-4515-B0E7-662D1640D716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99290A-C97A-49C8-B385-0979721AC1E1}"/>
              </a:ext>
            </a:extLst>
          </p:cNvPr>
          <p:cNvSpPr>
            <a:spLocks noGrp="1"/>
          </p:cNvSpPr>
          <p:nvPr/>
        </p:nvSpPr>
        <p:spPr>
          <a:xfrm>
            <a:off x="914400" y="1095375"/>
            <a:ext cx="7308342" cy="3286125"/>
          </a:xfrm>
          <a:prstGeom prst="rect">
            <a:avLst/>
          </a:prstGeom>
          <a:noFill/>
          <a:ln w="5715">
            <a:solidFill>
              <a:srgbClr val="8A9BA8"/>
            </a:solidFill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6D60C4-986E-4E7C-8BB9-096339DF9DE2}"/>
              </a:ext>
            </a:extLst>
          </p:cNvPr>
          <p:cNvSpPr>
            <a:spLocks noGrp="1"/>
          </p:cNvSpPr>
          <p:nvPr/>
        </p:nvSpPr>
        <p:spPr>
          <a:xfrm>
            <a:off x="1045845" y="1095375"/>
            <a:ext cx="7176897" cy="1012127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E3E52C-4FD4-4D44-84C4-AB030255D474}"/>
              </a:ext>
            </a:extLst>
          </p:cNvPr>
          <p:cNvSpPr>
            <a:spLocks noGrp="1"/>
          </p:cNvSpPr>
          <p:nvPr/>
        </p:nvSpPr>
        <p:spPr>
          <a:xfrm>
            <a:off x="1217295" y="1936052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Recepción y almacén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04B6BD-CA1E-4371-939B-32B3CB69595B}"/>
              </a:ext>
            </a:extLst>
          </p:cNvPr>
          <p:cNvSpPr>
            <a:spLocks noGrp="1"/>
          </p:cNvSpPr>
          <p:nvPr/>
        </p:nvSpPr>
        <p:spPr>
          <a:xfrm>
            <a:off x="1045845" y="2107502"/>
            <a:ext cx="7176897" cy="977075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647796-7B78-4BCE-BD88-77C6B42AFA22}"/>
              </a:ext>
            </a:extLst>
          </p:cNvPr>
          <p:cNvSpPr>
            <a:spLocks noGrp="1"/>
          </p:cNvSpPr>
          <p:nvPr/>
        </p:nvSpPr>
        <p:spPr>
          <a:xfrm>
            <a:off x="1217295" y="2913126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Producción y envasado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FF5305-F65C-4EFB-A663-01D35C23A5EC}"/>
              </a:ext>
            </a:extLst>
          </p:cNvPr>
          <p:cNvSpPr>
            <a:spLocks noGrp="1"/>
          </p:cNvSpPr>
          <p:nvPr/>
        </p:nvSpPr>
        <p:spPr>
          <a:xfrm>
            <a:off x="1045845" y="3084576"/>
            <a:ext cx="7176897" cy="1296924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3BE888-55D0-4985-9B77-3A6EB74F671F}"/>
              </a:ext>
            </a:extLst>
          </p:cNvPr>
          <p:cNvSpPr>
            <a:spLocks noGrp="1"/>
          </p:cNvSpPr>
          <p:nvPr/>
        </p:nvSpPr>
        <p:spPr>
          <a:xfrm>
            <a:off x="1217295" y="4210050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Control de calidad</a:t>
            </a:r>
          </a:p>
        </p:txBody>
      </p:sp>
      <p:sp>
        <p:nvSpPr>
          <p:cNvPr id="11" name="StartEvent_1">
            <a:extLst>
              <a:ext uri="{FF2B5EF4-FFF2-40B4-BE49-F238E27FC236}">
                <a16:creationId xmlns:a16="http://schemas.microsoft.com/office/drawing/2014/main" id="{1F059CFB-2E5A-4C4A-A619-CB32B29C50FE}"/>
              </a:ext>
            </a:extLst>
          </p:cNvPr>
          <p:cNvSpPr>
            <a:spLocks noGrp="1"/>
          </p:cNvSpPr>
          <p:nvPr/>
        </p:nvSpPr>
        <p:spPr>
          <a:xfrm>
            <a:off x="1142238" y="1323213"/>
            <a:ext cx="157734" cy="157734"/>
          </a:xfrm>
          <a:prstGeom prst="ellipse">
            <a:avLst/>
          </a:prstGeom>
          <a:solidFill>
            <a:srgbClr val="E1F2E9"/>
          </a:solidFill>
          <a:ln w="9525">
            <a:solidFill>
              <a:srgbClr val="31475D"/>
            </a:solidFill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B16E496-0EA1-41EB-84E3-5EB159FF1EB6}"/>
              </a:ext>
            </a:extLst>
          </p:cNvPr>
          <p:cNvSpPr>
            <a:spLocks noGrp="1"/>
          </p:cNvSpPr>
          <p:nvPr/>
        </p:nvSpPr>
        <p:spPr>
          <a:xfrm>
            <a:off x="91363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Inicio</a:t>
            </a:r>
          </a:p>
        </p:txBody>
      </p:sp>
      <p:sp>
        <p:nvSpPr>
          <p:cNvPr id="13" name="Activity_0lyzni7">
            <a:extLst>
              <a:ext uri="{FF2B5EF4-FFF2-40B4-BE49-F238E27FC236}">
                <a16:creationId xmlns:a16="http://schemas.microsoft.com/office/drawing/2014/main" id="{0C0B1407-7CA1-4755-8D6A-743AF8190AAB}"/>
              </a:ext>
            </a:extLst>
          </p:cNvPr>
          <p:cNvSpPr>
            <a:spLocks noGrp="1"/>
          </p:cNvSpPr>
          <p:nvPr/>
        </p:nvSpPr>
        <p:spPr>
          <a:xfrm>
            <a:off x="152781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Recibir materias primas</a:t>
            </a:r>
          </a:p>
        </p:txBody>
      </p:sp>
      <p:sp>
        <p:nvSpPr>
          <p:cNvPr id="14" name="Activity_081ttfn">
            <a:extLst>
              <a:ext uri="{FF2B5EF4-FFF2-40B4-BE49-F238E27FC236}">
                <a16:creationId xmlns:a16="http://schemas.microsoft.com/office/drawing/2014/main" id="{4C7C3243-4FD4-4821-8275-DED7EC0B553B}"/>
              </a:ext>
            </a:extLst>
          </p:cNvPr>
          <p:cNvSpPr>
            <a:spLocks noGrp="1"/>
          </p:cNvSpPr>
          <p:nvPr/>
        </p:nvSpPr>
        <p:spPr>
          <a:xfrm>
            <a:off x="222885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Revisar materias primas</a:t>
            </a:r>
          </a:p>
        </p:txBody>
      </p:sp>
      <p:sp>
        <p:nvSpPr>
          <p:cNvPr id="15" name="Gateway_1xdbaeh">
            <a:extLst>
              <a:ext uri="{FF2B5EF4-FFF2-40B4-BE49-F238E27FC236}">
                <a16:creationId xmlns:a16="http://schemas.microsoft.com/office/drawing/2014/main" id="{5D89AEBC-C09A-4554-96E1-A9ACEA096614}"/>
              </a:ext>
            </a:extLst>
          </p:cNvPr>
          <p:cNvSpPr>
            <a:spLocks noGrp="1"/>
          </p:cNvSpPr>
          <p:nvPr/>
        </p:nvSpPr>
        <p:spPr>
          <a:xfrm>
            <a:off x="2951798" y="1292543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A5F51EA-E7F4-43C1-9108-87D5538AB68D}"/>
              </a:ext>
            </a:extLst>
          </p:cNvPr>
          <p:cNvSpPr>
            <a:spLocks noGrp="1"/>
          </p:cNvSpPr>
          <p:nvPr/>
        </p:nvSpPr>
        <p:spPr>
          <a:xfrm>
            <a:off x="2599373" y="968692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¿Materias primas aprobadas?</a:t>
            </a:r>
          </a:p>
        </p:txBody>
      </p:sp>
      <p:sp>
        <p:nvSpPr>
          <p:cNvPr id="17" name="Activity_004qswt">
            <a:extLst>
              <a:ext uri="{FF2B5EF4-FFF2-40B4-BE49-F238E27FC236}">
                <a16:creationId xmlns:a16="http://schemas.microsoft.com/office/drawing/2014/main" id="{3C39B38C-A575-47BC-AA00-73E2AE6D29B4}"/>
              </a:ext>
            </a:extLst>
          </p:cNvPr>
          <p:cNvSpPr>
            <a:spLocks noGrp="1"/>
          </p:cNvSpPr>
          <p:nvPr/>
        </p:nvSpPr>
        <p:spPr>
          <a:xfrm>
            <a:off x="345567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Rechazar materias primas</a:t>
            </a:r>
          </a:p>
        </p:txBody>
      </p:sp>
      <p:sp>
        <p:nvSpPr>
          <p:cNvPr id="18" name="Event_0fl3s8z">
            <a:extLst>
              <a:ext uri="{FF2B5EF4-FFF2-40B4-BE49-F238E27FC236}">
                <a16:creationId xmlns:a16="http://schemas.microsoft.com/office/drawing/2014/main" id="{573C32B0-0078-4456-AB82-C021DE1B8AB2}"/>
              </a:ext>
            </a:extLst>
          </p:cNvPr>
          <p:cNvSpPr>
            <a:spLocks noGrp="1"/>
          </p:cNvSpPr>
          <p:nvPr/>
        </p:nvSpPr>
        <p:spPr>
          <a:xfrm>
            <a:off x="4209288" y="132321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B7824A-73CA-4835-BBEF-D51FC830CE70}"/>
              </a:ext>
            </a:extLst>
          </p:cNvPr>
          <p:cNvSpPr>
            <a:spLocks noGrp="1"/>
          </p:cNvSpPr>
          <p:nvPr/>
        </p:nvSpPr>
        <p:spPr>
          <a:xfrm>
            <a:off x="398068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Materias primas rechazadas</a:t>
            </a:r>
          </a:p>
        </p:txBody>
      </p:sp>
      <p:sp>
        <p:nvSpPr>
          <p:cNvPr id="20" name="Activity_14jvfr0">
            <a:extLst>
              <a:ext uri="{FF2B5EF4-FFF2-40B4-BE49-F238E27FC236}">
                <a16:creationId xmlns:a16="http://schemas.microsoft.com/office/drawing/2014/main" id="{6DC0A3AF-8AFE-4A99-A41B-95B58F42BAA9}"/>
              </a:ext>
            </a:extLst>
          </p:cNvPr>
          <p:cNvSpPr>
            <a:spLocks noGrp="1"/>
          </p:cNvSpPr>
          <p:nvPr/>
        </p:nvSpPr>
        <p:spPr>
          <a:xfrm>
            <a:off x="284226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Tratar agua</a:t>
            </a:r>
          </a:p>
        </p:txBody>
      </p:sp>
      <p:sp>
        <p:nvSpPr>
          <p:cNvPr id="21" name="Activity_19tm346">
            <a:extLst>
              <a:ext uri="{FF2B5EF4-FFF2-40B4-BE49-F238E27FC236}">
                <a16:creationId xmlns:a16="http://schemas.microsoft.com/office/drawing/2014/main" id="{ADEA50C7-4227-4F8F-B277-6BF8418B9A44}"/>
              </a:ext>
            </a:extLst>
          </p:cNvPr>
          <p:cNvSpPr>
            <a:spLocks noGrp="1"/>
          </p:cNvSpPr>
          <p:nvPr/>
        </p:nvSpPr>
        <p:spPr>
          <a:xfrm>
            <a:off x="349948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Preparar mezcla</a:t>
            </a:r>
          </a:p>
        </p:txBody>
      </p:sp>
      <p:sp>
        <p:nvSpPr>
          <p:cNvPr id="22" name="Activity_0ma0f3z">
            <a:extLst>
              <a:ext uri="{FF2B5EF4-FFF2-40B4-BE49-F238E27FC236}">
                <a16:creationId xmlns:a16="http://schemas.microsoft.com/office/drawing/2014/main" id="{A4C8E5D3-2288-4C53-BCAD-1CE5872B2B19}"/>
              </a:ext>
            </a:extLst>
          </p:cNvPr>
          <p:cNvSpPr>
            <a:spLocks noGrp="1"/>
          </p:cNvSpPr>
          <p:nvPr/>
        </p:nvSpPr>
        <p:spPr>
          <a:xfrm>
            <a:off x="415671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Carbonatar bebida</a:t>
            </a:r>
          </a:p>
        </p:txBody>
      </p:sp>
      <p:sp>
        <p:nvSpPr>
          <p:cNvPr id="23" name="Activity_1vdejbd">
            <a:extLst>
              <a:ext uri="{FF2B5EF4-FFF2-40B4-BE49-F238E27FC236}">
                <a16:creationId xmlns:a16="http://schemas.microsoft.com/office/drawing/2014/main" id="{4796F6C7-F495-42A6-BE5B-3A4EEF017D29}"/>
              </a:ext>
            </a:extLst>
          </p:cNvPr>
          <p:cNvSpPr>
            <a:spLocks noGrp="1"/>
          </p:cNvSpPr>
          <p:nvPr/>
        </p:nvSpPr>
        <p:spPr>
          <a:xfrm>
            <a:off x="481393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Llenar y tapar botellas</a:t>
            </a:r>
          </a:p>
        </p:txBody>
      </p:sp>
      <p:sp>
        <p:nvSpPr>
          <p:cNvPr id="24" name="Activity_1cneudp">
            <a:extLst>
              <a:ext uri="{FF2B5EF4-FFF2-40B4-BE49-F238E27FC236}">
                <a16:creationId xmlns:a16="http://schemas.microsoft.com/office/drawing/2014/main" id="{F1192248-823F-4B39-9901-9475EFF31C86}"/>
              </a:ext>
            </a:extLst>
          </p:cNvPr>
          <p:cNvSpPr>
            <a:spLocks noGrp="1"/>
          </p:cNvSpPr>
          <p:nvPr/>
        </p:nvSpPr>
        <p:spPr>
          <a:xfrm>
            <a:off x="4857750" y="328612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Inspeccionar lote</a:t>
            </a:r>
          </a:p>
        </p:txBody>
      </p:sp>
      <p:sp>
        <p:nvSpPr>
          <p:cNvPr id="25" name="Gateway_0jo8w40">
            <a:extLst>
              <a:ext uri="{FF2B5EF4-FFF2-40B4-BE49-F238E27FC236}">
                <a16:creationId xmlns:a16="http://schemas.microsoft.com/office/drawing/2014/main" id="{DB17D558-7938-44DF-9193-7C698F461E73}"/>
              </a:ext>
            </a:extLst>
          </p:cNvPr>
          <p:cNvSpPr>
            <a:spLocks noGrp="1"/>
          </p:cNvSpPr>
          <p:nvPr/>
        </p:nvSpPr>
        <p:spPr>
          <a:xfrm>
            <a:off x="5536883" y="3351848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CFB9C93-F8EA-48CC-8915-03528A6C5B2D}"/>
              </a:ext>
            </a:extLst>
          </p:cNvPr>
          <p:cNvSpPr>
            <a:spLocks noGrp="1"/>
          </p:cNvSpPr>
          <p:nvPr/>
        </p:nvSpPr>
        <p:spPr>
          <a:xfrm>
            <a:off x="5184458" y="3027998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¿Lote aprobado?</a:t>
            </a:r>
          </a:p>
        </p:txBody>
      </p:sp>
      <p:sp>
        <p:nvSpPr>
          <p:cNvPr id="27" name="Activity_12zddte">
            <a:extLst>
              <a:ext uri="{FF2B5EF4-FFF2-40B4-BE49-F238E27FC236}">
                <a16:creationId xmlns:a16="http://schemas.microsoft.com/office/drawing/2014/main" id="{84FD5994-C8FA-4980-9C0A-7724F7322E10}"/>
              </a:ext>
            </a:extLst>
          </p:cNvPr>
          <p:cNvSpPr>
            <a:spLocks noGrp="1"/>
          </p:cNvSpPr>
          <p:nvPr/>
        </p:nvSpPr>
        <p:spPr>
          <a:xfrm>
            <a:off x="5996940" y="376809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Separar lote no conforme</a:t>
            </a:r>
          </a:p>
        </p:txBody>
      </p:sp>
      <p:sp>
        <p:nvSpPr>
          <p:cNvPr id="28" name="Event_0dms3rq">
            <a:extLst>
              <a:ext uri="{FF2B5EF4-FFF2-40B4-BE49-F238E27FC236}">
                <a16:creationId xmlns:a16="http://schemas.microsoft.com/office/drawing/2014/main" id="{ED1D21A5-834B-43AD-B312-070325C20F55}"/>
              </a:ext>
            </a:extLst>
          </p:cNvPr>
          <p:cNvSpPr>
            <a:spLocks noGrp="1"/>
          </p:cNvSpPr>
          <p:nvPr/>
        </p:nvSpPr>
        <p:spPr>
          <a:xfrm>
            <a:off x="6706743" y="386448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9D61539-7990-42EA-925D-B7D66FDB86EC}"/>
              </a:ext>
            </a:extLst>
          </p:cNvPr>
          <p:cNvSpPr>
            <a:spLocks noGrp="1"/>
          </p:cNvSpPr>
          <p:nvPr/>
        </p:nvSpPr>
        <p:spPr>
          <a:xfrm>
            <a:off x="6478143" y="407403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Lote rechazado</a:t>
            </a:r>
          </a:p>
        </p:txBody>
      </p:sp>
      <p:sp>
        <p:nvSpPr>
          <p:cNvPr id="30" name="Activity_14r4dzv">
            <a:extLst>
              <a:ext uri="{FF2B5EF4-FFF2-40B4-BE49-F238E27FC236}">
                <a16:creationId xmlns:a16="http://schemas.microsoft.com/office/drawing/2014/main" id="{E9230C29-1065-4DCA-9E7A-7672C65E281F}"/>
              </a:ext>
            </a:extLst>
          </p:cNvPr>
          <p:cNvSpPr>
            <a:spLocks noGrp="1"/>
          </p:cNvSpPr>
          <p:nvPr/>
        </p:nvSpPr>
        <p:spPr>
          <a:xfrm>
            <a:off x="586549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Etiquetar y empacar</a:t>
            </a:r>
          </a:p>
        </p:txBody>
      </p:sp>
      <p:sp>
        <p:nvSpPr>
          <p:cNvPr id="31" name="Activity_0rnqn3q">
            <a:extLst>
              <a:ext uri="{FF2B5EF4-FFF2-40B4-BE49-F238E27FC236}">
                <a16:creationId xmlns:a16="http://schemas.microsoft.com/office/drawing/2014/main" id="{8A5F2826-D644-4C08-A36D-486CE3DEA21E}"/>
              </a:ext>
            </a:extLst>
          </p:cNvPr>
          <p:cNvSpPr>
            <a:spLocks noGrp="1"/>
          </p:cNvSpPr>
          <p:nvPr/>
        </p:nvSpPr>
        <p:spPr>
          <a:xfrm>
            <a:off x="6741795" y="166497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E7F0FC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Almacenar producto terminado</a:t>
            </a:r>
          </a:p>
        </p:txBody>
      </p:sp>
      <p:sp>
        <p:nvSpPr>
          <p:cNvPr id="32" name="Event_1xsq68o">
            <a:extLst>
              <a:ext uri="{FF2B5EF4-FFF2-40B4-BE49-F238E27FC236}">
                <a16:creationId xmlns:a16="http://schemas.microsoft.com/office/drawing/2014/main" id="{749633C9-301B-433A-894B-811532AB95C5}"/>
              </a:ext>
            </a:extLst>
          </p:cNvPr>
          <p:cNvSpPr>
            <a:spLocks noGrp="1"/>
          </p:cNvSpPr>
          <p:nvPr/>
        </p:nvSpPr>
        <p:spPr>
          <a:xfrm>
            <a:off x="7626858" y="176136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DEF6B24-886E-4E2D-BD8B-D0644B2B44DE}"/>
              </a:ext>
            </a:extLst>
          </p:cNvPr>
          <p:cNvSpPr>
            <a:spLocks noGrp="1"/>
          </p:cNvSpPr>
          <p:nvPr/>
        </p:nvSpPr>
        <p:spPr>
          <a:xfrm>
            <a:off x="7398258" y="197091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Producto listo para distribución</a:t>
            </a: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F50F6B86-E3EA-4516-BF22-BFACF52E3F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299972" y="1402080"/>
                </a:moveTo>
                <a:lnTo>
                  <a:pt x="152781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84E33F47-6DFB-45D8-9BC5-F719B5FF43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486015" y="1424913"/>
                </a:moveTo>
                <a:lnTo>
                  <a:pt x="1527810" y="1402080"/>
                </a:lnTo>
                <a:lnTo>
                  <a:pt x="148601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80D167AF-0D2D-4136-BDD3-D03646A766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965960" y="1402080"/>
                </a:moveTo>
                <a:lnTo>
                  <a:pt x="222885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DE8D056D-EFCF-4C83-AD70-4C323B3D2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187055" y="1424913"/>
                </a:moveTo>
                <a:lnTo>
                  <a:pt x="2228850" y="1402080"/>
                </a:lnTo>
                <a:lnTo>
                  <a:pt x="218705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D97BDC97-C7DE-4144-B233-A2152A0B28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667000" y="1402080"/>
                </a:moveTo>
                <a:lnTo>
                  <a:pt x="295179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9" name="Forma libre: forma 38">
            <a:extLst>
              <a:ext uri="{FF2B5EF4-FFF2-40B4-BE49-F238E27FC236}">
                <a16:creationId xmlns:a16="http://schemas.microsoft.com/office/drawing/2014/main" id="{F2CB933F-7841-4BCF-800C-B2B720E52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910003" y="1424913"/>
                </a:moveTo>
                <a:lnTo>
                  <a:pt x="2951798" y="1402080"/>
                </a:lnTo>
                <a:lnTo>
                  <a:pt x="291000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61F477D7-1610-45DB-ACBB-10BBD7BB1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170873" y="1402080"/>
                </a:moveTo>
                <a:lnTo>
                  <a:pt x="345567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88301FC7-AA23-45F2-AE87-FED82848E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13875" y="1424913"/>
                </a:moveTo>
                <a:lnTo>
                  <a:pt x="3455670" y="1402080"/>
                </a:lnTo>
                <a:lnTo>
                  <a:pt x="341387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83E2D32-74F8-4C19-BDA6-2967580AA89B}"/>
              </a:ext>
            </a:extLst>
          </p:cNvPr>
          <p:cNvSpPr>
            <a:spLocks noGrp="1"/>
          </p:cNvSpPr>
          <p:nvPr/>
        </p:nvSpPr>
        <p:spPr>
          <a:xfrm>
            <a:off x="3360896" y="1430655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0448A317-DED6-484F-B981-47C7934D5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893820" y="1402080"/>
                </a:moveTo>
                <a:lnTo>
                  <a:pt x="420928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748E4D59-BE7B-4CCB-A55D-D278A7FEF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67493" y="1424913"/>
                </a:moveTo>
                <a:lnTo>
                  <a:pt x="4209288" y="1402080"/>
                </a:lnTo>
                <a:lnTo>
                  <a:pt x="416749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D05417CD-0966-4606-A189-588FF4EF6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61335" y="1511618"/>
                </a:moveTo>
                <a:lnTo>
                  <a:pt x="3061335" y="214693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6" name="Forma libre: forma 45">
            <a:extLst>
              <a:ext uri="{FF2B5EF4-FFF2-40B4-BE49-F238E27FC236}">
                <a16:creationId xmlns:a16="http://schemas.microsoft.com/office/drawing/2014/main" id="{569BB5EF-AFBD-42DD-A024-944BAD408C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38502" y="2105140"/>
                </a:moveTo>
                <a:lnTo>
                  <a:pt x="3061335" y="2146935"/>
                </a:lnTo>
                <a:lnTo>
                  <a:pt x="3084168" y="210514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D23C7D0-D272-4DD5-9FB5-D3EB00A27775}"/>
              </a:ext>
            </a:extLst>
          </p:cNvPr>
          <p:cNvSpPr>
            <a:spLocks noGrp="1"/>
          </p:cNvSpPr>
          <p:nvPr/>
        </p:nvSpPr>
        <p:spPr>
          <a:xfrm>
            <a:off x="3108960" y="185785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D16813AF-3552-487F-BDB2-0D619A4C8E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280410" y="2322195"/>
                </a:moveTo>
                <a:lnTo>
                  <a:pt x="349948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9" name="Forma libre: forma 48">
            <a:extLst>
              <a:ext uri="{FF2B5EF4-FFF2-40B4-BE49-F238E27FC236}">
                <a16:creationId xmlns:a16="http://schemas.microsoft.com/office/drawing/2014/main" id="{F2A95E1F-C125-4534-B893-F20AE51C87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57690" y="2345028"/>
                </a:moveTo>
                <a:lnTo>
                  <a:pt x="3499485" y="2322195"/>
                </a:lnTo>
                <a:lnTo>
                  <a:pt x="345769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F9CB25CD-73D9-46A6-83D4-016F255B3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937635" y="2322195"/>
                </a:moveTo>
                <a:lnTo>
                  <a:pt x="4156710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1" name="Forma libre: forma 50">
            <a:extLst>
              <a:ext uri="{FF2B5EF4-FFF2-40B4-BE49-F238E27FC236}">
                <a16:creationId xmlns:a16="http://schemas.microsoft.com/office/drawing/2014/main" id="{E09D00C7-AAC6-4D5A-8E11-87A05D3B79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14915" y="2345028"/>
                </a:moveTo>
                <a:lnTo>
                  <a:pt x="4156710" y="2322195"/>
                </a:lnTo>
                <a:lnTo>
                  <a:pt x="4114915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F6F4FD79-EC18-4334-8D53-1860017EA4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594860" y="2322195"/>
                </a:moveTo>
                <a:lnTo>
                  <a:pt x="481393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29BD712F-CC72-4939-BDD6-10DDB1D43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772140" y="2345028"/>
                </a:moveTo>
                <a:lnTo>
                  <a:pt x="4813935" y="2322195"/>
                </a:lnTo>
                <a:lnTo>
                  <a:pt x="477214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4" name="Forma libre: forma 53">
            <a:extLst>
              <a:ext uri="{FF2B5EF4-FFF2-40B4-BE49-F238E27FC236}">
                <a16:creationId xmlns:a16="http://schemas.microsoft.com/office/drawing/2014/main" id="{766324C3-2E9F-45CD-BC94-8CC624EAB1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33010" y="2497455"/>
                </a:moveTo>
                <a:lnTo>
                  <a:pt x="5033010" y="328612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A2ED0543-1020-4100-BCF6-1F0970A7AA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10177" y="3244330"/>
                </a:moveTo>
                <a:lnTo>
                  <a:pt x="5033010" y="3286125"/>
                </a:lnTo>
                <a:lnTo>
                  <a:pt x="5055843" y="32443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6" name="Forma libre: forma 55">
            <a:extLst>
              <a:ext uri="{FF2B5EF4-FFF2-40B4-BE49-F238E27FC236}">
                <a16:creationId xmlns:a16="http://schemas.microsoft.com/office/drawing/2014/main" id="{EC047A6B-5732-4FD8-B530-0937C1610F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295900" y="3461385"/>
                </a:moveTo>
                <a:lnTo>
                  <a:pt x="5536883" y="346138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FB52A4AB-CD3F-442F-99C3-833710F698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495088" y="3484218"/>
                </a:moveTo>
                <a:lnTo>
                  <a:pt x="5536883" y="3461385"/>
                </a:lnTo>
                <a:lnTo>
                  <a:pt x="5495088" y="343855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2F29CC99-06DF-4AAB-9A73-08FFBFACD0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570923"/>
                </a:moveTo>
                <a:lnTo>
                  <a:pt x="5646420" y="3943350"/>
                </a:lnTo>
                <a:lnTo>
                  <a:pt x="5996940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5DB2CC0A-6330-42A7-A7FB-EC1B360731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955145" y="3966183"/>
                </a:moveTo>
                <a:lnTo>
                  <a:pt x="5996940" y="3943350"/>
                </a:lnTo>
                <a:lnTo>
                  <a:pt x="5955145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429AD54-7D53-4BEE-B358-6A0EA7C04C26}"/>
              </a:ext>
            </a:extLst>
          </p:cNvPr>
          <p:cNvSpPr>
            <a:spLocks noGrp="1"/>
          </p:cNvSpPr>
          <p:nvPr/>
        </p:nvSpPr>
        <p:spPr>
          <a:xfrm>
            <a:off x="5694045" y="378571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3F28B75B-31C3-485A-ACB6-49C9CEA664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435090" y="3943350"/>
                </a:moveTo>
                <a:lnTo>
                  <a:pt x="6706743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2" name="Forma libre: forma 61">
            <a:extLst>
              <a:ext uri="{FF2B5EF4-FFF2-40B4-BE49-F238E27FC236}">
                <a16:creationId xmlns:a16="http://schemas.microsoft.com/office/drawing/2014/main" id="{04DDA0D4-7FF0-4EF4-B7E0-EA1CF4D985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664948" y="3966183"/>
                </a:moveTo>
                <a:lnTo>
                  <a:pt x="6706743" y="3943350"/>
                </a:lnTo>
                <a:lnTo>
                  <a:pt x="6664948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3" name="Forma libre: forma 62">
            <a:extLst>
              <a:ext uri="{FF2B5EF4-FFF2-40B4-BE49-F238E27FC236}">
                <a16:creationId xmlns:a16="http://schemas.microsoft.com/office/drawing/2014/main" id="{93051374-69B6-4012-BAC8-0972928E3B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351848"/>
                </a:moveTo>
                <a:lnTo>
                  <a:pt x="5646420" y="2322195"/>
                </a:lnTo>
                <a:lnTo>
                  <a:pt x="586549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4" name="Forma libre: forma 63">
            <a:extLst>
              <a:ext uri="{FF2B5EF4-FFF2-40B4-BE49-F238E27FC236}">
                <a16:creationId xmlns:a16="http://schemas.microsoft.com/office/drawing/2014/main" id="{8A83E44A-822E-423D-8385-78A64D72A4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823700" y="2345028"/>
                </a:moveTo>
                <a:lnTo>
                  <a:pt x="5865495" y="2322195"/>
                </a:lnTo>
                <a:lnTo>
                  <a:pt x="582370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EB316EDF-BC6E-4D81-9362-E27E95CF6B0B}"/>
              </a:ext>
            </a:extLst>
          </p:cNvPr>
          <p:cNvSpPr>
            <a:spLocks noGrp="1"/>
          </p:cNvSpPr>
          <p:nvPr/>
        </p:nvSpPr>
        <p:spPr>
          <a:xfrm>
            <a:off x="5694045" y="2865596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66" name="Forma libre: forma 65">
            <a:extLst>
              <a:ext uri="{FF2B5EF4-FFF2-40B4-BE49-F238E27FC236}">
                <a16:creationId xmlns:a16="http://schemas.microsoft.com/office/drawing/2014/main" id="{5E00A170-1F80-4EEC-ABCA-7C93887860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303645" y="2322195"/>
                </a:moveTo>
                <a:lnTo>
                  <a:pt x="6522720" y="2322195"/>
                </a:lnTo>
                <a:lnTo>
                  <a:pt x="6522720" y="1840230"/>
                </a:lnTo>
                <a:lnTo>
                  <a:pt x="6741795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7" name="Forma libre: forma 66">
            <a:extLst>
              <a:ext uri="{FF2B5EF4-FFF2-40B4-BE49-F238E27FC236}">
                <a16:creationId xmlns:a16="http://schemas.microsoft.com/office/drawing/2014/main" id="{9BF6CC76-BD81-4F3A-BA0D-990A56061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700000" y="1863063"/>
                </a:moveTo>
                <a:lnTo>
                  <a:pt x="6741795" y="1840230"/>
                </a:lnTo>
                <a:lnTo>
                  <a:pt x="6700000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8" name="Forma libre: forma 67">
            <a:extLst>
              <a:ext uri="{FF2B5EF4-FFF2-40B4-BE49-F238E27FC236}">
                <a16:creationId xmlns:a16="http://schemas.microsoft.com/office/drawing/2014/main" id="{FB6F0ABC-F1FA-4EB6-B367-AD86D16D01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179945" y="1840230"/>
                </a:moveTo>
                <a:lnTo>
                  <a:pt x="7626858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9" name="Forma libre: forma 68">
            <a:extLst>
              <a:ext uri="{FF2B5EF4-FFF2-40B4-BE49-F238E27FC236}">
                <a16:creationId xmlns:a16="http://schemas.microsoft.com/office/drawing/2014/main" id="{68F14678-1BAA-4560-80A1-7CB5E3013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585063" y="1863063"/>
                </a:moveTo>
                <a:lnTo>
                  <a:pt x="7626858" y="1840230"/>
                </a:lnTo>
                <a:lnTo>
                  <a:pt x="7585063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70AD259F-51D6-4841-B58D-0077E8ABD25C}"/>
              </a:ext>
            </a:extLst>
          </p:cNvPr>
          <p:cNvSpPr>
            <a:spLocks noGrp="1"/>
          </p:cNvSpPr>
          <p:nvPr/>
        </p:nvSpPr>
        <p:spPr>
          <a:xfrm>
            <a:off x="457200" y="4448175"/>
            <a:ext cx="78581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Modelo BPMN preparado para importar en Bizagi. Incluye los tres carriles, dos decisiones de aprobación y tres resultados finales.</a:t>
            </a:r>
          </a:p>
        </p:txBody>
      </p:sp>
    </p:spTree>
    <p:extLst>
      <p:ext uri="{BB962C8B-B14F-4D97-AF65-F5344CB8AC3E}">
        <p14:creationId xmlns:p14="http://schemas.microsoft.com/office/powerpoint/2010/main" val="81979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0F9E8C1-5F10-486B-BEEC-ACDF696E645F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Diagrama 2: Camunda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A20732-5FF5-413F-B845-1F3316618231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36E507-0493-4D08-B8CC-DC967BB90F5C}"/>
              </a:ext>
            </a:extLst>
          </p:cNvPr>
          <p:cNvSpPr>
            <a:spLocks noGrp="1"/>
          </p:cNvSpPr>
          <p:nvPr/>
        </p:nvSpPr>
        <p:spPr>
          <a:xfrm>
            <a:off x="914400" y="1095375"/>
            <a:ext cx="7308342" cy="3286125"/>
          </a:xfrm>
          <a:prstGeom prst="rect">
            <a:avLst/>
          </a:prstGeom>
          <a:noFill/>
          <a:ln w="5715">
            <a:solidFill>
              <a:srgbClr val="8A9BA8"/>
            </a:solidFill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D04F81-BA63-4FC4-89B9-5CCFE7293F4F}"/>
              </a:ext>
            </a:extLst>
          </p:cNvPr>
          <p:cNvSpPr>
            <a:spLocks noGrp="1"/>
          </p:cNvSpPr>
          <p:nvPr/>
        </p:nvSpPr>
        <p:spPr>
          <a:xfrm>
            <a:off x="1045845" y="1095375"/>
            <a:ext cx="7176897" cy="1012127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2F1359-15AC-4FA7-8E9B-D8B34823D4ED}"/>
              </a:ext>
            </a:extLst>
          </p:cNvPr>
          <p:cNvSpPr>
            <a:spLocks noGrp="1"/>
          </p:cNvSpPr>
          <p:nvPr/>
        </p:nvSpPr>
        <p:spPr>
          <a:xfrm>
            <a:off x="1217295" y="1936052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Recepción y almacén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134CE1-C079-4055-8D79-CFA493767BF1}"/>
              </a:ext>
            </a:extLst>
          </p:cNvPr>
          <p:cNvSpPr>
            <a:spLocks noGrp="1"/>
          </p:cNvSpPr>
          <p:nvPr/>
        </p:nvSpPr>
        <p:spPr>
          <a:xfrm>
            <a:off x="1045845" y="2107502"/>
            <a:ext cx="7176897" cy="977075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52A2B3-AB60-4EFE-99EB-38C9466F6DFA}"/>
              </a:ext>
            </a:extLst>
          </p:cNvPr>
          <p:cNvSpPr>
            <a:spLocks noGrp="1"/>
          </p:cNvSpPr>
          <p:nvPr/>
        </p:nvSpPr>
        <p:spPr>
          <a:xfrm>
            <a:off x="1217295" y="2913126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Producción y envasado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F824121-D683-4388-9297-5D328BA1837E}"/>
              </a:ext>
            </a:extLst>
          </p:cNvPr>
          <p:cNvSpPr>
            <a:spLocks noGrp="1"/>
          </p:cNvSpPr>
          <p:nvPr/>
        </p:nvSpPr>
        <p:spPr>
          <a:xfrm>
            <a:off x="1045845" y="3084576"/>
            <a:ext cx="7176897" cy="1296924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A16FE61-9C44-4E15-9EDD-DD9E30B9EA1C}"/>
              </a:ext>
            </a:extLst>
          </p:cNvPr>
          <p:cNvSpPr>
            <a:spLocks noGrp="1"/>
          </p:cNvSpPr>
          <p:nvPr/>
        </p:nvSpPr>
        <p:spPr>
          <a:xfrm>
            <a:off x="1217295" y="4210050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Control de calidad</a:t>
            </a:r>
          </a:p>
        </p:txBody>
      </p:sp>
      <p:sp>
        <p:nvSpPr>
          <p:cNvPr id="11" name="StartEvent_1">
            <a:extLst>
              <a:ext uri="{FF2B5EF4-FFF2-40B4-BE49-F238E27FC236}">
                <a16:creationId xmlns:a16="http://schemas.microsoft.com/office/drawing/2014/main" id="{81EAC022-7029-40CA-89F3-4111782AC2C0}"/>
              </a:ext>
            </a:extLst>
          </p:cNvPr>
          <p:cNvSpPr>
            <a:spLocks noGrp="1"/>
          </p:cNvSpPr>
          <p:nvPr/>
        </p:nvSpPr>
        <p:spPr>
          <a:xfrm>
            <a:off x="1142238" y="1323213"/>
            <a:ext cx="157734" cy="157734"/>
          </a:xfrm>
          <a:prstGeom prst="ellipse">
            <a:avLst/>
          </a:prstGeom>
          <a:solidFill>
            <a:srgbClr val="E1F2E9"/>
          </a:solidFill>
          <a:ln w="9525">
            <a:solidFill>
              <a:srgbClr val="31475D"/>
            </a:solidFill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55FD2D2-AC46-4F52-AA05-6DAC4AB211A7}"/>
              </a:ext>
            </a:extLst>
          </p:cNvPr>
          <p:cNvSpPr>
            <a:spLocks noGrp="1"/>
          </p:cNvSpPr>
          <p:nvPr/>
        </p:nvSpPr>
        <p:spPr>
          <a:xfrm>
            <a:off x="91363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Inicio</a:t>
            </a:r>
          </a:p>
        </p:txBody>
      </p:sp>
      <p:sp>
        <p:nvSpPr>
          <p:cNvPr id="13" name="Activity_0lyzni7">
            <a:extLst>
              <a:ext uri="{FF2B5EF4-FFF2-40B4-BE49-F238E27FC236}">
                <a16:creationId xmlns:a16="http://schemas.microsoft.com/office/drawing/2014/main" id="{89DE9286-652B-4318-87F7-BA853573D08A}"/>
              </a:ext>
            </a:extLst>
          </p:cNvPr>
          <p:cNvSpPr>
            <a:spLocks noGrp="1"/>
          </p:cNvSpPr>
          <p:nvPr/>
        </p:nvSpPr>
        <p:spPr>
          <a:xfrm>
            <a:off x="152781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Recibir materias primas</a:t>
            </a:r>
          </a:p>
        </p:txBody>
      </p:sp>
      <p:sp>
        <p:nvSpPr>
          <p:cNvPr id="14" name="Activity_081ttfn">
            <a:extLst>
              <a:ext uri="{FF2B5EF4-FFF2-40B4-BE49-F238E27FC236}">
                <a16:creationId xmlns:a16="http://schemas.microsoft.com/office/drawing/2014/main" id="{1E162907-5071-4BC2-8A28-33E415AEF64B}"/>
              </a:ext>
            </a:extLst>
          </p:cNvPr>
          <p:cNvSpPr>
            <a:spLocks noGrp="1"/>
          </p:cNvSpPr>
          <p:nvPr/>
        </p:nvSpPr>
        <p:spPr>
          <a:xfrm>
            <a:off x="222885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Revisar materias primas</a:t>
            </a:r>
          </a:p>
        </p:txBody>
      </p:sp>
      <p:sp>
        <p:nvSpPr>
          <p:cNvPr id="15" name="Gateway_1xdbaeh">
            <a:extLst>
              <a:ext uri="{FF2B5EF4-FFF2-40B4-BE49-F238E27FC236}">
                <a16:creationId xmlns:a16="http://schemas.microsoft.com/office/drawing/2014/main" id="{04636CF2-1BCF-415A-B663-03E04847F18B}"/>
              </a:ext>
            </a:extLst>
          </p:cNvPr>
          <p:cNvSpPr>
            <a:spLocks noGrp="1"/>
          </p:cNvSpPr>
          <p:nvPr/>
        </p:nvSpPr>
        <p:spPr>
          <a:xfrm>
            <a:off x="2951798" y="1292543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EF30E4-55D0-4B7F-B278-7B7DEFDB2D1C}"/>
              </a:ext>
            </a:extLst>
          </p:cNvPr>
          <p:cNvSpPr>
            <a:spLocks noGrp="1"/>
          </p:cNvSpPr>
          <p:nvPr/>
        </p:nvSpPr>
        <p:spPr>
          <a:xfrm>
            <a:off x="2599373" y="968692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¿Materias primas aprobadas?</a:t>
            </a:r>
          </a:p>
        </p:txBody>
      </p:sp>
      <p:sp>
        <p:nvSpPr>
          <p:cNvPr id="17" name="Activity_004qswt">
            <a:extLst>
              <a:ext uri="{FF2B5EF4-FFF2-40B4-BE49-F238E27FC236}">
                <a16:creationId xmlns:a16="http://schemas.microsoft.com/office/drawing/2014/main" id="{ECA1F379-3A79-4E14-A010-DE86999C7937}"/>
              </a:ext>
            </a:extLst>
          </p:cNvPr>
          <p:cNvSpPr>
            <a:spLocks noGrp="1"/>
          </p:cNvSpPr>
          <p:nvPr/>
        </p:nvSpPr>
        <p:spPr>
          <a:xfrm>
            <a:off x="345567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Rechazar materias primas</a:t>
            </a:r>
          </a:p>
        </p:txBody>
      </p:sp>
      <p:sp>
        <p:nvSpPr>
          <p:cNvPr id="18" name="Event_0fl3s8z">
            <a:extLst>
              <a:ext uri="{FF2B5EF4-FFF2-40B4-BE49-F238E27FC236}">
                <a16:creationId xmlns:a16="http://schemas.microsoft.com/office/drawing/2014/main" id="{D01D3D1A-1A91-48CB-9A8A-F8F68874E545}"/>
              </a:ext>
            </a:extLst>
          </p:cNvPr>
          <p:cNvSpPr>
            <a:spLocks noGrp="1"/>
          </p:cNvSpPr>
          <p:nvPr/>
        </p:nvSpPr>
        <p:spPr>
          <a:xfrm>
            <a:off x="4209288" y="132321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53E0A75-5AC9-423A-AAEE-83CCEE461510}"/>
              </a:ext>
            </a:extLst>
          </p:cNvPr>
          <p:cNvSpPr>
            <a:spLocks noGrp="1"/>
          </p:cNvSpPr>
          <p:nvPr/>
        </p:nvSpPr>
        <p:spPr>
          <a:xfrm>
            <a:off x="398068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Materias primas rechazadas</a:t>
            </a:r>
          </a:p>
        </p:txBody>
      </p:sp>
      <p:sp>
        <p:nvSpPr>
          <p:cNvPr id="20" name="Activity_14jvfr0">
            <a:extLst>
              <a:ext uri="{FF2B5EF4-FFF2-40B4-BE49-F238E27FC236}">
                <a16:creationId xmlns:a16="http://schemas.microsoft.com/office/drawing/2014/main" id="{1BF9DA65-C4CF-4F13-BB72-14E6614FAAD2}"/>
              </a:ext>
            </a:extLst>
          </p:cNvPr>
          <p:cNvSpPr>
            <a:spLocks noGrp="1"/>
          </p:cNvSpPr>
          <p:nvPr/>
        </p:nvSpPr>
        <p:spPr>
          <a:xfrm>
            <a:off x="284226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Tratar agua</a:t>
            </a:r>
          </a:p>
        </p:txBody>
      </p:sp>
      <p:sp>
        <p:nvSpPr>
          <p:cNvPr id="21" name="Activity_19tm346">
            <a:extLst>
              <a:ext uri="{FF2B5EF4-FFF2-40B4-BE49-F238E27FC236}">
                <a16:creationId xmlns:a16="http://schemas.microsoft.com/office/drawing/2014/main" id="{50B3257F-BC47-4278-BB61-B673E7D3B1D1}"/>
              </a:ext>
            </a:extLst>
          </p:cNvPr>
          <p:cNvSpPr>
            <a:spLocks noGrp="1"/>
          </p:cNvSpPr>
          <p:nvPr/>
        </p:nvSpPr>
        <p:spPr>
          <a:xfrm>
            <a:off x="349948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Preparar mezcla</a:t>
            </a:r>
          </a:p>
        </p:txBody>
      </p:sp>
      <p:sp>
        <p:nvSpPr>
          <p:cNvPr id="22" name="Activity_0ma0f3z">
            <a:extLst>
              <a:ext uri="{FF2B5EF4-FFF2-40B4-BE49-F238E27FC236}">
                <a16:creationId xmlns:a16="http://schemas.microsoft.com/office/drawing/2014/main" id="{9F3649EA-4CC5-4AD1-AC2A-DF77C02D05B4}"/>
              </a:ext>
            </a:extLst>
          </p:cNvPr>
          <p:cNvSpPr>
            <a:spLocks noGrp="1"/>
          </p:cNvSpPr>
          <p:nvPr/>
        </p:nvSpPr>
        <p:spPr>
          <a:xfrm>
            <a:off x="415671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Carbonatar bebida</a:t>
            </a:r>
          </a:p>
        </p:txBody>
      </p:sp>
      <p:sp>
        <p:nvSpPr>
          <p:cNvPr id="23" name="Activity_1vdejbd">
            <a:extLst>
              <a:ext uri="{FF2B5EF4-FFF2-40B4-BE49-F238E27FC236}">
                <a16:creationId xmlns:a16="http://schemas.microsoft.com/office/drawing/2014/main" id="{D74C45F0-65A8-4D01-A7C3-CC40CDDC3737}"/>
              </a:ext>
            </a:extLst>
          </p:cNvPr>
          <p:cNvSpPr>
            <a:spLocks noGrp="1"/>
          </p:cNvSpPr>
          <p:nvPr/>
        </p:nvSpPr>
        <p:spPr>
          <a:xfrm>
            <a:off x="481393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Llenar y tapar botellas</a:t>
            </a:r>
          </a:p>
        </p:txBody>
      </p:sp>
      <p:sp>
        <p:nvSpPr>
          <p:cNvPr id="24" name="Activity_1cneudp">
            <a:extLst>
              <a:ext uri="{FF2B5EF4-FFF2-40B4-BE49-F238E27FC236}">
                <a16:creationId xmlns:a16="http://schemas.microsoft.com/office/drawing/2014/main" id="{9A8AFE7C-8941-43F8-ACD0-5BD045C0E8A0}"/>
              </a:ext>
            </a:extLst>
          </p:cNvPr>
          <p:cNvSpPr>
            <a:spLocks noGrp="1"/>
          </p:cNvSpPr>
          <p:nvPr/>
        </p:nvSpPr>
        <p:spPr>
          <a:xfrm>
            <a:off x="4857750" y="328612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Inspeccionar lote</a:t>
            </a:r>
          </a:p>
        </p:txBody>
      </p:sp>
      <p:sp>
        <p:nvSpPr>
          <p:cNvPr id="25" name="Gateway_0jo8w40">
            <a:extLst>
              <a:ext uri="{FF2B5EF4-FFF2-40B4-BE49-F238E27FC236}">
                <a16:creationId xmlns:a16="http://schemas.microsoft.com/office/drawing/2014/main" id="{3D247B38-37F7-40EE-9AEE-955A34CAF2B1}"/>
              </a:ext>
            </a:extLst>
          </p:cNvPr>
          <p:cNvSpPr>
            <a:spLocks noGrp="1"/>
          </p:cNvSpPr>
          <p:nvPr/>
        </p:nvSpPr>
        <p:spPr>
          <a:xfrm>
            <a:off x="5536883" y="3351848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CDA4214-72F1-439A-A8E2-7E368C0F7D9E}"/>
              </a:ext>
            </a:extLst>
          </p:cNvPr>
          <p:cNvSpPr>
            <a:spLocks noGrp="1"/>
          </p:cNvSpPr>
          <p:nvPr/>
        </p:nvSpPr>
        <p:spPr>
          <a:xfrm>
            <a:off x="5184458" y="3027998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¿Lote aprobado?</a:t>
            </a:r>
          </a:p>
        </p:txBody>
      </p:sp>
      <p:sp>
        <p:nvSpPr>
          <p:cNvPr id="27" name="Activity_12zddte">
            <a:extLst>
              <a:ext uri="{FF2B5EF4-FFF2-40B4-BE49-F238E27FC236}">
                <a16:creationId xmlns:a16="http://schemas.microsoft.com/office/drawing/2014/main" id="{61E10DDC-71C8-449F-ACB9-6B380F4BBCD3}"/>
              </a:ext>
            </a:extLst>
          </p:cNvPr>
          <p:cNvSpPr>
            <a:spLocks noGrp="1"/>
          </p:cNvSpPr>
          <p:nvPr/>
        </p:nvSpPr>
        <p:spPr>
          <a:xfrm>
            <a:off x="5996940" y="376809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Separar lote no conforme</a:t>
            </a:r>
          </a:p>
        </p:txBody>
      </p:sp>
      <p:sp>
        <p:nvSpPr>
          <p:cNvPr id="28" name="Event_0dms3rq">
            <a:extLst>
              <a:ext uri="{FF2B5EF4-FFF2-40B4-BE49-F238E27FC236}">
                <a16:creationId xmlns:a16="http://schemas.microsoft.com/office/drawing/2014/main" id="{F7EB16F4-C06D-4B14-B0FD-39EC88F80EBF}"/>
              </a:ext>
            </a:extLst>
          </p:cNvPr>
          <p:cNvSpPr>
            <a:spLocks noGrp="1"/>
          </p:cNvSpPr>
          <p:nvPr/>
        </p:nvSpPr>
        <p:spPr>
          <a:xfrm>
            <a:off x="6706743" y="386448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DC93409-C606-4F02-8F5D-BA4AE6AE8306}"/>
              </a:ext>
            </a:extLst>
          </p:cNvPr>
          <p:cNvSpPr>
            <a:spLocks noGrp="1"/>
          </p:cNvSpPr>
          <p:nvPr/>
        </p:nvSpPr>
        <p:spPr>
          <a:xfrm>
            <a:off x="6478143" y="407403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Lote rechazado</a:t>
            </a:r>
          </a:p>
        </p:txBody>
      </p:sp>
      <p:sp>
        <p:nvSpPr>
          <p:cNvPr id="30" name="Activity_14r4dzv">
            <a:extLst>
              <a:ext uri="{FF2B5EF4-FFF2-40B4-BE49-F238E27FC236}">
                <a16:creationId xmlns:a16="http://schemas.microsoft.com/office/drawing/2014/main" id="{7D0DCB19-46C5-4C0C-91AC-B727B56A5683}"/>
              </a:ext>
            </a:extLst>
          </p:cNvPr>
          <p:cNvSpPr>
            <a:spLocks noGrp="1"/>
          </p:cNvSpPr>
          <p:nvPr/>
        </p:nvSpPr>
        <p:spPr>
          <a:xfrm>
            <a:off x="586549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Etiquetar y empacar</a:t>
            </a:r>
          </a:p>
        </p:txBody>
      </p:sp>
      <p:sp>
        <p:nvSpPr>
          <p:cNvPr id="31" name="Activity_0rnqn3q">
            <a:extLst>
              <a:ext uri="{FF2B5EF4-FFF2-40B4-BE49-F238E27FC236}">
                <a16:creationId xmlns:a16="http://schemas.microsoft.com/office/drawing/2014/main" id="{480C13B7-7F34-4F4D-B638-35FE24D39E67}"/>
              </a:ext>
            </a:extLst>
          </p:cNvPr>
          <p:cNvSpPr>
            <a:spLocks noGrp="1"/>
          </p:cNvSpPr>
          <p:nvPr/>
        </p:nvSpPr>
        <p:spPr>
          <a:xfrm>
            <a:off x="6741795" y="166497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Almacenar producto terminado</a:t>
            </a:r>
          </a:p>
        </p:txBody>
      </p:sp>
      <p:sp>
        <p:nvSpPr>
          <p:cNvPr id="32" name="Event_1xsq68o">
            <a:extLst>
              <a:ext uri="{FF2B5EF4-FFF2-40B4-BE49-F238E27FC236}">
                <a16:creationId xmlns:a16="http://schemas.microsoft.com/office/drawing/2014/main" id="{5FF7379D-D791-403C-832B-D93726AD9E07}"/>
              </a:ext>
            </a:extLst>
          </p:cNvPr>
          <p:cNvSpPr>
            <a:spLocks noGrp="1"/>
          </p:cNvSpPr>
          <p:nvPr/>
        </p:nvSpPr>
        <p:spPr>
          <a:xfrm>
            <a:off x="7626858" y="176136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73E31CB-5BBD-4FA3-ADE1-5FFCA4FE8C3F}"/>
              </a:ext>
            </a:extLst>
          </p:cNvPr>
          <p:cNvSpPr>
            <a:spLocks noGrp="1"/>
          </p:cNvSpPr>
          <p:nvPr/>
        </p:nvSpPr>
        <p:spPr>
          <a:xfrm>
            <a:off x="7398258" y="197091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Producto listo para distribución</a:t>
            </a: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CAFEDCB4-B056-4306-A2DD-718DA64460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299972" y="1402080"/>
                </a:moveTo>
                <a:lnTo>
                  <a:pt x="152781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C407894A-7A38-4EAB-8418-4505F94EF3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486015" y="1424913"/>
                </a:moveTo>
                <a:lnTo>
                  <a:pt x="1527810" y="1402080"/>
                </a:lnTo>
                <a:lnTo>
                  <a:pt x="148601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28A39AE4-9D93-49E9-8353-F6FC9B3D55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965960" y="1402080"/>
                </a:moveTo>
                <a:lnTo>
                  <a:pt x="222885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7E998B77-CF16-4927-B1C3-F0E6975A9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187055" y="1424913"/>
                </a:moveTo>
                <a:lnTo>
                  <a:pt x="2228850" y="1402080"/>
                </a:lnTo>
                <a:lnTo>
                  <a:pt x="218705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EA86805D-AEB7-4D8E-BADF-4BDB33CDCD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667000" y="1402080"/>
                </a:moveTo>
                <a:lnTo>
                  <a:pt x="295179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9" name="Forma libre: forma 38">
            <a:extLst>
              <a:ext uri="{FF2B5EF4-FFF2-40B4-BE49-F238E27FC236}">
                <a16:creationId xmlns:a16="http://schemas.microsoft.com/office/drawing/2014/main" id="{DF9D8D24-9A5D-4382-B6AE-8195E6F86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910003" y="1424913"/>
                </a:moveTo>
                <a:lnTo>
                  <a:pt x="2951798" y="1402080"/>
                </a:lnTo>
                <a:lnTo>
                  <a:pt x="291000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A8527DFE-4CBF-44A4-AC5F-E7033E88D8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170873" y="1402080"/>
                </a:moveTo>
                <a:lnTo>
                  <a:pt x="345567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BCA14F7A-101C-4429-8A6C-CD01B14AC9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13875" y="1424913"/>
                </a:moveTo>
                <a:lnTo>
                  <a:pt x="3455670" y="1402080"/>
                </a:lnTo>
                <a:lnTo>
                  <a:pt x="341387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62601D7-ED70-489B-AB98-63B0DBB4AC5E}"/>
              </a:ext>
            </a:extLst>
          </p:cNvPr>
          <p:cNvSpPr>
            <a:spLocks noGrp="1"/>
          </p:cNvSpPr>
          <p:nvPr/>
        </p:nvSpPr>
        <p:spPr>
          <a:xfrm>
            <a:off x="3360896" y="1430655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3E5F72BD-6504-48D2-AC48-1E863E91D2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893820" y="1402080"/>
                </a:moveTo>
                <a:lnTo>
                  <a:pt x="420928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541CB003-EC4E-45DA-814E-EF38676B1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67493" y="1424913"/>
                </a:moveTo>
                <a:lnTo>
                  <a:pt x="4209288" y="1402080"/>
                </a:lnTo>
                <a:lnTo>
                  <a:pt x="416749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C0F78F2F-D961-46C2-AB49-DD7B6A6565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61335" y="1511618"/>
                </a:moveTo>
                <a:lnTo>
                  <a:pt x="3061335" y="214693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6" name="Forma libre: forma 45">
            <a:extLst>
              <a:ext uri="{FF2B5EF4-FFF2-40B4-BE49-F238E27FC236}">
                <a16:creationId xmlns:a16="http://schemas.microsoft.com/office/drawing/2014/main" id="{C1952456-E326-4D0B-A570-BFA3ED801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38502" y="2105140"/>
                </a:moveTo>
                <a:lnTo>
                  <a:pt x="3061335" y="2146935"/>
                </a:lnTo>
                <a:lnTo>
                  <a:pt x="3084168" y="210514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CBD27F7A-D04A-4B79-B383-877921A042CE}"/>
              </a:ext>
            </a:extLst>
          </p:cNvPr>
          <p:cNvSpPr>
            <a:spLocks noGrp="1"/>
          </p:cNvSpPr>
          <p:nvPr/>
        </p:nvSpPr>
        <p:spPr>
          <a:xfrm>
            <a:off x="3108960" y="185785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78A48285-1E84-4503-BD5C-781D136B1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280410" y="2322195"/>
                </a:moveTo>
                <a:lnTo>
                  <a:pt x="349948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9" name="Forma libre: forma 48">
            <a:extLst>
              <a:ext uri="{FF2B5EF4-FFF2-40B4-BE49-F238E27FC236}">
                <a16:creationId xmlns:a16="http://schemas.microsoft.com/office/drawing/2014/main" id="{C14309F4-0E7E-48FD-A093-BFDD357FF7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57690" y="2345028"/>
                </a:moveTo>
                <a:lnTo>
                  <a:pt x="3499485" y="2322195"/>
                </a:lnTo>
                <a:lnTo>
                  <a:pt x="345769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C68ADF9C-588B-4545-AF93-3E36DA5456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937635" y="2322195"/>
                </a:moveTo>
                <a:lnTo>
                  <a:pt x="4156710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1" name="Forma libre: forma 50">
            <a:extLst>
              <a:ext uri="{FF2B5EF4-FFF2-40B4-BE49-F238E27FC236}">
                <a16:creationId xmlns:a16="http://schemas.microsoft.com/office/drawing/2014/main" id="{1DCFF3DC-8529-42F1-B141-FE028C375D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14915" y="2345028"/>
                </a:moveTo>
                <a:lnTo>
                  <a:pt x="4156710" y="2322195"/>
                </a:lnTo>
                <a:lnTo>
                  <a:pt x="4114915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12CFF0B3-076C-40C1-BF53-BDE14B3E31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594860" y="2322195"/>
                </a:moveTo>
                <a:lnTo>
                  <a:pt x="481393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11170227-8654-42B3-97C7-13602974F5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772140" y="2345028"/>
                </a:moveTo>
                <a:lnTo>
                  <a:pt x="4813935" y="2322195"/>
                </a:lnTo>
                <a:lnTo>
                  <a:pt x="477214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4" name="Forma libre: forma 53">
            <a:extLst>
              <a:ext uri="{FF2B5EF4-FFF2-40B4-BE49-F238E27FC236}">
                <a16:creationId xmlns:a16="http://schemas.microsoft.com/office/drawing/2014/main" id="{C6775BE6-1E12-4539-AB5E-633449608D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33010" y="2497455"/>
                </a:moveTo>
                <a:lnTo>
                  <a:pt x="5033010" y="328612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0B518A1B-2F3B-427F-B974-55AA5DE5EA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10177" y="3244330"/>
                </a:moveTo>
                <a:lnTo>
                  <a:pt x="5033010" y="3286125"/>
                </a:lnTo>
                <a:lnTo>
                  <a:pt x="5055843" y="32443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6" name="Forma libre: forma 55">
            <a:extLst>
              <a:ext uri="{FF2B5EF4-FFF2-40B4-BE49-F238E27FC236}">
                <a16:creationId xmlns:a16="http://schemas.microsoft.com/office/drawing/2014/main" id="{5801F2AB-73AF-4ACD-A4A2-34C2BD9BB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295900" y="3461385"/>
                </a:moveTo>
                <a:lnTo>
                  <a:pt x="5536883" y="346138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7872574D-5689-4DB7-8980-98782EDB31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495088" y="3484218"/>
                </a:moveTo>
                <a:lnTo>
                  <a:pt x="5536883" y="3461385"/>
                </a:lnTo>
                <a:lnTo>
                  <a:pt x="5495088" y="343855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228770A6-D210-4994-A2D2-ED99259822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570923"/>
                </a:moveTo>
                <a:lnTo>
                  <a:pt x="5646420" y="3943350"/>
                </a:lnTo>
                <a:lnTo>
                  <a:pt x="5996940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090560B6-4B22-4125-84A1-D9B59975DE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955145" y="3966183"/>
                </a:moveTo>
                <a:lnTo>
                  <a:pt x="5996940" y="3943350"/>
                </a:lnTo>
                <a:lnTo>
                  <a:pt x="5955145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FFEE167-D739-4189-9E06-FE54A174BD66}"/>
              </a:ext>
            </a:extLst>
          </p:cNvPr>
          <p:cNvSpPr>
            <a:spLocks noGrp="1"/>
          </p:cNvSpPr>
          <p:nvPr/>
        </p:nvSpPr>
        <p:spPr>
          <a:xfrm>
            <a:off x="5694045" y="378571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A95266D8-1EDE-4A73-A958-B88238EBAF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435090" y="3943350"/>
                </a:moveTo>
                <a:lnTo>
                  <a:pt x="6706743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2" name="Forma libre: forma 61">
            <a:extLst>
              <a:ext uri="{FF2B5EF4-FFF2-40B4-BE49-F238E27FC236}">
                <a16:creationId xmlns:a16="http://schemas.microsoft.com/office/drawing/2014/main" id="{D35D029E-948F-4311-8733-D0609086E7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664948" y="3966183"/>
                </a:moveTo>
                <a:lnTo>
                  <a:pt x="6706743" y="3943350"/>
                </a:lnTo>
                <a:lnTo>
                  <a:pt x="6664948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3" name="Forma libre: forma 62">
            <a:extLst>
              <a:ext uri="{FF2B5EF4-FFF2-40B4-BE49-F238E27FC236}">
                <a16:creationId xmlns:a16="http://schemas.microsoft.com/office/drawing/2014/main" id="{64362B8A-D73C-4139-A732-8EE56DC61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351848"/>
                </a:moveTo>
                <a:lnTo>
                  <a:pt x="5646420" y="2322195"/>
                </a:lnTo>
                <a:lnTo>
                  <a:pt x="586549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4" name="Forma libre: forma 63">
            <a:extLst>
              <a:ext uri="{FF2B5EF4-FFF2-40B4-BE49-F238E27FC236}">
                <a16:creationId xmlns:a16="http://schemas.microsoft.com/office/drawing/2014/main" id="{2E61DB54-9431-4399-8AB8-9F744BC266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823700" y="2345028"/>
                </a:moveTo>
                <a:lnTo>
                  <a:pt x="5865495" y="2322195"/>
                </a:lnTo>
                <a:lnTo>
                  <a:pt x="582370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6A7BDB5F-54CB-412C-98FB-25DE4C83D8E6}"/>
              </a:ext>
            </a:extLst>
          </p:cNvPr>
          <p:cNvSpPr>
            <a:spLocks noGrp="1"/>
          </p:cNvSpPr>
          <p:nvPr/>
        </p:nvSpPr>
        <p:spPr>
          <a:xfrm>
            <a:off x="5694045" y="2865596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66" name="Forma libre: forma 65">
            <a:extLst>
              <a:ext uri="{FF2B5EF4-FFF2-40B4-BE49-F238E27FC236}">
                <a16:creationId xmlns:a16="http://schemas.microsoft.com/office/drawing/2014/main" id="{34D6BDD0-2B36-431C-A03A-CD220B9ACE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303645" y="2322195"/>
                </a:moveTo>
                <a:lnTo>
                  <a:pt x="6522720" y="2322195"/>
                </a:lnTo>
                <a:lnTo>
                  <a:pt x="6522720" y="1840230"/>
                </a:lnTo>
                <a:lnTo>
                  <a:pt x="6741795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7" name="Forma libre: forma 66">
            <a:extLst>
              <a:ext uri="{FF2B5EF4-FFF2-40B4-BE49-F238E27FC236}">
                <a16:creationId xmlns:a16="http://schemas.microsoft.com/office/drawing/2014/main" id="{5AAF8774-DF8D-4DBC-AB9A-F8279F08EA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700000" y="1863063"/>
                </a:moveTo>
                <a:lnTo>
                  <a:pt x="6741795" y="1840230"/>
                </a:lnTo>
                <a:lnTo>
                  <a:pt x="6700000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8" name="Forma libre: forma 67">
            <a:extLst>
              <a:ext uri="{FF2B5EF4-FFF2-40B4-BE49-F238E27FC236}">
                <a16:creationId xmlns:a16="http://schemas.microsoft.com/office/drawing/2014/main" id="{776B4A6C-29A0-4F99-9F75-F04220E486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179945" y="1840230"/>
                </a:moveTo>
                <a:lnTo>
                  <a:pt x="7626858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9" name="Forma libre: forma 68">
            <a:extLst>
              <a:ext uri="{FF2B5EF4-FFF2-40B4-BE49-F238E27FC236}">
                <a16:creationId xmlns:a16="http://schemas.microsoft.com/office/drawing/2014/main" id="{ECE80630-E9CB-44D1-81D1-A0B339E5F3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585063" y="1863063"/>
                </a:moveTo>
                <a:lnTo>
                  <a:pt x="7626858" y="1840230"/>
                </a:lnTo>
                <a:lnTo>
                  <a:pt x="7585063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7F5358A4-4CB6-4B87-A5F5-22795F8B572E}"/>
              </a:ext>
            </a:extLst>
          </p:cNvPr>
          <p:cNvSpPr>
            <a:spLocks noGrp="1"/>
          </p:cNvSpPr>
          <p:nvPr/>
        </p:nvSpPr>
        <p:spPr>
          <a:xfrm>
            <a:off x="457200" y="4448175"/>
            <a:ext cx="78581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Diagrama basado en el archivo de Camunda. Las rutas Sí y No representan la aprobación o el rechazo de materias primas y del lote.</a:t>
            </a:r>
          </a:p>
        </p:txBody>
      </p:sp>
      <p:sp>
        <p:nvSpPr>
          <p:cNvPr id="71" name="Conector recto 70">
            <a:extLst>
              <a:ext uri="{FF2B5EF4-FFF2-40B4-BE49-F238E27FC236}">
                <a16:creationId xmlns:a16="http://schemas.microsoft.com/office/drawing/2014/main" id="{B477EF6B-3A21-464B-AB99-B3013A5EB74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25249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1E98404-B401-438C-8395-D0E23F6BA20D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Diagrama 3: Bonita Studio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1065EB-20F0-4907-804B-54AC7434F64A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1B18DE-F78C-4316-9403-2353EA3BB5AE}"/>
              </a:ext>
            </a:extLst>
          </p:cNvPr>
          <p:cNvSpPr>
            <a:spLocks noGrp="1"/>
          </p:cNvSpPr>
          <p:nvPr/>
        </p:nvSpPr>
        <p:spPr>
          <a:xfrm>
            <a:off x="914400" y="1095375"/>
            <a:ext cx="7308342" cy="3286125"/>
          </a:xfrm>
          <a:prstGeom prst="rect">
            <a:avLst/>
          </a:prstGeom>
          <a:noFill/>
          <a:ln w="5715">
            <a:solidFill>
              <a:srgbClr val="8A9BA8"/>
            </a:solidFill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161853-5C1F-4554-B107-F5FA118EBF78}"/>
              </a:ext>
            </a:extLst>
          </p:cNvPr>
          <p:cNvSpPr>
            <a:spLocks noGrp="1"/>
          </p:cNvSpPr>
          <p:nvPr/>
        </p:nvSpPr>
        <p:spPr>
          <a:xfrm>
            <a:off x="1045845" y="1095375"/>
            <a:ext cx="7176897" cy="1012127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AB8204E-54EC-4C97-A1B0-E4B8A2FF258A}"/>
              </a:ext>
            </a:extLst>
          </p:cNvPr>
          <p:cNvSpPr>
            <a:spLocks noGrp="1"/>
          </p:cNvSpPr>
          <p:nvPr/>
        </p:nvSpPr>
        <p:spPr>
          <a:xfrm>
            <a:off x="1217295" y="1936052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Recepción y almacén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3D4539-995D-4D04-ACFC-67D5533EC284}"/>
              </a:ext>
            </a:extLst>
          </p:cNvPr>
          <p:cNvSpPr>
            <a:spLocks noGrp="1"/>
          </p:cNvSpPr>
          <p:nvPr/>
        </p:nvSpPr>
        <p:spPr>
          <a:xfrm>
            <a:off x="1045845" y="2107502"/>
            <a:ext cx="7176897" cy="977075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F0C384-FE7F-4FB3-B692-417778F80EF6}"/>
              </a:ext>
            </a:extLst>
          </p:cNvPr>
          <p:cNvSpPr>
            <a:spLocks noGrp="1"/>
          </p:cNvSpPr>
          <p:nvPr/>
        </p:nvSpPr>
        <p:spPr>
          <a:xfrm>
            <a:off x="1217295" y="2913126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Producción y envasado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FC2AAC-89BF-4953-AC8F-020428DF8935}"/>
              </a:ext>
            </a:extLst>
          </p:cNvPr>
          <p:cNvSpPr>
            <a:spLocks noGrp="1"/>
          </p:cNvSpPr>
          <p:nvPr/>
        </p:nvSpPr>
        <p:spPr>
          <a:xfrm>
            <a:off x="1045845" y="3084576"/>
            <a:ext cx="7176897" cy="1296924"/>
          </a:xfrm>
          <a:prstGeom prst="rect">
            <a:avLst/>
          </a:prstGeom>
          <a:solidFill>
            <a:srgbClr val="FFFFFF"/>
          </a:solidFill>
          <a:ln w="5715">
            <a:solidFill>
              <a:srgbClr val="8A9BA8"/>
            </a:solidFill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06DAA9-A731-4397-B715-E6C9FDFF8CA8}"/>
              </a:ext>
            </a:extLst>
          </p:cNvPr>
          <p:cNvSpPr>
            <a:spLocks noGrp="1"/>
          </p:cNvSpPr>
          <p:nvPr/>
        </p:nvSpPr>
        <p:spPr>
          <a:xfrm>
            <a:off x="1217295" y="4210050"/>
            <a:ext cx="19050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526575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26575"/>
                </a:solidFill>
                <a:latin typeface="Calibri"/>
                <a:ea typeface="Calibri"/>
                <a:cs typeface="Calibri"/>
              </a:rPr>
              <a:t>Control de calidad</a:t>
            </a:r>
          </a:p>
        </p:txBody>
      </p:sp>
      <p:sp>
        <p:nvSpPr>
          <p:cNvPr id="11" name="StartEvent_1">
            <a:extLst>
              <a:ext uri="{FF2B5EF4-FFF2-40B4-BE49-F238E27FC236}">
                <a16:creationId xmlns:a16="http://schemas.microsoft.com/office/drawing/2014/main" id="{71CE81CA-3A6F-40E0-B224-62B3542916B1}"/>
              </a:ext>
            </a:extLst>
          </p:cNvPr>
          <p:cNvSpPr>
            <a:spLocks noGrp="1"/>
          </p:cNvSpPr>
          <p:nvPr/>
        </p:nvSpPr>
        <p:spPr>
          <a:xfrm>
            <a:off x="1142238" y="1323213"/>
            <a:ext cx="157734" cy="157734"/>
          </a:xfrm>
          <a:prstGeom prst="ellipse">
            <a:avLst/>
          </a:prstGeom>
          <a:solidFill>
            <a:srgbClr val="E1F2E9"/>
          </a:solidFill>
          <a:ln w="9525">
            <a:solidFill>
              <a:srgbClr val="31475D"/>
            </a:solidFill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9EBEED-71A0-4B3E-992D-C14AFD158199}"/>
              </a:ext>
            </a:extLst>
          </p:cNvPr>
          <p:cNvSpPr>
            <a:spLocks noGrp="1"/>
          </p:cNvSpPr>
          <p:nvPr/>
        </p:nvSpPr>
        <p:spPr>
          <a:xfrm>
            <a:off x="91363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Inicio</a:t>
            </a:r>
          </a:p>
        </p:txBody>
      </p:sp>
      <p:sp>
        <p:nvSpPr>
          <p:cNvPr id="13" name="Activity_0lyzni7">
            <a:extLst>
              <a:ext uri="{FF2B5EF4-FFF2-40B4-BE49-F238E27FC236}">
                <a16:creationId xmlns:a16="http://schemas.microsoft.com/office/drawing/2014/main" id="{1707B35D-F5EF-4A4E-97D6-0F715D2B1995}"/>
              </a:ext>
            </a:extLst>
          </p:cNvPr>
          <p:cNvSpPr>
            <a:spLocks noGrp="1"/>
          </p:cNvSpPr>
          <p:nvPr/>
        </p:nvSpPr>
        <p:spPr>
          <a:xfrm>
            <a:off x="152781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Recibir materias primas</a:t>
            </a:r>
          </a:p>
        </p:txBody>
      </p:sp>
      <p:sp>
        <p:nvSpPr>
          <p:cNvPr id="14" name="Activity_081ttfn">
            <a:extLst>
              <a:ext uri="{FF2B5EF4-FFF2-40B4-BE49-F238E27FC236}">
                <a16:creationId xmlns:a16="http://schemas.microsoft.com/office/drawing/2014/main" id="{980D8AB5-2103-4D24-B2F5-C4A51E8E227F}"/>
              </a:ext>
            </a:extLst>
          </p:cNvPr>
          <p:cNvSpPr>
            <a:spLocks noGrp="1"/>
          </p:cNvSpPr>
          <p:nvPr/>
        </p:nvSpPr>
        <p:spPr>
          <a:xfrm>
            <a:off x="222885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Revisar materias primas</a:t>
            </a:r>
          </a:p>
        </p:txBody>
      </p:sp>
      <p:sp>
        <p:nvSpPr>
          <p:cNvPr id="15" name="Gateway_1xdbaeh">
            <a:extLst>
              <a:ext uri="{FF2B5EF4-FFF2-40B4-BE49-F238E27FC236}">
                <a16:creationId xmlns:a16="http://schemas.microsoft.com/office/drawing/2014/main" id="{71223C97-B576-46E0-A1A9-70745B50090A}"/>
              </a:ext>
            </a:extLst>
          </p:cNvPr>
          <p:cNvSpPr>
            <a:spLocks noGrp="1"/>
          </p:cNvSpPr>
          <p:nvPr/>
        </p:nvSpPr>
        <p:spPr>
          <a:xfrm>
            <a:off x="2951798" y="1292543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604E18D-4CEA-4BC5-8546-D2FEE8E0AADE}"/>
              </a:ext>
            </a:extLst>
          </p:cNvPr>
          <p:cNvSpPr>
            <a:spLocks noGrp="1"/>
          </p:cNvSpPr>
          <p:nvPr/>
        </p:nvSpPr>
        <p:spPr>
          <a:xfrm>
            <a:off x="2599373" y="968692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¿Materias primas aprobadas?</a:t>
            </a:r>
          </a:p>
        </p:txBody>
      </p:sp>
      <p:sp>
        <p:nvSpPr>
          <p:cNvPr id="17" name="Activity_004qswt">
            <a:extLst>
              <a:ext uri="{FF2B5EF4-FFF2-40B4-BE49-F238E27FC236}">
                <a16:creationId xmlns:a16="http://schemas.microsoft.com/office/drawing/2014/main" id="{A2556682-C8DF-480D-A604-51669DE9EBD1}"/>
              </a:ext>
            </a:extLst>
          </p:cNvPr>
          <p:cNvSpPr>
            <a:spLocks noGrp="1"/>
          </p:cNvSpPr>
          <p:nvPr/>
        </p:nvSpPr>
        <p:spPr>
          <a:xfrm>
            <a:off x="3455670" y="122682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Rechazar materias primas</a:t>
            </a:r>
          </a:p>
        </p:txBody>
      </p:sp>
      <p:sp>
        <p:nvSpPr>
          <p:cNvPr id="18" name="Event_0fl3s8z">
            <a:extLst>
              <a:ext uri="{FF2B5EF4-FFF2-40B4-BE49-F238E27FC236}">
                <a16:creationId xmlns:a16="http://schemas.microsoft.com/office/drawing/2014/main" id="{9919735A-1279-42DA-B3CF-8BC764DBD20E}"/>
              </a:ext>
            </a:extLst>
          </p:cNvPr>
          <p:cNvSpPr>
            <a:spLocks noGrp="1"/>
          </p:cNvSpPr>
          <p:nvPr/>
        </p:nvSpPr>
        <p:spPr>
          <a:xfrm>
            <a:off x="4209288" y="132321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A05BD7-41B8-4BDE-93E0-0E4D581592F3}"/>
              </a:ext>
            </a:extLst>
          </p:cNvPr>
          <p:cNvSpPr>
            <a:spLocks noGrp="1"/>
          </p:cNvSpPr>
          <p:nvPr/>
        </p:nvSpPr>
        <p:spPr>
          <a:xfrm>
            <a:off x="3980688" y="153276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Materias primas rechazadas</a:t>
            </a:r>
          </a:p>
        </p:txBody>
      </p:sp>
      <p:sp>
        <p:nvSpPr>
          <p:cNvPr id="20" name="Activity_14jvfr0">
            <a:extLst>
              <a:ext uri="{FF2B5EF4-FFF2-40B4-BE49-F238E27FC236}">
                <a16:creationId xmlns:a16="http://schemas.microsoft.com/office/drawing/2014/main" id="{688A7E39-4F6D-42C6-9272-97E15AFF4B19}"/>
              </a:ext>
            </a:extLst>
          </p:cNvPr>
          <p:cNvSpPr>
            <a:spLocks noGrp="1"/>
          </p:cNvSpPr>
          <p:nvPr/>
        </p:nvSpPr>
        <p:spPr>
          <a:xfrm>
            <a:off x="284226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Tratar agua</a:t>
            </a:r>
          </a:p>
        </p:txBody>
      </p:sp>
      <p:sp>
        <p:nvSpPr>
          <p:cNvPr id="21" name="Activity_19tm346">
            <a:extLst>
              <a:ext uri="{FF2B5EF4-FFF2-40B4-BE49-F238E27FC236}">
                <a16:creationId xmlns:a16="http://schemas.microsoft.com/office/drawing/2014/main" id="{01857662-A5CA-48CF-A1E3-C98545E96883}"/>
              </a:ext>
            </a:extLst>
          </p:cNvPr>
          <p:cNvSpPr>
            <a:spLocks noGrp="1"/>
          </p:cNvSpPr>
          <p:nvPr/>
        </p:nvSpPr>
        <p:spPr>
          <a:xfrm>
            <a:off x="349948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Preparar mezcla</a:t>
            </a:r>
          </a:p>
        </p:txBody>
      </p:sp>
      <p:sp>
        <p:nvSpPr>
          <p:cNvPr id="22" name="Activity_0ma0f3z">
            <a:extLst>
              <a:ext uri="{FF2B5EF4-FFF2-40B4-BE49-F238E27FC236}">
                <a16:creationId xmlns:a16="http://schemas.microsoft.com/office/drawing/2014/main" id="{5A6E75E5-03CE-49E8-9BDD-312495D4D60A}"/>
              </a:ext>
            </a:extLst>
          </p:cNvPr>
          <p:cNvSpPr>
            <a:spLocks noGrp="1"/>
          </p:cNvSpPr>
          <p:nvPr/>
        </p:nvSpPr>
        <p:spPr>
          <a:xfrm>
            <a:off x="4156710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Carbonatar bebida</a:t>
            </a:r>
          </a:p>
        </p:txBody>
      </p:sp>
      <p:sp>
        <p:nvSpPr>
          <p:cNvPr id="23" name="Activity_1vdejbd">
            <a:extLst>
              <a:ext uri="{FF2B5EF4-FFF2-40B4-BE49-F238E27FC236}">
                <a16:creationId xmlns:a16="http://schemas.microsoft.com/office/drawing/2014/main" id="{47BE026B-F114-4564-B968-A194F7838F8B}"/>
              </a:ext>
            </a:extLst>
          </p:cNvPr>
          <p:cNvSpPr>
            <a:spLocks noGrp="1"/>
          </p:cNvSpPr>
          <p:nvPr/>
        </p:nvSpPr>
        <p:spPr>
          <a:xfrm>
            <a:off x="481393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Llenar y tapar botellas</a:t>
            </a:r>
          </a:p>
        </p:txBody>
      </p:sp>
      <p:sp>
        <p:nvSpPr>
          <p:cNvPr id="24" name="Activity_1cneudp">
            <a:extLst>
              <a:ext uri="{FF2B5EF4-FFF2-40B4-BE49-F238E27FC236}">
                <a16:creationId xmlns:a16="http://schemas.microsoft.com/office/drawing/2014/main" id="{CC31CEC8-2B4D-4AD9-ACD9-6444E0E2733E}"/>
              </a:ext>
            </a:extLst>
          </p:cNvPr>
          <p:cNvSpPr>
            <a:spLocks noGrp="1"/>
          </p:cNvSpPr>
          <p:nvPr/>
        </p:nvSpPr>
        <p:spPr>
          <a:xfrm>
            <a:off x="4857750" y="328612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Inspeccionar lote</a:t>
            </a:r>
          </a:p>
        </p:txBody>
      </p:sp>
      <p:sp>
        <p:nvSpPr>
          <p:cNvPr id="25" name="Gateway_0jo8w40">
            <a:extLst>
              <a:ext uri="{FF2B5EF4-FFF2-40B4-BE49-F238E27FC236}">
                <a16:creationId xmlns:a16="http://schemas.microsoft.com/office/drawing/2014/main" id="{8446B3BF-1535-48D6-B4DA-C5F035336264}"/>
              </a:ext>
            </a:extLst>
          </p:cNvPr>
          <p:cNvSpPr>
            <a:spLocks noGrp="1"/>
          </p:cNvSpPr>
          <p:nvPr/>
        </p:nvSpPr>
        <p:spPr>
          <a:xfrm>
            <a:off x="5536883" y="3351848"/>
            <a:ext cx="219075" cy="219075"/>
          </a:xfrm>
          <a:prstGeom prst="diamond">
            <a:avLst/>
          </a:prstGeom>
          <a:solidFill>
            <a:srgbClr val="FFF1CC"/>
          </a:solidFill>
          <a:ln w="9525">
            <a:solidFill>
              <a:srgbClr val="31475D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5703B9D-E1CE-4976-A1C2-CA8E3EAA26BD}"/>
              </a:ext>
            </a:extLst>
          </p:cNvPr>
          <p:cNvSpPr>
            <a:spLocks noGrp="1"/>
          </p:cNvSpPr>
          <p:nvPr/>
        </p:nvSpPr>
        <p:spPr>
          <a:xfrm>
            <a:off x="5184458" y="3027998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¿Lote aprobado?</a:t>
            </a:r>
          </a:p>
        </p:txBody>
      </p:sp>
      <p:sp>
        <p:nvSpPr>
          <p:cNvPr id="27" name="Activity_12zddte">
            <a:extLst>
              <a:ext uri="{FF2B5EF4-FFF2-40B4-BE49-F238E27FC236}">
                <a16:creationId xmlns:a16="http://schemas.microsoft.com/office/drawing/2014/main" id="{B6F12226-589B-47E1-AA18-45101D44EB35}"/>
              </a:ext>
            </a:extLst>
          </p:cNvPr>
          <p:cNvSpPr>
            <a:spLocks noGrp="1"/>
          </p:cNvSpPr>
          <p:nvPr/>
        </p:nvSpPr>
        <p:spPr>
          <a:xfrm>
            <a:off x="5996940" y="376809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Separar lote no conforme</a:t>
            </a:r>
          </a:p>
        </p:txBody>
      </p:sp>
      <p:sp>
        <p:nvSpPr>
          <p:cNvPr id="28" name="Event_0dms3rq">
            <a:extLst>
              <a:ext uri="{FF2B5EF4-FFF2-40B4-BE49-F238E27FC236}">
                <a16:creationId xmlns:a16="http://schemas.microsoft.com/office/drawing/2014/main" id="{9AF9166D-AF67-43D1-BD6D-D97566B7AEBC}"/>
              </a:ext>
            </a:extLst>
          </p:cNvPr>
          <p:cNvSpPr>
            <a:spLocks noGrp="1"/>
          </p:cNvSpPr>
          <p:nvPr/>
        </p:nvSpPr>
        <p:spPr>
          <a:xfrm>
            <a:off x="6706743" y="386448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466693-ECB1-40F9-9F5F-D528ACF23CC4}"/>
              </a:ext>
            </a:extLst>
          </p:cNvPr>
          <p:cNvSpPr>
            <a:spLocks noGrp="1"/>
          </p:cNvSpPr>
          <p:nvPr/>
        </p:nvSpPr>
        <p:spPr>
          <a:xfrm>
            <a:off x="6478143" y="407403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Lote rechazado</a:t>
            </a:r>
          </a:p>
        </p:txBody>
      </p:sp>
      <p:sp>
        <p:nvSpPr>
          <p:cNvPr id="30" name="Activity_14r4dzv">
            <a:extLst>
              <a:ext uri="{FF2B5EF4-FFF2-40B4-BE49-F238E27FC236}">
                <a16:creationId xmlns:a16="http://schemas.microsoft.com/office/drawing/2014/main" id="{EF04944B-253D-450E-98C5-083DACC58C3B}"/>
              </a:ext>
            </a:extLst>
          </p:cNvPr>
          <p:cNvSpPr>
            <a:spLocks noGrp="1"/>
          </p:cNvSpPr>
          <p:nvPr/>
        </p:nvSpPr>
        <p:spPr>
          <a:xfrm>
            <a:off x="5865495" y="2146935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Etiquetar y empacar</a:t>
            </a:r>
          </a:p>
        </p:txBody>
      </p:sp>
      <p:sp>
        <p:nvSpPr>
          <p:cNvPr id="31" name="Activity_0rnqn3q">
            <a:extLst>
              <a:ext uri="{FF2B5EF4-FFF2-40B4-BE49-F238E27FC236}">
                <a16:creationId xmlns:a16="http://schemas.microsoft.com/office/drawing/2014/main" id="{6037E60D-E044-4B18-99A1-971021779028}"/>
              </a:ext>
            </a:extLst>
          </p:cNvPr>
          <p:cNvSpPr>
            <a:spLocks noGrp="1"/>
          </p:cNvSpPr>
          <p:nvPr/>
        </p:nvSpPr>
        <p:spPr>
          <a:xfrm>
            <a:off x="6741795" y="1664970"/>
            <a:ext cx="43815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31475D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63">
                <a:solidFill>
                  <a:srgbClr val="1F3346"/>
                </a:solidFill>
                <a:latin typeface="Calibri"/>
                <a:ea typeface="Calibri"/>
                <a:cs typeface="Calibri"/>
              </a:defRPr>
            </a:pPr>
            <a:r>
              <a:rPr sz="563">
                <a:solidFill>
                  <a:srgbClr val="1F3346"/>
                </a:solidFill>
                <a:latin typeface="Calibri"/>
                <a:ea typeface="Calibri"/>
                <a:cs typeface="Calibri"/>
              </a:rPr>
              <a:t>Almacenar producto terminado</a:t>
            </a:r>
          </a:p>
        </p:txBody>
      </p:sp>
      <p:sp>
        <p:nvSpPr>
          <p:cNvPr id="32" name="Event_1xsq68o">
            <a:extLst>
              <a:ext uri="{FF2B5EF4-FFF2-40B4-BE49-F238E27FC236}">
                <a16:creationId xmlns:a16="http://schemas.microsoft.com/office/drawing/2014/main" id="{73F5D32A-6FE1-4789-B0EF-08299BAD05C4}"/>
              </a:ext>
            </a:extLst>
          </p:cNvPr>
          <p:cNvSpPr>
            <a:spLocks noGrp="1"/>
          </p:cNvSpPr>
          <p:nvPr/>
        </p:nvSpPr>
        <p:spPr>
          <a:xfrm>
            <a:off x="7626858" y="1761363"/>
            <a:ext cx="157734" cy="157734"/>
          </a:xfrm>
          <a:prstGeom prst="ellipse">
            <a:avLst/>
          </a:prstGeom>
          <a:solidFill>
            <a:srgbClr val="FCE5E5"/>
          </a:solidFill>
          <a:ln w="19050">
            <a:solidFill>
              <a:srgbClr val="31475D"/>
            </a:solidFill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4C212EB-F26B-4303-B09A-576F931E6556}"/>
              </a:ext>
            </a:extLst>
          </p:cNvPr>
          <p:cNvSpPr>
            <a:spLocks noGrp="1"/>
          </p:cNvSpPr>
          <p:nvPr/>
        </p:nvSpPr>
        <p:spPr>
          <a:xfrm>
            <a:off x="7398258" y="1970913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675" b="0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Producto listo para distribución</a:t>
            </a: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0BD9E60B-0242-41C4-9B47-C82E718B7A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299972" y="1402080"/>
                </a:moveTo>
                <a:lnTo>
                  <a:pt x="152781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25CC5229-FE1B-407C-9E93-5F133F959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486015" y="1424913"/>
                </a:moveTo>
                <a:lnTo>
                  <a:pt x="1527810" y="1402080"/>
                </a:lnTo>
                <a:lnTo>
                  <a:pt x="148601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EF17747C-F120-48F9-ACA8-5C77272F3C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1965960" y="1402080"/>
                </a:moveTo>
                <a:lnTo>
                  <a:pt x="222885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0D9D60C8-9FA5-4D40-94A4-D2D74A86D6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187055" y="1424913"/>
                </a:moveTo>
                <a:lnTo>
                  <a:pt x="2228850" y="1402080"/>
                </a:lnTo>
                <a:lnTo>
                  <a:pt x="218705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2F3F2B0D-6F79-4290-AA93-8F590FF14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667000" y="1402080"/>
                </a:moveTo>
                <a:lnTo>
                  <a:pt x="295179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39" name="Forma libre: forma 38">
            <a:extLst>
              <a:ext uri="{FF2B5EF4-FFF2-40B4-BE49-F238E27FC236}">
                <a16:creationId xmlns:a16="http://schemas.microsoft.com/office/drawing/2014/main" id="{05DF7105-DB1F-40FB-9871-CABB5A92DF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2910003" y="1424913"/>
                </a:moveTo>
                <a:lnTo>
                  <a:pt x="2951798" y="1402080"/>
                </a:lnTo>
                <a:lnTo>
                  <a:pt x="291000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05FBED59-42FA-4D95-80D8-DE0BE0DB7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170873" y="1402080"/>
                </a:moveTo>
                <a:lnTo>
                  <a:pt x="3455670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5D8BC83A-D333-4685-8F54-833E20CECA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13875" y="1424913"/>
                </a:moveTo>
                <a:lnTo>
                  <a:pt x="3455670" y="1402080"/>
                </a:lnTo>
                <a:lnTo>
                  <a:pt x="3413875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9587953-A161-4AFC-9004-F7D3AB180F86}"/>
              </a:ext>
            </a:extLst>
          </p:cNvPr>
          <p:cNvSpPr>
            <a:spLocks noGrp="1"/>
          </p:cNvSpPr>
          <p:nvPr/>
        </p:nvSpPr>
        <p:spPr>
          <a:xfrm>
            <a:off x="3360896" y="1430655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ED8F48D0-72CB-4C3C-9DF4-635C56AD06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893820" y="1402080"/>
                </a:moveTo>
                <a:lnTo>
                  <a:pt x="4209288" y="140208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7AC22FEF-4355-4EE3-B80F-EDFEEF999A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67493" y="1424913"/>
                </a:moveTo>
                <a:lnTo>
                  <a:pt x="4209288" y="1402080"/>
                </a:lnTo>
                <a:lnTo>
                  <a:pt x="4167493" y="137924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148DC816-8C78-4DE1-9675-8D9EC84C54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61335" y="1511618"/>
                </a:moveTo>
                <a:lnTo>
                  <a:pt x="3061335" y="214693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6" name="Forma libre: forma 45">
            <a:extLst>
              <a:ext uri="{FF2B5EF4-FFF2-40B4-BE49-F238E27FC236}">
                <a16:creationId xmlns:a16="http://schemas.microsoft.com/office/drawing/2014/main" id="{71C2CD0B-8186-43A6-8E64-5731783F8E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038502" y="2105140"/>
                </a:moveTo>
                <a:lnTo>
                  <a:pt x="3061335" y="2146935"/>
                </a:lnTo>
                <a:lnTo>
                  <a:pt x="3084168" y="210514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7EA91CF-BE7F-4510-B96F-6CCCE886B966}"/>
              </a:ext>
            </a:extLst>
          </p:cNvPr>
          <p:cNvSpPr>
            <a:spLocks noGrp="1"/>
          </p:cNvSpPr>
          <p:nvPr/>
        </p:nvSpPr>
        <p:spPr>
          <a:xfrm>
            <a:off x="3108960" y="185785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76519805-CC9A-4295-9FB8-294B16BF2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280410" y="2322195"/>
                </a:moveTo>
                <a:lnTo>
                  <a:pt x="349948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49" name="Forma libre: forma 48">
            <a:extLst>
              <a:ext uri="{FF2B5EF4-FFF2-40B4-BE49-F238E27FC236}">
                <a16:creationId xmlns:a16="http://schemas.microsoft.com/office/drawing/2014/main" id="{FA25BD96-0FDD-433F-BA0A-65FE27480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457690" y="2345028"/>
                </a:moveTo>
                <a:lnTo>
                  <a:pt x="3499485" y="2322195"/>
                </a:lnTo>
                <a:lnTo>
                  <a:pt x="345769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5E14CFE9-A62D-4631-9590-3D0F7AE19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3937635" y="2322195"/>
                </a:moveTo>
                <a:lnTo>
                  <a:pt x="4156710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1" name="Forma libre: forma 50">
            <a:extLst>
              <a:ext uri="{FF2B5EF4-FFF2-40B4-BE49-F238E27FC236}">
                <a16:creationId xmlns:a16="http://schemas.microsoft.com/office/drawing/2014/main" id="{6E7C048D-0E52-4CF4-A632-A13972F3F6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114915" y="2345028"/>
                </a:moveTo>
                <a:lnTo>
                  <a:pt x="4156710" y="2322195"/>
                </a:lnTo>
                <a:lnTo>
                  <a:pt x="4114915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187178C0-6C3B-4A05-9AE7-E4F373B0AE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594860" y="2322195"/>
                </a:moveTo>
                <a:lnTo>
                  <a:pt x="481393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B0F53663-2182-41F5-B51E-ACC3FD8E4F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4772140" y="2345028"/>
                </a:moveTo>
                <a:lnTo>
                  <a:pt x="4813935" y="2322195"/>
                </a:lnTo>
                <a:lnTo>
                  <a:pt x="477214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4" name="Forma libre: forma 53">
            <a:extLst>
              <a:ext uri="{FF2B5EF4-FFF2-40B4-BE49-F238E27FC236}">
                <a16:creationId xmlns:a16="http://schemas.microsoft.com/office/drawing/2014/main" id="{E25E84A6-548C-45F1-BD65-BA87FC01BC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33010" y="2497455"/>
                </a:moveTo>
                <a:lnTo>
                  <a:pt x="5033010" y="328612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4E779F6B-7674-4470-9F1B-D44CBBB148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010177" y="3244330"/>
                </a:moveTo>
                <a:lnTo>
                  <a:pt x="5033010" y="3286125"/>
                </a:lnTo>
                <a:lnTo>
                  <a:pt x="5055843" y="32443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6" name="Forma libre: forma 55">
            <a:extLst>
              <a:ext uri="{FF2B5EF4-FFF2-40B4-BE49-F238E27FC236}">
                <a16:creationId xmlns:a16="http://schemas.microsoft.com/office/drawing/2014/main" id="{1D423622-A5FB-4128-B7A4-220461B05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295900" y="3461385"/>
                </a:moveTo>
                <a:lnTo>
                  <a:pt x="5536883" y="346138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D075A559-25AE-45B3-96C8-E7512FC3CF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495088" y="3484218"/>
                </a:moveTo>
                <a:lnTo>
                  <a:pt x="5536883" y="3461385"/>
                </a:lnTo>
                <a:lnTo>
                  <a:pt x="5495088" y="343855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76E23D12-3E3D-4ECE-8BDA-635B382AA4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570923"/>
                </a:moveTo>
                <a:lnTo>
                  <a:pt x="5646420" y="3943350"/>
                </a:lnTo>
                <a:lnTo>
                  <a:pt x="5996940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766C6F74-3C3B-44D2-AE92-59701E1DF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955145" y="3966183"/>
                </a:moveTo>
                <a:lnTo>
                  <a:pt x="5996940" y="3943350"/>
                </a:lnTo>
                <a:lnTo>
                  <a:pt x="5955145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1BE582EC-441B-49AD-A861-E1A81BE2E067}"/>
              </a:ext>
            </a:extLst>
          </p:cNvPr>
          <p:cNvSpPr>
            <a:spLocks noGrp="1"/>
          </p:cNvSpPr>
          <p:nvPr/>
        </p:nvSpPr>
        <p:spPr>
          <a:xfrm>
            <a:off x="5694045" y="3785711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29F9692B-685D-4BCF-9AF6-5438D9A38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435090" y="3943350"/>
                </a:moveTo>
                <a:lnTo>
                  <a:pt x="6706743" y="394335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2" name="Forma libre: forma 61">
            <a:extLst>
              <a:ext uri="{FF2B5EF4-FFF2-40B4-BE49-F238E27FC236}">
                <a16:creationId xmlns:a16="http://schemas.microsoft.com/office/drawing/2014/main" id="{CE375454-68BF-4A2E-802F-B235AABB79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664948" y="3966183"/>
                </a:moveTo>
                <a:lnTo>
                  <a:pt x="6706743" y="3943350"/>
                </a:lnTo>
                <a:lnTo>
                  <a:pt x="6664948" y="392051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3" name="Forma libre: forma 62">
            <a:extLst>
              <a:ext uri="{FF2B5EF4-FFF2-40B4-BE49-F238E27FC236}">
                <a16:creationId xmlns:a16="http://schemas.microsoft.com/office/drawing/2014/main" id="{CC1878A3-1DBD-4B85-B8F7-2D34F205C8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646420" y="3351848"/>
                </a:moveTo>
                <a:lnTo>
                  <a:pt x="5646420" y="2322195"/>
                </a:lnTo>
                <a:lnTo>
                  <a:pt x="5865495" y="2322195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4" name="Forma libre: forma 63">
            <a:extLst>
              <a:ext uri="{FF2B5EF4-FFF2-40B4-BE49-F238E27FC236}">
                <a16:creationId xmlns:a16="http://schemas.microsoft.com/office/drawing/2014/main" id="{DB30C26E-5C1D-4682-A92C-5CE2C4857A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5823700" y="2345028"/>
                </a:moveTo>
                <a:lnTo>
                  <a:pt x="5865495" y="2322195"/>
                </a:lnTo>
                <a:lnTo>
                  <a:pt x="5823700" y="2299362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A262F39D-6F21-415A-BF73-F48FF196FE21}"/>
              </a:ext>
            </a:extLst>
          </p:cNvPr>
          <p:cNvSpPr>
            <a:spLocks noGrp="1"/>
          </p:cNvSpPr>
          <p:nvPr/>
        </p:nvSpPr>
        <p:spPr>
          <a:xfrm>
            <a:off x="5694045" y="2865596"/>
            <a:ext cx="2857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750" b="1">
                <a:solidFill>
                  <a:srgbClr val="243447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243447"/>
                </a:solidFill>
                <a:latin typeface="Calibri"/>
                <a:ea typeface="Calibri"/>
                <a:cs typeface="Calibri"/>
              </a:rPr>
              <a:t>Sí</a:t>
            </a:r>
          </a:p>
        </p:txBody>
      </p:sp>
      <p:sp>
        <p:nvSpPr>
          <p:cNvPr id="66" name="Forma libre: forma 65">
            <a:extLst>
              <a:ext uri="{FF2B5EF4-FFF2-40B4-BE49-F238E27FC236}">
                <a16:creationId xmlns:a16="http://schemas.microsoft.com/office/drawing/2014/main" id="{F1F93A10-A70D-436D-8D1A-8390A4CC4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303645" y="2322195"/>
                </a:moveTo>
                <a:lnTo>
                  <a:pt x="6522720" y="2322195"/>
                </a:lnTo>
                <a:lnTo>
                  <a:pt x="6522720" y="1840230"/>
                </a:lnTo>
                <a:lnTo>
                  <a:pt x="6741795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7" name="Forma libre: forma 66">
            <a:extLst>
              <a:ext uri="{FF2B5EF4-FFF2-40B4-BE49-F238E27FC236}">
                <a16:creationId xmlns:a16="http://schemas.microsoft.com/office/drawing/2014/main" id="{DC78C28A-3E08-41C9-8AB0-F2247F3086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6700000" y="1863063"/>
                </a:moveTo>
                <a:lnTo>
                  <a:pt x="6741795" y="1840230"/>
                </a:lnTo>
                <a:lnTo>
                  <a:pt x="6700000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8" name="Forma libre: forma 67">
            <a:extLst>
              <a:ext uri="{FF2B5EF4-FFF2-40B4-BE49-F238E27FC236}">
                <a16:creationId xmlns:a16="http://schemas.microsoft.com/office/drawing/2014/main" id="{2111B606-FB5D-4B9E-B813-FDEC14814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179945" y="1840230"/>
                </a:moveTo>
                <a:lnTo>
                  <a:pt x="7626858" y="1840230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69" name="Forma libre: forma 68">
            <a:extLst>
              <a:ext uri="{FF2B5EF4-FFF2-40B4-BE49-F238E27FC236}">
                <a16:creationId xmlns:a16="http://schemas.microsoft.com/office/drawing/2014/main" id="{C755F9A5-F762-476C-B3A7-EA7845FBEC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9144000" h="5143500">
                <a:moveTo>
                  <a:pt x="7585063" y="1863063"/>
                </a:moveTo>
                <a:lnTo>
                  <a:pt x="7626858" y="1840230"/>
                </a:lnTo>
                <a:lnTo>
                  <a:pt x="7585063" y="1817397"/>
                </a:lnTo>
              </a:path>
            </a:pathLst>
          </a:custGeom>
          <a:noFill/>
          <a:ln w="9525">
            <a:solidFill>
              <a:srgbClr val="31475D"/>
            </a:solidFill>
          </a:ln>
        </p:spPr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9E1FEAD1-8E93-46D8-90E5-F5B344FADAC2}"/>
              </a:ext>
            </a:extLst>
          </p:cNvPr>
          <p:cNvSpPr>
            <a:spLocks noGrp="1"/>
          </p:cNvSpPr>
          <p:nvPr/>
        </p:nvSpPr>
        <p:spPr>
          <a:xfrm>
            <a:off x="457200" y="4448175"/>
            <a:ext cx="78581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Modelo del archivo Produccion_CocaCola_Bonita.bpmn, preparado para importar en Bonita Studio. La vista muestra el proceso académico completo.</a:t>
            </a:r>
          </a:p>
        </p:txBody>
      </p:sp>
      <p:sp>
        <p:nvSpPr>
          <p:cNvPr id="71" name="Conector recto 70">
            <a:extLst>
              <a:ext uri="{FF2B5EF4-FFF2-40B4-BE49-F238E27FC236}">
                <a16:creationId xmlns:a16="http://schemas.microsoft.com/office/drawing/2014/main" id="{C6ABE72D-B178-48F4-AD2F-2B4D5C1D04F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168928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8DDE1F8-7474-451B-8794-BA387233A463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Recepción de materias primas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A8FB46A-A786-4C63-8D67-CC9DD6267EA5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CC7AD6-AD37-474A-BA5C-EF2EF723B2E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Revisión inicial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BDE9E0-8104-40FA-B60A-E202DE30A0A2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 recepción registra los materiales que llegan al proceso. Después, la revisión determina si cumplen los requisitos para continuar.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09657F-386D-4DF3-BA30-7C823126E3BA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Decisión de aprobación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7938E34-A64D-445A-981D-C9FE9DD8E958}"/>
              </a:ext>
            </a:extLst>
          </p:cNvPr>
          <p:cNvSpPr>
            <a:spLocks noGrp="1"/>
          </p:cNvSpPr>
          <p:nvPr/>
        </p:nvSpPr>
        <p:spPr>
          <a:xfrm>
            <a:off x="46863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 las materias primas son aceptadas, el proceso pasa al tratamiento del agua. Si son rechazadas, el flujo termina en “Materias primas rechazadas”.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721F7781-41BC-42F7-B8A8-CFC56E52123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107610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838A6A-3E31-48FD-B0DA-50ADBFCACD3D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Producción y control de calidad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50DFC1-50BC-46BD-940C-F83E141D98DA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76F7C21-1B18-43FA-83A1-1E21185B72D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Producción y envasado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0DA500-015B-42DA-A256-C4517665CC2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flujo contempla tratar el agua, preparar la mezcla y carbonatar la bebida. Después se llenan y tapan las botellas.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491427-6E92-4407-B9CA-DBF8444AD57B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Inspección del lote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77862C-C40C-48B4-B043-801F3ADFA195}"/>
              </a:ext>
            </a:extLst>
          </p:cNvPr>
          <p:cNvSpPr>
            <a:spLocks noGrp="1"/>
          </p:cNvSpPr>
          <p:nvPr/>
        </p:nvSpPr>
        <p:spPr>
          <a:xfrm>
            <a:off x="46863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Un lote aprobado continúa al etiquetado, empaque y almacenamiento. Un lote que no cumple los requisitos se separa y termina como “Lote rechazado”.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8F09E880-7222-4F4C-AABB-F74CE846BAD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125689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B257A23-A9BE-4443-9203-DF3BB90D98FC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Escenarios del modelo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5CA9C1F-3CCF-47F4-974B-DB23F4EAA552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03FE723-0EB2-43B8-949D-D8C6C0DEBEB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Producto aprobado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827C56-9928-476D-B15B-0B0CF1E63EA1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Materias primas aprobadas y lote aprobado. El flujo llega a “Producto listo para distribución”.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B3A3A9-C1EC-4902-93E9-EB674141D2A8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Rechazos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3EF1F1-BE61-4766-982E-BA24F853EF15}"/>
              </a:ext>
            </a:extLst>
          </p:cNvPr>
          <p:cNvSpPr>
            <a:spLocks noGrp="1"/>
          </p:cNvSpPr>
          <p:nvPr/>
        </p:nvSpPr>
        <p:spPr>
          <a:xfrm>
            <a:off x="46863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Materiales no aprobados: el proceso termina antes de producir.</a:t>
            </a:r>
          </a:p>
          <a:p>
            <a:endParaRPr sz="1500" b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Lote no aprobado: el proceso termina después de la inspección.</a:t>
            </a:r>
          </a:p>
        </p:txBody>
      </p:sp>
    </p:spTree>
    <p:extLst>
      <p:ext uri="{BB962C8B-B14F-4D97-AF65-F5344CB8AC3E}">
        <p14:creationId xmlns:p14="http://schemas.microsoft.com/office/powerpoint/2010/main" val="168551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081AE9F-46EA-4769-8BBC-1D46F78F7765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Resultados del modelado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D8AB62-D3B7-4C18-8E25-907E76EEB651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D9F319A-20DC-4C78-9AB7-ECD281C44A3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Estructura del proceso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DD92457-2040-47E3-8ED7-3A7D9256A4AE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 carriles de responsabilidad</a:t>
            </a: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11 tareas</a:t>
            </a: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2 compuertas exclusivas</a:t>
            </a: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 evento de inicio</a:t>
            </a: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 eventos finales</a:t>
            </a: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16 flujos de secuencia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A57228-1906-4CC3-A253-181469509A64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Alcance de los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30B5C9-04FE-45A9-BF66-64962B6469AE}"/>
              </a:ext>
            </a:extLst>
          </p:cNvPr>
          <p:cNvSpPr>
            <a:spLocks noGrp="1"/>
          </p:cNvSpPr>
          <p:nvPr/>
        </p:nvSpPr>
        <p:spPr>
          <a:xfrm>
            <a:off x="46863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modelo permite identificar las rutas y los puntos de revisión.</a:t>
            </a:r>
          </a:p>
          <a:p>
            <a:endParaRPr sz="1500" b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Los archivos no incluyen conteos de ejecución, duración de tareas ni tasas de rechazo verificadas. Estos indicadores quedan para la simulación.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F7EE4BC-26AB-44B5-9652-50E5C254102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1594195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99B275D-23F2-4464-AB35-285ED486D244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Justificación y desarrollo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9CA208-591E-4452-84E4-7B3013FD546F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04EA61-0725-42F2-87DD-2C11779DA10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1B5A5E-66F9-4F7E-804C-4FEEFD1726A1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Representar el proceso ayuda a explicar el orden de las actividades y las decisiones que controlan la calidad. El mismo modelo facilita comparar su organización en las tres herramientas.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AE8C41-4AB9-46C9-959F-1AB0B243F13B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37814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E3E619-9A44-43A6-8F14-D36319D9EB4F}"/>
              </a:ext>
            </a:extLst>
          </p:cNvPr>
          <p:cNvSpPr>
            <a:spLocks noGrp="1"/>
          </p:cNvSpPr>
          <p:nvPr/>
        </p:nvSpPr>
        <p:spPr>
          <a:xfrm>
            <a:off x="4686300" y="1762125"/>
            <a:ext cx="37814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trabajo parte del archivo de Camunda y de una versión BPMN preparada para Bizagi y Bonita.</a:t>
            </a:r>
          </a:p>
          <a:p>
            <a:endParaRPr sz="1500" b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Los diagramas conservan el flujo de producción y las salidas por aprobación o rechazo.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F9A14C0C-690C-4496-A92E-DA8058E68BD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211018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4AE2F00-13DF-412D-849C-BCA1343B90FE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B512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121B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D338E0-1216-4713-9F43-69232631B874}"/>
              </a:ext>
            </a:extLst>
          </p:cNvPr>
          <p:cNvSpPr>
            <a:spLocks noGrp="1"/>
          </p:cNvSpPr>
          <p:nvPr/>
        </p:nvSpPr>
        <p:spPr>
          <a:xfrm>
            <a:off x="8410575" y="4752975"/>
            <a:ext cx="457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446BEE4-BB28-4789-AB6B-59A61C3C491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781050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diagrama permite entender cómo se relacionan las etapas de producción y envasado de Coca-Cola. Las decisiones de aprobación muestran por qué una materia prima o un lote pueden continuar o terminar el proceso.</a:t>
            </a:r>
          </a:p>
          <a:p>
            <a:endParaRPr sz="1500" b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Trabajar con el mismo modelo para Camunda, Bizagi y Bonita ayuda a reconocer los símbolos BPMN y la responsabilidad de cada área. Para obtener resultados de tiempos y cantidades, el siguiente paso es configurar y ejecutar la simulación.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C45FDEDC-A852-4057-A511-6FF8BD00466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809625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</p:spTree>
    <p:extLst>
      <p:ext uri="{BB962C8B-B14F-4D97-AF65-F5344CB8AC3E}">
        <p14:creationId xmlns:p14="http://schemas.microsoft.com/office/powerpoint/2010/main" val="321577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031BC58-6D37-4B40-8F9D-E3F04191B83E}"/>
              </a:ext>
            </a:extLst>
          </p:cNvPr>
          <p:cNvSpPr txBox="1"/>
          <p:nvPr/>
        </p:nvSpPr>
        <p:spPr>
          <a:xfrm>
            <a:off x="1101600" y="957600"/>
            <a:ext cx="75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linkClick r:id="rId2"/>
              </a:rPr>
              <a:t>https://github.com/lopezramirezsimone-cyber/practica-numeros-pseudoaleatorios.git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99948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DocSecurity>0</DocSecurity>
  <PresentationFormat>Presentación en pantalla (16:9)</PresentationFormat>
  <Paragraphs>187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2026-10-04T02:23:30Z</dcterms:created>
  <dcterms:modified xsi:type="dcterms:W3CDTF">2026-10-04T08:29:10Z</dcterms:modified>
</cp:coreProperties>
</file>