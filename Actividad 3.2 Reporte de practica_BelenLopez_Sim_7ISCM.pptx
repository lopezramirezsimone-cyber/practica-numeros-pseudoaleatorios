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Lst>
  <p:sldIdLst>
    <p:sldId id="256" r:id="rId2"/>
    <p:sldId id="257" r:id="rId3"/>
    <p:sldId id="262" r:id="rId4"/>
    <p:sldId id="258" r:id="rId5"/>
    <p:sldId id="261" r:id="rId6"/>
    <p:sldId id="265" r:id="rId7"/>
    <p:sldId id="266" r:id="rId8"/>
    <p:sldId id="267" r:id="rId9"/>
    <p:sldId id="268" r:id="rId10"/>
    <p:sldId id="269" r:id="rId11"/>
    <p:sldId id="270" r:id="rId12"/>
    <p:sldId id="260" r:id="rId13"/>
    <p:sldId id="26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snapToGrid="0">
      <p:cViewPr varScale="1">
        <p:scale>
          <a:sx n="80" d="100"/>
          <a:sy n="80" d="100"/>
        </p:scale>
        <p:origin x="7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224282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981352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46404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4043805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D21CB79-48B0-4476-B550-9B8E0D8A515F}" type="datetimeFigureOut">
              <a:rPr lang="es-MX" smtClean="0"/>
              <a:t>02/10/2026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720705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143442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D21CB79-48B0-4476-B550-9B8E0D8A515F}" type="datetimeFigureOut">
              <a:rPr lang="es-MX" smtClean="0"/>
              <a:t>02/10/2026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664541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290224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626829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310789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4963017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59371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538227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149222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882713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847379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1047296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873239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D21CB79-48B0-4476-B550-9B8E0D8A515F}" type="datetimeFigureOut">
              <a:rPr lang="es-MX" smtClean="0"/>
              <a:t>02/10/2026</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85B4EFA-7633-4447-B1D0-F687851FDCA6}" type="slidenum">
              <a:rPr lang="es-MX" smtClean="0"/>
              <a:t>‹Nº›</a:t>
            </a:fld>
            <a:endParaRPr lang="es-MX"/>
          </a:p>
        </p:txBody>
      </p:sp>
    </p:spTree>
    <p:extLst>
      <p:ext uri="{BB962C8B-B14F-4D97-AF65-F5344CB8AC3E}">
        <p14:creationId xmlns:p14="http://schemas.microsoft.com/office/powerpoint/2010/main" val="268365690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Cynthia21Morales/SIMULACION_CynthiaJasmineMT/blob/main/SIM-Tema-1/Actividad%201.2%20Reporte%20de%20Practica_CynthiaMorales_Sim_7ISCM.pptx"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A8C18A3F-B359-B219-8C12-985F36E5120A}"/>
              </a:ext>
            </a:extLst>
          </p:cNvPr>
          <p:cNvGrpSpPr/>
          <p:nvPr/>
        </p:nvGrpSpPr>
        <p:grpSpPr>
          <a:xfrm>
            <a:off x="671033" y="78183"/>
            <a:ext cx="2709599" cy="1198176"/>
            <a:chOff x="0" y="0"/>
            <a:chExt cx="3073400" cy="1308100"/>
          </a:xfrm>
        </p:grpSpPr>
        <p:sp>
          <p:nvSpPr>
            <p:cNvPr id="6" name="Freeform 3">
              <a:extLst>
                <a:ext uri="{FF2B5EF4-FFF2-40B4-BE49-F238E27FC236}">
                  <a16:creationId xmlns:a16="http://schemas.microsoft.com/office/drawing/2014/main" id="{6A3DEC6A-4B97-F8D1-8C0B-468EBB5C90B4}"/>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7" name="Group 4">
            <a:extLst>
              <a:ext uri="{FF2B5EF4-FFF2-40B4-BE49-F238E27FC236}">
                <a16:creationId xmlns:a16="http://schemas.microsoft.com/office/drawing/2014/main" id="{95D906A4-7E20-328A-5AD6-5F5E82946B39}"/>
              </a:ext>
            </a:extLst>
          </p:cNvPr>
          <p:cNvGrpSpPr/>
          <p:nvPr/>
        </p:nvGrpSpPr>
        <p:grpSpPr>
          <a:xfrm>
            <a:off x="9992616" y="31119"/>
            <a:ext cx="1872270" cy="1245240"/>
            <a:chOff x="0" y="0"/>
            <a:chExt cx="1981200" cy="1625600"/>
          </a:xfrm>
        </p:grpSpPr>
        <p:sp>
          <p:nvSpPr>
            <p:cNvPr id="8" name="Freeform 5">
              <a:extLst>
                <a:ext uri="{FF2B5EF4-FFF2-40B4-BE49-F238E27FC236}">
                  <a16:creationId xmlns:a16="http://schemas.microsoft.com/office/drawing/2014/main" id="{F4E133E1-6A9D-A7C5-6D4B-38E03C368723}"/>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9" name="Group 6">
            <a:extLst>
              <a:ext uri="{FF2B5EF4-FFF2-40B4-BE49-F238E27FC236}">
                <a16:creationId xmlns:a16="http://schemas.microsoft.com/office/drawing/2014/main" id="{8910A298-EA0B-B76B-E0D7-D4D05A56FB8C}"/>
              </a:ext>
            </a:extLst>
          </p:cNvPr>
          <p:cNvGrpSpPr/>
          <p:nvPr/>
        </p:nvGrpSpPr>
        <p:grpSpPr>
          <a:xfrm>
            <a:off x="5285663" y="199566"/>
            <a:ext cx="3812814" cy="709234"/>
            <a:chOff x="0" y="0"/>
            <a:chExt cx="4343400" cy="901700"/>
          </a:xfrm>
        </p:grpSpPr>
        <p:sp>
          <p:nvSpPr>
            <p:cNvPr id="10" name="Freeform 7">
              <a:extLst>
                <a:ext uri="{FF2B5EF4-FFF2-40B4-BE49-F238E27FC236}">
                  <a16:creationId xmlns:a16="http://schemas.microsoft.com/office/drawing/2014/main" id="{F20632BE-7D9D-EA90-975D-DE372630EB65}"/>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
        <p:nvSpPr>
          <p:cNvPr id="15" name="TextBox 9">
            <a:extLst>
              <a:ext uri="{FF2B5EF4-FFF2-40B4-BE49-F238E27FC236}">
                <a16:creationId xmlns:a16="http://schemas.microsoft.com/office/drawing/2014/main" id="{A537F143-7C95-3F9E-7047-7661DB54166E}"/>
              </a:ext>
            </a:extLst>
          </p:cNvPr>
          <p:cNvSpPr txBox="1"/>
          <p:nvPr/>
        </p:nvSpPr>
        <p:spPr>
          <a:xfrm>
            <a:off x="2535480" y="1902456"/>
            <a:ext cx="7644625" cy="4678204"/>
          </a:xfrm>
          <a:prstGeom prst="rect">
            <a:avLst/>
          </a:prstGeom>
        </p:spPr>
        <p:txBody>
          <a:bodyPr wrap="square" lIns="0" tIns="0" rIns="0" bIns="0" rtlCol="0" anchor="t">
            <a:spAutoFit/>
          </a:bodyPr>
          <a:lstStyle/>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MATERIA:</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SIMULACIÓN</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SEMESTRE: </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SEPTIMO SEMESTRE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ESPECIALIDAD:</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INGENIERÍA EN SISTEMAS COMPUTACIONALES.</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NOMBRE DEL ALUMNO:</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SIMONE BELEN LOPEZ RAMIREZ / 231260010</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NOMBRE DEL DOCENTE: </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ING. FRANCISCO JAVIER MINGO VELAZQUEZ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NOMBRE DEL TRABAJO:</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3.2  REPORTE DE PRACTICA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FRONTERA COMALAPA, CHIAPAS. A 09 DE SEPTIEMBRE DEL 2026.</a:t>
            </a:r>
          </a:p>
        </p:txBody>
      </p:sp>
      <p:sp>
        <p:nvSpPr>
          <p:cNvPr id="16" name="TextBox 8">
            <a:extLst>
              <a:ext uri="{FF2B5EF4-FFF2-40B4-BE49-F238E27FC236}">
                <a16:creationId xmlns:a16="http://schemas.microsoft.com/office/drawing/2014/main" id="{BFCF2299-CECC-2EF8-65CD-65D4C0942098}"/>
              </a:ext>
            </a:extLst>
          </p:cNvPr>
          <p:cNvSpPr txBox="1"/>
          <p:nvPr/>
        </p:nvSpPr>
        <p:spPr>
          <a:xfrm>
            <a:off x="2199384" y="11497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INSTITUTO TECNOLÓGICO DE FRONTERA COMALAPA </a:t>
            </a:r>
          </a:p>
          <a:p>
            <a:pPr algn="ctr">
              <a:lnSpc>
                <a:spcPts val="2908"/>
              </a:lnSpc>
            </a:pP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MODALIDAD MIXTA</a:t>
            </a:r>
          </a:p>
        </p:txBody>
      </p:sp>
    </p:spTree>
    <p:extLst>
      <p:ext uri="{BB962C8B-B14F-4D97-AF65-F5344CB8AC3E}">
        <p14:creationId xmlns:p14="http://schemas.microsoft.com/office/powerpoint/2010/main" val="1520223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5D3D0-8382-BF42-1B13-B77B649259DC}"/>
              </a:ext>
            </a:extLst>
          </p:cNvPr>
          <p:cNvSpPr>
            <a:spLocks noGrp="1"/>
          </p:cNvSpPr>
          <p:nvPr>
            <p:ph type="title"/>
          </p:nvPr>
        </p:nvSpPr>
        <p:spPr/>
        <p:txBody>
          <a:bodyPr/>
          <a:lstStyle/>
          <a:p>
            <a:r>
              <a:rPr lang="es-MX" b="1" dirty="0"/>
              <a:t>Introducción</a:t>
            </a:r>
            <a:br>
              <a:rPr lang="es-MX" b="1" dirty="0"/>
            </a:br>
            <a:endParaRPr lang="es-MX" dirty="0"/>
          </a:p>
        </p:txBody>
      </p:sp>
      <p:sp>
        <p:nvSpPr>
          <p:cNvPr id="3" name="Marcador de contenido 2">
            <a:extLst>
              <a:ext uri="{FF2B5EF4-FFF2-40B4-BE49-F238E27FC236}">
                <a16:creationId xmlns:a16="http://schemas.microsoft.com/office/drawing/2014/main" id="{56E62A0B-F3AF-8B5F-E978-EB6093EF7552}"/>
              </a:ext>
            </a:extLst>
          </p:cNvPr>
          <p:cNvSpPr>
            <a:spLocks noGrp="1"/>
          </p:cNvSpPr>
          <p:nvPr>
            <p:ph idx="1"/>
          </p:nvPr>
        </p:nvSpPr>
        <p:spPr>
          <a:xfrm>
            <a:off x="2852425" y="1716946"/>
            <a:ext cx="6487150" cy="3424107"/>
          </a:xfrm>
        </p:spPr>
        <p:txBody>
          <a:bodyPr>
            <a:normAutofit/>
          </a:bodyPr>
          <a:lstStyle/>
          <a:p>
            <a:pPr marL="0" indent="0" algn="just">
              <a:buNone/>
            </a:pPr>
            <a:r>
              <a:rPr lang="es-MX" sz="1600" dirty="0">
                <a:latin typeface="Calibri" panose="020F0502020204030204" pitchFamily="34" charset="0"/>
                <a:ea typeface="Calibri" panose="020F0502020204030204" pitchFamily="34" charset="0"/>
                <a:cs typeface="Calibri" panose="020F0502020204030204" pitchFamily="34" charset="0"/>
              </a:rPr>
              <a:t>L</a:t>
            </a:r>
            <a:r>
              <a:rPr lang="es-MX" sz="1600" cap="none" dirty="0">
                <a:latin typeface="Calibri" panose="020F0502020204030204" pitchFamily="34" charset="0"/>
                <a:ea typeface="Calibri" panose="020F0502020204030204" pitchFamily="34" charset="0"/>
                <a:cs typeface="Calibri" panose="020F0502020204030204" pitchFamily="34" charset="0"/>
              </a:rPr>
              <a:t>as variables aleatorias permiten representar situaciones cuyos resultados pueden cambiar, como la decisión de un cliente de comprar o el tiempo que tarda en recibir atención. en esta práctica desarrollé programas en java, </a:t>
            </a:r>
            <a:r>
              <a:rPr lang="es-MX" sz="1600" cap="none" dirty="0" err="1">
                <a:latin typeface="Calibri" panose="020F0502020204030204" pitchFamily="34" charset="0"/>
                <a:ea typeface="Calibri" panose="020F0502020204030204" pitchFamily="34" charset="0"/>
                <a:cs typeface="Calibri" panose="020F0502020204030204" pitchFamily="34" charset="0"/>
              </a:rPr>
              <a:t>python</a:t>
            </a:r>
            <a:r>
              <a:rPr lang="es-MX" sz="1600" cap="none" dirty="0">
                <a:latin typeface="Calibri" panose="020F0502020204030204" pitchFamily="34" charset="0"/>
                <a:ea typeface="Calibri" panose="020F0502020204030204" pitchFamily="34" charset="0"/>
                <a:cs typeface="Calibri" panose="020F0502020204030204" pitchFamily="34" charset="0"/>
              </a:rPr>
              <a:t> y </a:t>
            </a:r>
            <a:r>
              <a:rPr lang="es-MX" sz="1600" cap="none" dirty="0" err="1">
                <a:latin typeface="Calibri" panose="020F0502020204030204" pitchFamily="34" charset="0"/>
                <a:ea typeface="Calibri" panose="020F0502020204030204" pitchFamily="34" charset="0"/>
                <a:cs typeface="Calibri" panose="020F0502020204030204" pitchFamily="34" charset="0"/>
              </a:rPr>
              <a:t>rstudio</a:t>
            </a:r>
            <a:r>
              <a:rPr lang="es-MX" sz="1600" cap="none" dirty="0">
                <a:latin typeface="Calibri" panose="020F0502020204030204" pitchFamily="34" charset="0"/>
                <a:ea typeface="Calibri" panose="020F0502020204030204" pitchFamily="34" charset="0"/>
                <a:cs typeface="Calibri" panose="020F0502020204030204" pitchFamily="34" charset="0"/>
              </a:rPr>
              <a:t> para simular estas situaciones mediante diferentes métodos de generación. además, apliqué una prueba estadística para revisar cómo se distribuyen los números obtenidos y comprender mejor su uso en la simulación.</a:t>
            </a:r>
          </a:p>
        </p:txBody>
      </p:sp>
    </p:spTree>
    <p:extLst>
      <p:ext uri="{BB962C8B-B14F-4D97-AF65-F5344CB8AC3E}">
        <p14:creationId xmlns:p14="http://schemas.microsoft.com/office/powerpoint/2010/main" val="910985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6B1812-48C9-9738-90C1-3F83DCE13786}"/>
              </a:ext>
            </a:extLst>
          </p:cNvPr>
          <p:cNvSpPr>
            <a:spLocks noGrp="1"/>
          </p:cNvSpPr>
          <p:nvPr>
            <p:ph type="title"/>
          </p:nvPr>
        </p:nvSpPr>
        <p:spPr/>
        <p:txBody>
          <a:bodyPr/>
          <a:lstStyle/>
          <a:p>
            <a:r>
              <a:rPr lang="es-MX" b="1" dirty="0"/>
              <a:t>Justificación</a:t>
            </a:r>
            <a:br>
              <a:rPr lang="es-MX" b="1" dirty="0"/>
            </a:br>
            <a:endParaRPr lang="es-MX" dirty="0"/>
          </a:p>
        </p:txBody>
      </p:sp>
      <p:sp>
        <p:nvSpPr>
          <p:cNvPr id="3" name="Marcador de contenido 2">
            <a:extLst>
              <a:ext uri="{FF2B5EF4-FFF2-40B4-BE49-F238E27FC236}">
                <a16:creationId xmlns:a16="http://schemas.microsoft.com/office/drawing/2014/main" id="{3BBC1B7C-B0C5-BC42-58B5-1A33659DB575}"/>
              </a:ext>
            </a:extLst>
          </p:cNvPr>
          <p:cNvSpPr>
            <a:spLocks noGrp="1"/>
          </p:cNvSpPr>
          <p:nvPr>
            <p:ph idx="1"/>
          </p:nvPr>
        </p:nvSpPr>
        <p:spPr>
          <a:xfrm>
            <a:off x="3357249" y="1716946"/>
            <a:ext cx="5920101" cy="3424107"/>
          </a:xfrm>
        </p:spPr>
        <p:txBody>
          <a:bodyPr>
            <a:normAutofit/>
          </a:bodyPr>
          <a:lstStyle/>
          <a:p>
            <a:pPr marL="0" indent="0" algn="just">
              <a:buNone/>
            </a:pPr>
            <a:r>
              <a:rPr lang="es-MX" sz="1600" dirty="0">
                <a:latin typeface="Calibri" panose="020F0502020204030204" pitchFamily="34" charset="0"/>
                <a:ea typeface="Calibri" panose="020F0502020204030204" pitchFamily="34" charset="0"/>
                <a:cs typeface="Calibri" panose="020F0502020204030204" pitchFamily="34" charset="0"/>
              </a:rPr>
              <a:t>R</a:t>
            </a:r>
            <a:r>
              <a:rPr lang="es-MX" sz="1600" cap="none" dirty="0">
                <a:latin typeface="Calibri" panose="020F0502020204030204" pitchFamily="34" charset="0"/>
                <a:ea typeface="Calibri" panose="020F0502020204030204" pitchFamily="34" charset="0"/>
                <a:cs typeface="Calibri" panose="020F0502020204030204" pitchFamily="34" charset="0"/>
              </a:rPr>
              <a:t>ealicé esta práctica para comprender cómo los números pseudoaleatorios pueden representar situaciones que cambian, como las compras de los clientes y los tiempos de atención. al trabajar con java, </a:t>
            </a:r>
            <a:r>
              <a:rPr lang="es-MX" sz="1600" cap="none" dirty="0" err="1">
                <a:latin typeface="Calibri" panose="020F0502020204030204" pitchFamily="34" charset="0"/>
                <a:ea typeface="Calibri" panose="020F0502020204030204" pitchFamily="34" charset="0"/>
                <a:cs typeface="Calibri" panose="020F0502020204030204" pitchFamily="34" charset="0"/>
              </a:rPr>
              <a:t>python</a:t>
            </a:r>
            <a:r>
              <a:rPr lang="es-MX" sz="1600" cap="none" dirty="0">
                <a:latin typeface="Calibri" panose="020F0502020204030204" pitchFamily="34" charset="0"/>
                <a:ea typeface="Calibri" panose="020F0502020204030204" pitchFamily="34" charset="0"/>
                <a:cs typeface="Calibri" panose="020F0502020204030204" pitchFamily="34" charset="0"/>
              </a:rPr>
              <a:t> y </a:t>
            </a:r>
            <a:r>
              <a:rPr lang="es-MX" sz="1600" cap="none" dirty="0" err="1">
                <a:latin typeface="Calibri" panose="020F0502020204030204" pitchFamily="34" charset="0"/>
                <a:ea typeface="Calibri" panose="020F0502020204030204" pitchFamily="34" charset="0"/>
                <a:cs typeface="Calibri" panose="020F0502020204030204" pitchFamily="34" charset="0"/>
              </a:rPr>
              <a:t>rstudio</a:t>
            </a:r>
            <a:r>
              <a:rPr lang="es-MX" sz="1600" cap="none" dirty="0">
                <a:latin typeface="Calibri" panose="020F0502020204030204" pitchFamily="34" charset="0"/>
                <a:ea typeface="Calibri" panose="020F0502020204030204" pitchFamily="34" charset="0"/>
                <a:cs typeface="Calibri" panose="020F0502020204030204" pitchFamily="34" charset="0"/>
              </a:rPr>
              <a:t>, pude aplicar los mismos conceptos en distintos lenguajes y observar sus resultados. la prueba de uniformidad también me ayudó a entender por qué es necesario revisar los números generados antes de utilizarlos en una simulación.</a:t>
            </a:r>
          </a:p>
        </p:txBody>
      </p:sp>
    </p:spTree>
    <p:extLst>
      <p:ext uri="{BB962C8B-B14F-4D97-AF65-F5344CB8AC3E}">
        <p14:creationId xmlns:p14="http://schemas.microsoft.com/office/powerpoint/2010/main" val="2168675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9">
            <a:extLst>
              <a:ext uri="{FF2B5EF4-FFF2-40B4-BE49-F238E27FC236}">
                <a16:creationId xmlns:a16="http://schemas.microsoft.com/office/drawing/2014/main" id="{7127AE64-BC41-8207-DE01-DA26CD0219CD}"/>
              </a:ext>
            </a:extLst>
          </p:cNvPr>
          <p:cNvSpPr>
            <a:spLocks noChangeArrowheads="1"/>
          </p:cNvSpPr>
          <p:nvPr/>
        </p:nvSpPr>
        <p:spPr bwMode="auto">
          <a:xfrm>
            <a:off x="3305636" y="114308"/>
            <a:ext cx="8886363" cy="342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MX"/>
          </a:p>
        </p:txBody>
      </p:sp>
      <p:sp>
        <p:nvSpPr>
          <p:cNvPr id="6" name="CuadroTexto 5">
            <a:extLst>
              <a:ext uri="{FF2B5EF4-FFF2-40B4-BE49-F238E27FC236}">
                <a16:creationId xmlns:a16="http://schemas.microsoft.com/office/drawing/2014/main" id="{09E02B4D-48B5-4385-9BBA-F87A3969C768}"/>
              </a:ext>
            </a:extLst>
          </p:cNvPr>
          <p:cNvSpPr txBox="1"/>
          <p:nvPr/>
        </p:nvSpPr>
        <p:spPr>
          <a:xfrm>
            <a:off x="990600" y="333386"/>
            <a:ext cx="10010775" cy="2308324"/>
          </a:xfrm>
          <a:prstGeom prst="rect">
            <a:avLst/>
          </a:prstGeom>
          <a:noFill/>
        </p:spPr>
        <p:txBody>
          <a:bodyPr wrap="square">
            <a:spAutoFit/>
          </a:bodyPr>
          <a:lstStyle/>
          <a:p>
            <a:pPr algn="just"/>
            <a:r>
              <a:rPr lang="es-MX" dirty="0"/>
              <a:t>En este ejercicio utilicé Java para simular si 12 clientes realizan una compra. Para representar sus decisiones usé una variable llamada Bernoulli, que tiene dos resultados: 1 si el cliente compra y 0 si no compra. A cada cliente le asigné una probabilidad del 65 % de comprar, y utilicé la semilla 45 para poder repetir la simulación con los mismos resultados.</a:t>
            </a:r>
          </a:p>
          <a:p>
            <a:pPr algn="just"/>
            <a:r>
              <a:rPr lang="es-MX" dirty="0"/>
              <a:t>Al ejecutar el programa, obtuve 4 clientes que compraron y 8 que no compraron. Aunque la probabilidad de compra es del 65 %, eso no significa que en un grupo pequeño se tenga que cumplir exactamente ese porcentaje. Este ejercicio me permitió comprender cómo representar una situación con dos posibles resultados mediante números pseudoaleatorios.</a:t>
            </a:r>
          </a:p>
        </p:txBody>
      </p:sp>
      <p:pic>
        <p:nvPicPr>
          <p:cNvPr id="5" name="Imagen 4">
            <a:extLst>
              <a:ext uri="{FF2B5EF4-FFF2-40B4-BE49-F238E27FC236}">
                <a16:creationId xmlns:a16="http://schemas.microsoft.com/office/drawing/2014/main" id="{5AB46D66-503E-43B5-A6A6-8F720934F53F}"/>
              </a:ext>
            </a:extLst>
          </p:cNvPr>
          <p:cNvPicPr>
            <a:picLocks noChangeAspect="1"/>
          </p:cNvPicPr>
          <p:nvPr/>
        </p:nvPicPr>
        <p:blipFill>
          <a:blip r:embed="rId2"/>
          <a:stretch>
            <a:fillRect/>
          </a:stretch>
        </p:blipFill>
        <p:spPr>
          <a:xfrm>
            <a:off x="3095625" y="2840660"/>
            <a:ext cx="6686550" cy="3683954"/>
          </a:xfrm>
          <a:prstGeom prst="rect">
            <a:avLst/>
          </a:prstGeom>
        </p:spPr>
      </p:pic>
    </p:spTree>
    <p:extLst>
      <p:ext uri="{BB962C8B-B14F-4D97-AF65-F5344CB8AC3E}">
        <p14:creationId xmlns:p14="http://schemas.microsoft.com/office/powerpoint/2010/main" val="621870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3">
            <a:extLst>
              <a:ext uri="{FF2B5EF4-FFF2-40B4-BE49-F238E27FC236}">
                <a16:creationId xmlns:a16="http://schemas.microsoft.com/office/drawing/2014/main" id="{C351BC62-4AB9-FDCF-6A98-8FD53AE6EF79}"/>
              </a:ext>
            </a:extLst>
          </p:cNvPr>
          <p:cNvSpPr>
            <a:spLocks noChangeArrowheads="1"/>
          </p:cNvSpPr>
          <p:nvPr/>
        </p:nvSpPr>
        <p:spPr bwMode="auto">
          <a:xfrm>
            <a:off x="1657350" y="122025"/>
            <a:ext cx="957262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65175" algn="l"/>
              </a:tabLst>
              <a:defRPr>
                <a:solidFill>
                  <a:schemeClr val="tx1"/>
                </a:solidFill>
                <a:latin typeface="Arial" panose="020B0604020202020204" pitchFamily="34" charset="0"/>
              </a:defRPr>
            </a:lvl1pPr>
            <a:lvl2pPr eaLnBrk="0" fontAlgn="base" hangingPunct="0">
              <a:spcBef>
                <a:spcPct val="0"/>
              </a:spcBef>
              <a:spcAft>
                <a:spcPct val="0"/>
              </a:spcAft>
              <a:tabLst>
                <a:tab pos="765175" algn="l"/>
              </a:tabLst>
              <a:defRPr>
                <a:solidFill>
                  <a:schemeClr val="tx1"/>
                </a:solidFill>
                <a:latin typeface="Arial" panose="020B0604020202020204" pitchFamily="34" charset="0"/>
              </a:defRPr>
            </a:lvl2pPr>
            <a:lvl3pPr eaLnBrk="0" fontAlgn="base" hangingPunct="0">
              <a:spcBef>
                <a:spcPct val="0"/>
              </a:spcBef>
              <a:spcAft>
                <a:spcPct val="0"/>
              </a:spcAft>
              <a:tabLst>
                <a:tab pos="765175" algn="l"/>
              </a:tabLst>
              <a:defRPr>
                <a:solidFill>
                  <a:schemeClr val="tx1"/>
                </a:solidFill>
                <a:latin typeface="Arial" panose="020B0604020202020204" pitchFamily="34" charset="0"/>
              </a:defRPr>
            </a:lvl3pPr>
            <a:lvl4pPr eaLnBrk="0" fontAlgn="base" hangingPunct="0">
              <a:spcBef>
                <a:spcPct val="0"/>
              </a:spcBef>
              <a:spcAft>
                <a:spcPct val="0"/>
              </a:spcAft>
              <a:tabLst>
                <a:tab pos="765175" algn="l"/>
              </a:tabLst>
              <a:defRPr>
                <a:solidFill>
                  <a:schemeClr val="tx1"/>
                </a:solidFill>
                <a:latin typeface="Arial" panose="020B0604020202020204" pitchFamily="34" charset="0"/>
              </a:defRPr>
            </a:lvl4pPr>
            <a:lvl5pPr eaLnBrk="0" fontAlgn="base" hangingPunct="0">
              <a:spcBef>
                <a:spcPct val="0"/>
              </a:spcBef>
              <a:spcAft>
                <a:spcPct val="0"/>
              </a:spcAft>
              <a:tabLst>
                <a:tab pos="765175" algn="l"/>
              </a:tabLst>
              <a:defRPr>
                <a:solidFill>
                  <a:schemeClr val="tx1"/>
                </a:solidFill>
                <a:latin typeface="Arial" panose="020B0604020202020204" pitchFamily="34" charset="0"/>
              </a:defRPr>
            </a:lvl5pPr>
            <a:lvl6pPr eaLnBrk="0" fontAlgn="base" hangingPunct="0">
              <a:spcBef>
                <a:spcPct val="0"/>
              </a:spcBef>
              <a:spcAft>
                <a:spcPct val="0"/>
              </a:spcAft>
              <a:tabLst>
                <a:tab pos="765175" algn="l"/>
              </a:tabLst>
              <a:defRPr>
                <a:solidFill>
                  <a:schemeClr val="tx1"/>
                </a:solidFill>
                <a:latin typeface="Arial" panose="020B0604020202020204" pitchFamily="34" charset="0"/>
              </a:defRPr>
            </a:lvl6pPr>
            <a:lvl7pPr eaLnBrk="0" fontAlgn="base" hangingPunct="0">
              <a:spcBef>
                <a:spcPct val="0"/>
              </a:spcBef>
              <a:spcAft>
                <a:spcPct val="0"/>
              </a:spcAft>
              <a:tabLst>
                <a:tab pos="765175" algn="l"/>
              </a:tabLst>
              <a:defRPr>
                <a:solidFill>
                  <a:schemeClr val="tx1"/>
                </a:solidFill>
                <a:latin typeface="Arial" panose="020B0604020202020204" pitchFamily="34" charset="0"/>
              </a:defRPr>
            </a:lvl7pPr>
            <a:lvl8pPr eaLnBrk="0" fontAlgn="base" hangingPunct="0">
              <a:spcBef>
                <a:spcPct val="0"/>
              </a:spcBef>
              <a:spcAft>
                <a:spcPct val="0"/>
              </a:spcAft>
              <a:tabLst>
                <a:tab pos="765175" algn="l"/>
              </a:tabLst>
              <a:defRPr>
                <a:solidFill>
                  <a:schemeClr val="tx1"/>
                </a:solidFill>
                <a:latin typeface="Arial" panose="020B0604020202020204" pitchFamily="34" charset="0"/>
              </a:defRPr>
            </a:lvl8pPr>
            <a:lvl9pPr eaLnBrk="0" fontAlgn="base" hangingPunct="0">
              <a:spcBef>
                <a:spcPct val="0"/>
              </a:spcBef>
              <a:spcAft>
                <a:spcPct val="0"/>
              </a:spcAft>
              <a:tabLst>
                <a:tab pos="765175"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765175" algn="l"/>
              </a:tabLst>
            </a:pPr>
            <a:r>
              <a:rPr lang="es-MX" sz="1600" b="1" dirty="0"/>
              <a:t>Generación de una variable continua uniforme en Java</a:t>
            </a:r>
            <a:r>
              <a:rPr lang="es-MX" sz="1600" dirty="0"/>
              <a:t>.</a:t>
            </a:r>
            <a:endParaRPr lang="es-MX" sz="1600" dirty="0">
              <a:latin typeface="Calibri" panose="020F0502020204030204" pitchFamily="34" charset="0"/>
              <a:ea typeface="Calibri" panose="020F0502020204030204" pitchFamily="34" charset="0"/>
              <a:cs typeface="Calibri" panose="020F0502020204030204" pitchFamily="34" charset="0"/>
            </a:endParaRPr>
          </a:p>
          <a:p>
            <a:pPr algn="just"/>
            <a:r>
              <a:rPr lang="es-MX" sz="1600" dirty="0"/>
              <a:t>para simular los tiempos de atención de 10 clientes. Elegí una distribución uniforme entre 2 y 8 minutos, lo que significa que los intervalos de igual tamaño dentro de ese rango tienen la misma probabilidad. Es una variable continua porque el tiempo puede incluir decimales, como 2.26 o 6.75 minutos.</a:t>
            </a:r>
          </a:p>
          <a:p>
            <a:pPr algn="just"/>
            <a:r>
              <a:rPr lang="es-MX" sz="1600" dirty="0"/>
              <a:t>Al ejecutar el programa, obtuve un tiempo promedio de 4.72 minutos, calculado al sumar los 10 tiempos y dividirlos entre 10. También utilicé la semilla 52 para repetir los mismos resultados. Con este ejercicio comprendí cómo utilizar números pseudoaleatorios para representar tiempos de atención que cambian de un cliente a otro.</a:t>
            </a:r>
          </a:p>
          <a:p>
            <a:pPr marL="0" marR="0" lvl="0" indent="0" algn="just" defTabSz="914400" rtl="0" eaLnBrk="0" fontAlgn="base" latinLnBrk="0" hangingPunct="0">
              <a:lnSpc>
                <a:spcPct val="100000"/>
              </a:lnSpc>
              <a:spcBef>
                <a:spcPct val="0"/>
              </a:spcBef>
              <a:spcAft>
                <a:spcPct val="0"/>
              </a:spcAft>
              <a:buClrTx/>
              <a:buSzTx/>
              <a:buFontTx/>
              <a:buNone/>
              <a:tabLst>
                <a:tab pos="765175" algn="l"/>
              </a:tabLst>
            </a:pPr>
            <a:endParaRPr kumimoji="0" lang="es-MX" altLang="es-MX"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7" name="Rectangle 19">
            <a:extLst>
              <a:ext uri="{FF2B5EF4-FFF2-40B4-BE49-F238E27FC236}">
                <a16:creationId xmlns:a16="http://schemas.microsoft.com/office/drawing/2014/main" id="{A9ABD7B3-EFE6-98B6-5F26-4DA66D7F7DFA}"/>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pic>
        <p:nvPicPr>
          <p:cNvPr id="3" name="Imagen 2">
            <a:extLst>
              <a:ext uri="{FF2B5EF4-FFF2-40B4-BE49-F238E27FC236}">
                <a16:creationId xmlns:a16="http://schemas.microsoft.com/office/drawing/2014/main" id="{E8AB1103-E71C-4A34-A418-9B115B69E624}"/>
              </a:ext>
            </a:extLst>
          </p:cNvPr>
          <p:cNvPicPr>
            <a:picLocks noChangeAspect="1"/>
          </p:cNvPicPr>
          <p:nvPr/>
        </p:nvPicPr>
        <p:blipFill>
          <a:blip r:embed="rId2"/>
          <a:stretch>
            <a:fillRect/>
          </a:stretch>
        </p:blipFill>
        <p:spPr>
          <a:xfrm>
            <a:off x="2142080" y="2390775"/>
            <a:ext cx="7668670" cy="4261849"/>
          </a:xfrm>
          <a:prstGeom prst="rect">
            <a:avLst/>
          </a:prstGeom>
        </p:spPr>
      </p:pic>
    </p:spTree>
    <p:extLst>
      <p:ext uri="{BB962C8B-B14F-4D97-AF65-F5344CB8AC3E}">
        <p14:creationId xmlns:p14="http://schemas.microsoft.com/office/powerpoint/2010/main" val="2071156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1DB22BF8-CC59-4633-9741-AF760023AE61}"/>
              </a:ext>
            </a:extLst>
          </p:cNvPr>
          <p:cNvSpPr>
            <a:spLocks noGrp="1"/>
          </p:cNvSpPr>
          <p:nvPr>
            <p:ph type="title"/>
          </p:nvPr>
        </p:nvSpPr>
        <p:spPr>
          <a:xfrm>
            <a:off x="2571900" y="0"/>
            <a:ext cx="6781650" cy="215800"/>
          </a:xfrm>
        </p:spPr>
        <p:txBody>
          <a:bodyPr>
            <a:normAutofit fontScale="90000"/>
          </a:bodyPr>
          <a:lstStyle/>
          <a:p>
            <a:br>
              <a:rPr lang="es-MX" dirty="0"/>
            </a:br>
            <a:br>
              <a:rPr lang="es-MX" sz="1600" b="1" dirty="0">
                <a:latin typeface="Calibri" panose="020F0502020204030204" pitchFamily="34" charset="0"/>
                <a:ea typeface="Calibri" panose="020F0502020204030204" pitchFamily="34" charset="0"/>
                <a:cs typeface="Calibri" panose="020F0502020204030204" pitchFamily="34" charset="0"/>
              </a:rPr>
            </a:br>
            <a:r>
              <a:rPr lang="es-MX" sz="1600" b="1" dirty="0">
                <a:latin typeface="Calibri" panose="020F0502020204030204" pitchFamily="34" charset="0"/>
                <a:ea typeface="Calibri" panose="020F0502020204030204" pitchFamily="34" charset="0"/>
                <a:cs typeface="Calibri" panose="020F0502020204030204" pitchFamily="34" charset="0"/>
              </a:rPr>
              <a:t>Método de transformación inversa en Java.</a:t>
            </a:r>
            <a:br>
              <a:rPr lang="es-MX" sz="1600" b="1" dirty="0">
                <a:latin typeface="Calibri" panose="020F0502020204030204" pitchFamily="34" charset="0"/>
                <a:ea typeface="Calibri" panose="020F0502020204030204" pitchFamily="34" charset="0"/>
                <a:cs typeface="Calibri" panose="020F0502020204030204" pitchFamily="34" charset="0"/>
              </a:rPr>
            </a:br>
            <a:endParaRPr lang="es-MX" sz="1600" b="1" dirty="0">
              <a:latin typeface="Calibri" panose="020F0502020204030204" pitchFamily="34" charset="0"/>
              <a:ea typeface="Calibri" panose="020F0502020204030204" pitchFamily="34" charset="0"/>
              <a:cs typeface="Calibri" panose="020F0502020204030204" pitchFamily="34" charset="0"/>
            </a:endParaRPr>
          </a:p>
        </p:txBody>
      </p:sp>
      <p:pic>
        <p:nvPicPr>
          <p:cNvPr id="11" name="Imagen 10">
            <a:extLst>
              <a:ext uri="{FF2B5EF4-FFF2-40B4-BE49-F238E27FC236}">
                <a16:creationId xmlns:a16="http://schemas.microsoft.com/office/drawing/2014/main" id="{81453E28-ED9B-4B27-8733-0F1668D4FC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2636" y="2600325"/>
            <a:ext cx="8077378" cy="4057650"/>
          </a:xfrm>
          <a:prstGeom prst="rect">
            <a:avLst/>
          </a:prstGeom>
        </p:spPr>
      </p:pic>
      <p:sp>
        <p:nvSpPr>
          <p:cNvPr id="12" name="Rectangle 1">
            <a:extLst>
              <a:ext uri="{FF2B5EF4-FFF2-40B4-BE49-F238E27FC236}">
                <a16:creationId xmlns:a16="http://schemas.microsoft.com/office/drawing/2014/main" id="{E8FBFE25-E68A-49C1-B8F1-02864E4EC93E}"/>
              </a:ext>
            </a:extLst>
          </p:cNvPr>
          <p:cNvSpPr>
            <a:spLocks noChangeArrowheads="1"/>
          </p:cNvSpPr>
          <p:nvPr/>
        </p:nvSpPr>
        <p:spPr bwMode="auto">
          <a:xfrm>
            <a:off x="1200150" y="688061"/>
            <a:ext cx="1068705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dirty="0">
                <a:latin typeface="Calibri" panose="020F0502020204030204" pitchFamily="34" charset="0"/>
                <a:ea typeface="Calibri" panose="020F0502020204030204" pitchFamily="34" charset="0"/>
                <a:cs typeface="Calibri" panose="020F0502020204030204" pitchFamily="34" charset="0"/>
              </a:rPr>
              <a:t>Para simular el tiempo que pasa entre la llegada de un cliente y el siguiente, primero generé números pseudoaleatorios entre 0 y 1. Después los transformé con la fórmula −4 × </a:t>
            </a:r>
            <a:r>
              <a:rPr lang="es-MX" altLang="es-MX" dirty="0" err="1">
                <a:latin typeface="Calibri" panose="020F0502020204030204" pitchFamily="34" charset="0"/>
                <a:ea typeface="Calibri" panose="020F0502020204030204" pitchFamily="34" charset="0"/>
                <a:cs typeface="Calibri" panose="020F0502020204030204" pitchFamily="34" charset="0"/>
              </a:rPr>
              <a:t>ln</a:t>
            </a:r>
            <a:r>
              <a:rPr lang="es-MX" altLang="es-MX" dirty="0">
                <a:latin typeface="Calibri" panose="020F0502020204030204" pitchFamily="34" charset="0"/>
                <a:ea typeface="Calibri" panose="020F0502020204030204" pitchFamily="34" charset="0"/>
                <a:cs typeface="Calibri" panose="020F0502020204030204" pitchFamily="34" charset="0"/>
              </a:rPr>
              <a:t>(1 − U). Así obtuve tiempos con una distribución exponencial, cuya media teórica es de 4 minutos.</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dirty="0">
                <a:latin typeface="Calibri" panose="020F0502020204030204" pitchFamily="34" charset="0"/>
                <a:ea typeface="Calibri" panose="020F0502020204030204" pitchFamily="34" charset="0"/>
                <a:cs typeface="Calibri" panose="020F0502020204030204" pitchFamily="34" charset="0"/>
              </a:rPr>
              <a:t>Al ejecutar el programa, obtuve 10 tiempos y un promedio de 4.10 minutos. Este resultado puede variar respecto a los 4 minutos porque solo se simularon 10 llegadas. También utilicé la semilla 63 para repetir los mismos resultados y revisar cómo los números iniciales se convierten en tiempos.</a:t>
            </a:r>
          </a:p>
        </p:txBody>
      </p:sp>
    </p:spTree>
    <p:extLst>
      <p:ext uri="{BB962C8B-B14F-4D97-AF65-F5344CB8AC3E}">
        <p14:creationId xmlns:p14="http://schemas.microsoft.com/office/powerpoint/2010/main" val="1890221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09A9F6B2-5513-498F-A283-74E7AD41766C}"/>
              </a:ext>
            </a:extLst>
          </p:cNvPr>
          <p:cNvSpPr>
            <a:spLocks noGrp="1" noChangeArrowheads="1"/>
          </p:cNvSpPr>
          <p:nvPr>
            <p:ph type="title"/>
          </p:nvPr>
        </p:nvSpPr>
        <p:spPr bwMode="auto">
          <a:xfrm>
            <a:off x="2871628" y="399997"/>
            <a:ext cx="6786722" cy="2252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spcBef>
                <a:spcPts val="3000"/>
              </a:spcBef>
            </a:pPr>
            <a:r>
              <a:rPr lang="es-MX" sz="1600" dirty="0"/>
              <a:t>Dos tiempos exponenciales independientes y los suma</a:t>
            </a:r>
            <a:r>
              <a:rPr lang="es-MX" sz="1000" dirty="0"/>
              <a:t>.</a:t>
            </a:r>
            <a:br>
              <a:rPr lang="es-MX" altLang="es-MX" sz="1600" dirty="0">
                <a:latin typeface="Calibri" panose="020F0502020204030204" pitchFamily="34" charset="0"/>
                <a:ea typeface="Calibri" panose="020F0502020204030204" pitchFamily="34" charset="0"/>
                <a:cs typeface="Calibri" panose="020F0502020204030204" pitchFamily="34" charset="0"/>
              </a:rPr>
            </a:br>
            <a:br>
              <a:rPr lang="es-MX" altLang="es-MX" sz="1400" cap="none" dirty="0">
                <a:latin typeface="Calibri" panose="020F0502020204030204" pitchFamily="34" charset="0"/>
                <a:ea typeface="Calibri" panose="020F0502020204030204" pitchFamily="34" charset="0"/>
                <a:cs typeface="Calibri" panose="020F0502020204030204" pitchFamily="34" charset="0"/>
              </a:rPr>
            </a:br>
            <a:r>
              <a:rPr lang="es-MX" sz="1400" cap="none" dirty="0">
                <a:latin typeface="Calibri" panose="020F0502020204030204" pitchFamily="34" charset="0"/>
                <a:ea typeface="Calibri" panose="020F0502020204030204" pitchFamily="34" charset="0"/>
                <a:cs typeface="Calibri" panose="020F0502020204030204" pitchFamily="34" charset="0"/>
              </a:rPr>
              <a:t>para representar un proceso con dos etapas, generé un tiempo aleatorio para cada una y después los sumé. cada etapa sigue una distribución exponencial con una media teórica de 3 minutos. esta forma de sumar variables aleatorias corresponde al método de convolución y permite simular la duración completa de un proceso.</a:t>
            </a:r>
            <a:br>
              <a:rPr lang="es-MX" sz="1400" cap="none" dirty="0">
                <a:latin typeface="Calibri" panose="020F0502020204030204" pitchFamily="34" charset="0"/>
                <a:ea typeface="Calibri" panose="020F0502020204030204" pitchFamily="34" charset="0"/>
                <a:cs typeface="Calibri" panose="020F0502020204030204" pitchFamily="34" charset="0"/>
              </a:rPr>
            </a:br>
            <a:r>
              <a:rPr lang="es-MX" sz="1400" cap="none" dirty="0">
                <a:latin typeface="Calibri" panose="020F0502020204030204" pitchFamily="34" charset="0"/>
                <a:ea typeface="Calibri" panose="020F0502020204030204" pitchFamily="34" charset="0"/>
                <a:cs typeface="Calibri" panose="020F0502020204030204" pitchFamily="34" charset="0"/>
              </a:rPr>
              <a:t>el programa realiza 10 simulaciones y muestra el tiempo de cada etapa, el total y el promedio de los tiempos totales. la media teórica del proceso completo es de 6 minutos, aunque el promedio obtenido puede ser diferente por la variación de los valores generados. utilicé la semilla 74 para poder repetir los mismos resultados.</a:t>
            </a:r>
            <a:br>
              <a:rPr lang="es-MX" sz="1400" cap="none" dirty="0">
                <a:latin typeface="Calibri" panose="020F0502020204030204" pitchFamily="34" charset="0"/>
                <a:ea typeface="Calibri" panose="020F0502020204030204" pitchFamily="34" charset="0"/>
                <a:cs typeface="Calibri" panose="020F0502020204030204" pitchFamily="34" charset="0"/>
              </a:rPr>
            </a:br>
            <a:endParaRPr lang="es-MX" altLang="es-MX" sz="14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10" name="Imagen 9">
            <a:extLst>
              <a:ext uri="{FF2B5EF4-FFF2-40B4-BE49-F238E27FC236}">
                <a16:creationId xmlns:a16="http://schemas.microsoft.com/office/drawing/2014/main" id="{5AE6C7A5-527B-41EC-B273-E0732D47ED8C}"/>
              </a:ext>
            </a:extLst>
          </p:cNvPr>
          <p:cNvPicPr>
            <a:picLocks noChangeAspect="1"/>
          </p:cNvPicPr>
          <p:nvPr/>
        </p:nvPicPr>
        <p:blipFill>
          <a:blip r:embed="rId2"/>
          <a:stretch>
            <a:fillRect/>
          </a:stretch>
        </p:blipFill>
        <p:spPr>
          <a:xfrm>
            <a:off x="2871628" y="2703657"/>
            <a:ext cx="6987539" cy="3881966"/>
          </a:xfrm>
          <a:prstGeom prst="rect">
            <a:avLst/>
          </a:prstGeom>
        </p:spPr>
      </p:pic>
    </p:spTree>
    <p:extLst>
      <p:ext uri="{BB962C8B-B14F-4D97-AF65-F5344CB8AC3E}">
        <p14:creationId xmlns:p14="http://schemas.microsoft.com/office/powerpoint/2010/main" val="3012932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7209B5-B337-4F54-B9F0-C1A8A4AAB045}"/>
              </a:ext>
            </a:extLst>
          </p:cNvPr>
          <p:cNvSpPr>
            <a:spLocks noGrp="1"/>
          </p:cNvSpPr>
          <p:nvPr>
            <p:ph type="title"/>
          </p:nvPr>
        </p:nvSpPr>
        <p:spPr>
          <a:xfrm>
            <a:off x="2076451" y="361950"/>
            <a:ext cx="8639174" cy="1834517"/>
          </a:xfrm>
        </p:spPr>
        <p:txBody>
          <a:bodyPr>
            <a:noAutofit/>
          </a:bodyPr>
          <a:lstStyle/>
          <a:p>
            <a:r>
              <a:rPr lang="es-MX" sz="1600" b="1" dirty="0">
                <a:latin typeface="Calibri" panose="020F0502020204030204" pitchFamily="34" charset="0"/>
                <a:ea typeface="Calibri" panose="020F0502020204030204" pitchFamily="34" charset="0"/>
                <a:cs typeface="Calibri" panose="020F0502020204030204" pitchFamily="34" charset="0"/>
              </a:rPr>
              <a:t>Método de composición en Java</a:t>
            </a:r>
            <a:r>
              <a:rPr lang="es-MX" sz="1600" dirty="0">
                <a:latin typeface="Calibri" panose="020F0502020204030204" pitchFamily="34" charset="0"/>
                <a:ea typeface="Calibri" panose="020F0502020204030204" pitchFamily="34" charset="0"/>
                <a:cs typeface="Calibri" panose="020F0502020204030204" pitchFamily="34" charset="0"/>
              </a:rPr>
              <a:t>.</a:t>
            </a:r>
            <a:br>
              <a:rPr lang="es-MX" sz="1600" dirty="0">
                <a:latin typeface="Calibri" panose="020F0502020204030204" pitchFamily="34" charset="0"/>
                <a:ea typeface="Calibri" panose="020F0502020204030204" pitchFamily="34" charset="0"/>
                <a:cs typeface="Calibri" panose="020F0502020204030204" pitchFamily="34" charset="0"/>
              </a:rPr>
            </a:br>
            <a:br>
              <a:rPr lang="es-MX" sz="1400" cap="none" dirty="0">
                <a:latin typeface="Calibri" panose="020F0502020204030204" pitchFamily="34" charset="0"/>
                <a:ea typeface="Calibri" panose="020F0502020204030204" pitchFamily="34" charset="0"/>
                <a:cs typeface="Calibri" panose="020F0502020204030204" pitchFamily="34" charset="0"/>
              </a:rPr>
            </a:br>
            <a:r>
              <a:rPr lang="es-MX" sz="1400" cap="none" dirty="0"/>
              <a:t>para simular la atención de los clientes, combiné dos tipos de servicio mediante el método de composición. primero, el programa elige una atención rápida con un 70 % de probabilidad o una larga con un 30 %. después genera el tiempo correspondiente: entre 1 y 3 minutos para la rápida, y entre 5 y 9 minutos para la larga.</a:t>
            </a:r>
            <a:br>
              <a:rPr lang="es-MX" sz="1400" cap="none" dirty="0"/>
            </a:br>
            <a:r>
              <a:rPr lang="es-MX" sz="1400" cap="none" dirty="0"/>
              <a:t>al simular 10 clientes, obtuve un tiempo promedio de 4.54 minutos. las cantidades de atenciones rápidas y largas pueden variar, porque las probabilidades no obligan a obtener exactamente siete rápidas y tres largas. utilicé la semilla 85 para repetir los resultados y observar cómo este método permite representar servicios con diferentes duraciones.</a:t>
            </a:r>
            <a:br>
              <a:rPr lang="es-MX" sz="1400" cap="none" dirty="0"/>
            </a:br>
            <a:br>
              <a:rPr lang="es-MX" sz="1600" cap="none" dirty="0">
                <a:latin typeface="Calibri" panose="020F0502020204030204" pitchFamily="34" charset="0"/>
                <a:ea typeface="Calibri" panose="020F0502020204030204" pitchFamily="34" charset="0"/>
                <a:cs typeface="Calibri" panose="020F0502020204030204" pitchFamily="34" charset="0"/>
              </a:rPr>
            </a:br>
            <a:endParaRPr lang="es-MX" sz="16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9" name="Imagen 8">
            <a:extLst>
              <a:ext uri="{FF2B5EF4-FFF2-40B4-BE49-F238E27FC236}">
                <a16:creationId xmlns:a16="http://schemas.microsoft.com/office/drawing/2014/main" id="{A1FFE72A-4302-4592-8DD2-956CED72B043}"/>
              </a:ext>
            </a:extLst>
          </p:cNvPr>
          <p:cNvPicPr>
            <a:picLocks noChangeAspect="1"/>
          </p:cNvPicPr>
          <p:nvPr/>
        </p:nvPicPr>
        <p:blipFill>
          <a:blip r:embed="rId2"/>
          <a:stretch>
            <a:fillRect/>
          </a:stretch>
        </p:blipFill>
        <p:spPr>
          <a:xfrm>
            <a:off x="2619375" y="2367093"/>
            <a:ext cx="7658100" cy="4239702"/>
          </a:xfrm>
          <a:prstGeom prst="rect">
            <a:avLst/>
          </a:prstGeom>
        </p:spPr>
      </p:pic>
    </p:spTree>
    <p:extLst>
      <p:ext uri="{BB962C8B-B14F-4D97-AF65-F5344CB8AC3E}">
        <p14:creationId xmlns:p14="http://schemas.microsoft.com/office/powerpoint/2010/main" val="2725741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0FB8B0-7874-4B74-9F17-FACA4F8C2E7C}"/>
              </a:ext>
            </a:extLst>
          </p:cNvPr>
          <p:cNvSpPr>
            <a:spLocks noGrp="1"/>
          </p:cNvSpPr>
          <p:nvPr>
            <p:ph type="title"/>
          </p:nvPr>
        </p:nvSpPr>
        <p:spPr>
          <a:xfrm>
            <a:off x="804862" y="103904"/>
            <a:ext cx="10582275" cy="1266825"/>
          </a:xfrm>
        </p:spPr>
        <p:txBody>
          <a:bodyPr>
            <a:noAutofit/>
          </a:bodyPr>
          <a:lstStyle/>
          <a:p>
            <a:r>
              <a:rPr lang="es-MX" sz="1600" dirty="0"/>
              <a:t>Método de aceptación y rechazo en Java</a:t>
            </a:r>
            <a:br>
              <a:rPr lang="es-MX" dirty="0"/>
            </a:br>
            <a:br>
              <a:rPr lang="es-MX" dirty="0"/>
            </a:br>
            <a:endParaRPr lang="es-MX" dirty="0"/>
          </a:p>
        </p:txBody>
      </p:sp>
      <p:pic>
        <p:nvPicPr>
          <p:cNvPr id="9" name="Imagen 8">
            <a:extLst>
              <a:ext uri="{FF2B5EF4-FFF2-40B4-BE49-F238E27FC236}">
                <a16:creationId xmlns:a16="http://schemas.microsoft.com/office/drawing/2014/main" id="{475B049C-634A-40B3-AD23-0BB47C673DC8}"/>
              </a:ext>
            </a:extLst>
          </p:cNvPr>
          <p:cNvPicPr>
            <a:picLocks noChangeAspect="1"/>
          </p:cNvPicPr>
          <p:nvPr/>
        </p:nvPicPr>
        <p:blipFill>
          <a:blip r:embed="rId2"/>
          <a:stretch>
            <a:fillRect/>
          </a:stretch>
        </p:blipFill>
        <p:spPr>
          <a:xfrm>
            <a:off x="2500973" y="2487040"/>
            <a:ext cx="8202562" cy="4184581"/>
          </a:xfrm>
          <a:prstGeom prst="rect">
            <a:avLst/>
          </a:prstGeom>
        </p:spPr>
      </p:pic>
      <p:sp>
        <p:nvSpPr>
          <p:cNvPr id="10" name="Rectangle 1">
            <a:extLst>
              <a:ext uri="{FF2B5EF4-FFF2-40B4-BE49-F238E27FC236}">
                <a16:creationId xmlns:a16="http://schemas.microsoft.com/office/drawing/2014/main" id="{D8431371-DEF8-45C8-8722-85731A767205}"/>
              </a:ext>
            </a:extLst>
          </p:cNvPr>
          <p:cNvSpPr>
            <a:spLocks noChangeArrowheads="1"/>
          </p:cNvSpPr>
          <p:nvPr/>
        </p:nvSpPr>
        <p:spPr bwMode="auto">
          <a:xfrm>
            <a:off x="2322563" y="462788"/>
            <a:ext cx="8202562"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t>Para aplicar el método de aceptación y rechazo, generé dos números pseudoaleatorios entre 0 y 1: un valor candidato llamado x y otro llamado u. Conservé el candidato cuando se cumplió la condición u &lt;= x. Esta regla permite obtener una distribución con densidad f(x) = 2x, donde los valores cercanos a 1 tienen mayor probabilidad de ser aceptados.</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t>El programa necesitó 26 intentos para obtener 10 valores aceptados, por lo que rechazó 16 candidatos. El promedio de los valores conservados fue de 0.6391. Con este procedimiento comprendí cómo seleccionar valores mediante una condición para obtener una distribución determinada, y utilicé la semilla 96 para repetir los resultados.</a:t>
            </a:r>
          </a:p>
        </p:txBody>
      </p:sp>
    </p:spTree>
    <p:extLst>
      <p:ext uri="{BB962C8B-B14F-4D97-AF65-F5344CB8AC3E}">
        <p14:creationId xmlns:p14="http://schemas.microsoft.com/office/powerpoint/2010/main" val="2188843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224D9D-86D4-467A-B23F-C5DFBB91CB14}"/>
              </a:ext>
            </a:extLst>
          </p:cNvPr>
          <p:cNvSpPr>
            <a:spLocks noGrp="1"/>
          </p:cNvSpPr>
          <p:nvPr>
            <p:ph type="title"/>
          </p:nvPr>
        </p:nvSpPr>
        <p:spPr>
          <a:xfrm>
            <a:off x="2505074" y="209550"/>
            <a:ext cx="7115800" cy="2236364"/>
          </a:xfrm>
        </p:spPr>
        <p:txBody>
          <a:bodyPr>
            <a:noAutofit/>
          </a:bodyPr>
          <a:lstStyle/>
          <a:p>
            <a:r>
              <a:rPr lang="es-MX" sz="1600" b="1" dirty="0"/>
              <a:t>Prueba de </a:t>
            </a:r>
            <a:r>
              <a:rPr lang="es-MX" sz="1600" b="1" dirty="0" err="1"/>
              <a:t>uniformida</a:t>
            </a:r>
            <a:br>
              <a:rPr lang="es-MX" sz="1600" dirty="0">
                <a:latin typeface="Calibri" panose="020F0502020204030204" pitchFamily="34" charset="0"/>
                <a:ea typeface="Calibri" panose="020F0502020204030204" pitchFamily="34" charset="0"/>
                <a:cs typeface="Calibri" panose="020F0502020204030204" pitchFamily="34" charset="0"/>
              </a:rPr>
            </a:br>
            <a:r>
              <a:rPr lang="es-MX" sz="1400" cap="none" dirty="0">
                <a:latin typeface="Calibri" panose="020F0502020204030204" pitchFamily="34" charset="0"/>
                <a:ea typeface="Calibri" panose="020F0502020204030204" pitchFamily="34" charset="0"/>
                <a:cs typeface="Calibri" panose="020F0502020204030204" pitchFamily="34" charset="0"/>
              </a:rPr>
              <a:t>Generé 1,000 números pseudoaleatorios y los agrupé en cinco intervalos iguales entre 0 y 1. si su distribución es uniforme, se esperan 200 números por intervalo. obtuve 192, 199, 188, 206 y 215, y apliqué la prueba de chi-cuadrado para comparar estas cantidades con las esperadas.</a:t>
            </a:r>
            <a:br>
              <a:rPr lang="es-MX" sz="1400" cap="none" dirty="0">
                <a:latin typeface="Calibri" panose="020F0502020204030204" pitchFamily="34" charset="0"/>
                <a:ea typeface="Calibri" panose="020F0502020204030204" pitchFamily="34" charset="0"/>
                <a:cs typeface="Calibri" panose="020F0502020204030204" pitchFamily="34" charset="0"/>
              </a:rPr>
            </a:br>
            <a:r>
              <a:rPr lang="es-MX" sz="1400" cap="none" dirty="0">
                <a:latin typeface="Calibri" panose="020F0502020204030204" pitchFamily="34" charset="0"/>
                <a:ea typeface="Calibri" panose="020F0502020204030204" pitchFamily="34" charset="0"/>
                <a:cs typeface="Calibri" panose="020F0502020204030204" pitchFamily="34" charset="0"/>
              </a:rPr>
              <a:t>el valor de chi-cuadrado fue de 2.3500, menor que el valor crítico de 9.4877. por eso, con un nivel de significancia de 0.05, no se rechaza la hipótesis de uniformidad.</a:t>
            </a:r>
            <a:br>
              <a:rPr lang="es-MX" sz="1000" dirty="0"/>
            </a:br>
            <a:br>
              <a:rPr lang="es-MX" sz="1600" dirty="0">
                <a:latin typeface="Calibri" panose="020F0502020204030204" pitchFamily="34" charset="0"/>
                <a:ea typeface="Calibri" panose="020F0502020204030204" pitchFamily="34" charset="0"/>
                <a:cs typeface="Calibri" panose="020F0502020204030204" pitchFamily="34" charset="0"/>
              </a:rPr>
            </a:br>
            <a:endParaRPr lang="es-MX" sz="1600" dirty="0">
              <a:latin typeface="Calibri" panose="020F0502020204030204" pitchFamily="34" charset="0"/>
              <a:ea typeface="Calibri" panose="020F0502020204030204" pitchFamily="34" charset="0"/>
              <a:cs typeface="Calibri" panose="020F0502020204030204" pitchFamily="34" charset="0"/>
            </a:endParaRPr>
          </a:p>
        </p:txBody>
      </p:sp>
      <p:pic>
        <p:nvPicPr>
          <p:cNvPr id="9" name="Imagen 8">
            <a:extLst>
              <a:ext uri="{FF2B5EF4-FFF2-40B4-BE49-F238E27FC236}">
                <a16:creationId xmlns:a16="http://schemas.microsoft.com/office/drawing/2014/main" id="{24D17A90-8878-40FD-9E58-FB29B8A739A7}"/>
              </a:ext>
            </a:extLst>
          </p:cNvPr>
          <p:cNvPicPr>
            <a:picLocks noChangeAspect="1"/>
          </p:cNvPicPr>
          <p:nvPr/>
        </p:nvPicPr>
        <p:blipFill>
          <a:blip r:embed="rId2"/>
          <a:stretch>
            <a:fillRect/>
          </a:stretch>
        </p:blipFill>
        <p:spPr>
          <a:xfrm>
            <a:off x="2505074" y="2522114"/>
            <a:ext cx="7610475" cy="4239304"/>
          </a:xfrm>
          <a:prstGeom prst="rect">
            <a:avLst/>
          </a:prstGeom>
        </p:spPr>
      </p:pic>
    </p:spTree>
    <p:extLst>
      <p:ext uri="{BB962C8B-B14F-4D97-AF65-F5344CB8AC3E}">
        <p14:creationId xmlns:p14="http://schemas.microsoft.com/office/powerpoint/2010/main" val="2562706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166E91-A7E2-4193-8420-FA3A2DE60077}"/>
              </a:ext>
            </a:extLst>
          </p:cNvPr>
          <p:cNvSpPr>
            <a:spLocks noGrp="1"/>
          </p:cNvSpPr>
          <p:nvPr>
            <p:ph type="title"/>
          </p:nvPr>
        </p:nvSpPr>
        <p:spPr>
          <a:xfrm>
            <a:off x="2314576" y="1085851"/>
            <a:ext cx="8229913" cy="1967044"/>
          </a:xfrm>
        </p:spPr>
        <p:txBody>
          <a:bodyPr>
            <a:normAutofit fontScale="90000"/>
          </a:bodyPr>
          <a:lstStyle/>
          <a:p>
            <a:r>
              <a:rPr lang="es-MX" sz="1800" b="1" dirty="0">
                <a:latin typeface="Calibri" panose="020F0502020204030204" pitchFamily="34" charset="0"/>
                <a:ea typeface="Calibri" panose="020F0502020204030204" pitchFamily="34" charset="0"/>
                <a:cs typeface="Calibri" panose="020F0502020204030204" pitchFamily="34" charset="0"/>
              </a:rPr>
              <a:t>Generación de variables aleatorias y métodos de simulación en </a:t>
            </a:r>
            <a:r>
              <a:rPr lang="es-MX" sz="1800" b="1" dirty="0" err="1">
                <a:latin typeface="Calibri" panose="020F0502020204030204" pitchFamily="34" charset="0"/>
                <a:ea typeface="Calibri" panose="020F0502020204030204" pitchFamily="34" charset="0"/>
                <a:cs typeface="Calibri" panose="020F0502020204030204" pitchFamily="34" charset="0"/>
              </a:rPr>
              <a:t>RStudio</a:t>
            </a:r>
            <a:r>
              <a:rPr lang="es-MX" sz="1800" dirty="0">
                <a:latin typeface="Calibri" panose="020F0502020204030204" pitchFamily="34" charset="0"/>
                <a:ea typeface="Calibri" panose="020F0502020204030204" pitchFamily="34" charset="0"/>
                <a:cs typeface="Calibri" panose="020F0502020204030204" pitchFamily="34" charset="0"/>
              </a:rPr>
              <a:t>.</a:t>
            </a:r>
            <a:br>
              <a:rPr lang="es-MX" sz="1800" dirty="0">
                <a:latin typeface="Calibri" panose="020F0502020204030204" pitchFamily="34" charset="0"/>
                <a:ea typeface="Calibri" panose="020F0502020204030204" pitchFamily="34" charset="0"/>
                <a:cs typeface="Calibri" panose="020F0502020204030204" pitchFamily="34" charset="0"/>
              </a:rPr>
            </a:br>
            <a:r>
              <a:rPr lang="es-MX" sz="1600" dirty="0">
                <a:latin typeface="Calibri" panose="020F0502020204030204" pitchFamily="34" charset="0"/>
                <a:ea typeface="Calibri" panose="020F0502020204030204" pitchFamily="34" charset="0"/>
                <a:cs typeface="Calibri" panose="020F0502020204030204" pitchFamily="34" charset="0"/>
              </a:rPr>
              <a:t>E</a:t>
            </a:r>
            <a:r>
              <a:rPr lang="es-MX" sz="1600" cap="none" dirty="0">
                <a:latin typeface="Calibri" panose="020F0502020204030204" pitchFamily="34" charset="0"/>
                <a:ea typeface="Calibri" panose="020F0502020204030204" pitchFamily="34" charset="0"/>
                <a:cs typeface="Calibri" panose="020F0502020204030204" pitchFamily="34" charset="0"/>
              </a:rPr>
              <a:t>l programa permite simular decisiones de compra y tiempos de atención. también apliqué la transformación inversa para generar tiempos entre llegadas, la convolución para sumar dos etapas y la composición para combinar atenciones rápidas y largas. con aceptación y rechazo seleccioné valores mediante una condición, y utilicé la semilla 129 para repetir los resultados.</a:t>
            </a:r>
            <a:br>
              <a:rPr lang="es-MX" sz="1600" cap="none" dirty="0">
                <a:latin typeface="Calibri" panose="020F0502020204030204" pitchFamily="34" charset="0"/>
                <a:ea typeface="Calibri" panose="020F0502020204030204" pitchFamily="34" charset="0"/>
                <a:cs typeface="Calibri" panose="020F0502020204030204" pitchFamily="34" charset="0"/>
              </a:rPr>
            </a:br>
            <a:r>
              <a:rPr lang="es-MX" sz="1600" cap="none" dirty="0">
                <a:latin typeface="Calibri" panose="020F0502020204030204" pitchFamily="34" charset="0"/>
                <a:ea typeface="Calibri" panose="020F0502020204030204" pitchFamily="34" charset="0"/>
                <a:cs typeface="Calibri" panose="020F0502020204030204" pitchFamily="34" charset="0"/>
              </a:rPr>
              <a:t>finalmente, generé 1,000 números y los agrupé en cinco intervalos para revisar su uniformidad mediante una prueba de chi-cuadrado y un histograma. obtuve un valor de chi-cuadrado de 7.49 y un valor p de 0.1122. como este último es mayor que 0.05, no se rechaza la hipótesis de uniformidad. esto indica que la prueba no encontró diferencias suficientes respecto a una distribución uniforme, aunque no demuestra una aleatoriedad perfecta.</a:t>
            </a:r>
            <a:br>
              <a:rPr lang="es-MX" sz="1050" dirty="0"/>
            </a:br>
            <a:br>
              <a:rPr lang="es-MX" sz="1800" dirty="0">
                <a:latin typeface="Calibri" panose="020F0502020204030204" pitchFamily="34" charset="0"/>
                <a:ea typeface="Calibri" panose="020F0502020204030204" pitchFamily="34" charset="0"/>
                <a:cs typeface="Calibri" panose="020F0502020204030204" pitchFamily="34" charset="0"/>
              </a:rPr>
            </a:br>
            <a:br>
              <a:rPr lang="es-MX" sz="1800" cap="none" dirty="0"/>
            </a:br>
            <a:br>
              <a:rPr lang="es-MX" dirty="0"/>
            </a:br>
            <a:endParaRPr lang="es-MX" dirty="0"/>
          </a:p>
        </p:txBody>
      </p:sp>
      <p:pic>
        <p:nvPicPr>
          <p:cNvPr id="13" name="Imagen 12">
            <a:extLst>
              <a:ext uri="{FF2B5EF4-FFF2-40B4-BE49-F238E27FC236}">
                <a16:creationId xmlns:a16="http://schemas.microsoft.com/office/drawing/2014/main" id="{80152F3B-35F6-4A93-A7BC-513EAC8C7080}"/>
              </a:ext>
            </a:extLst>
          </p:cNvPr>
          <p:cNvPicPr>
            <a:picLocks noChangeAspect="1"/>
          </p:cNvPicPr>
          <p:nvPr/>
        </p:nvPicPr>
        <p:blipFill>
          <a:blip r:embed="rId2"/>
          <a:stretch>
            <a:fillRect/>
          </a:stretch>
        </p:blipFill>
        <p:spPr>
          <a:xfrm>
            <a:off x="2857499" y="2824295"/>
            <a:ext cx="7019925" cy="3801086"/>
          </a:xfrm>
          <a:prstGeom prst="rect">
            <a:avLst/>
          </a:prstGeom>
        </p:spPr>
      </p:pic>
    </p:spTree>
    <p:extLst>
      <p:ext uri="{BB962C8B-B14F-4D97-AF65-F5344CB8AC3E}">
        <p14:creationId xmlns:p14="http://schemas.microsoft.com/office/powerpoint/2010/main" val="4053546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FE2A2A-790E-677F-2565-9BEEFD32A52D}"/>
              </a:ext>
            </a:extLst>
          </p:cNvPr>
          <p:cNvSpPr>
            <a:spLocks noGrp="1"/>
          </p:cNvSpPr>
          <p:nvPr>
            <p:ph type="title"/>
          </p:nvPr>
        </p:nvSpPr>
        <p:spPr>
          <a:xfrm>
            <a:off x="913774" y="285141"/>
            <a:ext cx="10364451" cy="1596177"/>
          </a:xfrm>
        </p:spPr>
        <p:txBody>
          <a:bodyPr/>
          <a:lstStyle/>
          <a:p>
            <a:r>
              <a:rPr lang="es-MX" dirty="0"/>
              <a:t>Conclusión </a:t>
            </a:r>
          </a:p>
        </p:txBody>
      </p:sp>
      <p:sp>
        <p:nvSpPr>
          <p:cNvPr id="3" name="Marcador de contenido 2">
            <a:extLst>
              <a:ext uri="{FF2B5EF4-FFF2-40B4-BE49-F238E27FC236}">
                <a16:creationId xmlns:a16="http://schemas.microsoft.com/office/drawing/2014/main" id="{8EF6874C-05D6-03B6-F270-B04708EFE5D8}"/>
              </a:ext>
            </a:extLst>
          </p:cNvPr>
          <p:cNvSpPr>
            <a:spLocks noGrp="1"/>
          </p:cNvSpPr>
          <p:nvPr>
            <p:ph idx="1"/>
          </p:nvPr>
        </p:nvSpPr>
        <p:spPr>
          <a:xfrm>
            <a:off x="2143125" y="1881318"/>
            <a:ext cx="8163552" cy="3424107"/>
          </a:xfrm>
        </p:spPr>
        <p:txBody>
          <a:bodyPr>
            <a:normAutofit/>
          </a:bodyPr>
          <a:lstStyle/>
          <a:p>
            <a:pPr marL="0" indent="0" algn="just">
              <a:buNone/>
            </a:pPr>
            <a:r>
              <a:rPr lang="es-MX" sz="1600" dirty="0">
                <a:latin typeface="Calibri" panose="020F0502020204030204" pitchFamily="34" charset="0"/>
                <a:ea typeface="Calibri" panose="020F0502020204030204" pitchFamily="34" charset="0"/>
                <a:cs typeface="Calibri" panose="020F0502020204030204" pitchFamily="34" charset="0"/>
              </a:rPr>
              <a:t>A</a:t>
            </a:r>
            <a:r>
              <a:rPr lang="es-MX" sz="1600" cap="none" dirty="0">
                <a:latin typeface="Calibri" panose="020F0502020204030204" pitchFamily="34" charset="0"/>
                <a:ea typeface="Calibri" panose="020F0502020204030204" pitchFamily="34" charset="0"/>
                <a:cs typeface="Calibri" panose="020F0502020204030204" pitchFamily="34" charset="0"/>
              </a:rPr>
              <a:t>l realizar esta práctica comprendí cómo generar variables aleatorias para representar decisiones de compra y tiempos de atención. los métodos utilizados me permitieron transformar números, sumar tiempos de distintas etapas y combinar tipos de servicio. también aprendí que una semilla permite repetir los resultados y que las pruebas estadísticas ayudan a evaluar los números generados, aunque no garantizan una aleatoriedad perfecta. trabajar con java, </a:t>
            </a:r>
            <a:r>
              <a:rPr lang="es-MX" sz="1600" cap="none" dirty="0" err="1">
                <a:latin typeface="Calibri" panose="020F0502020204030204" pitchFamily="34" charset="0"/>
                <a:ea typeface="Calibri" panose="020F0502020204030204" pitchFamily="34" charset="0"/>
                <a:cs typeface="Calibri" panose="020F0502020204030204" pitchFamily="34" charset="0"/>
              </a:rPr>
              <a:t>python</a:t>
            </a:r>
            <a:r>
              <a:rPr lang="es-MX" sz="1600" cap="none" dirty="0">
                <a:latin typeface="Calibri" panose="020F0502020204030204" pitchFamily="34" charset="0"/>
                <a:ea typeface="Calibri" panose="020F0502020204030204" pitchFamily="34" charset="0"/>
                <a:cs typeface="Calibri" panose="020F0502020204030204" pitchFamily="34" charset="0"/>
              </a:rPr>
              <a:t> y </a:t>
            </a:r>
            <a:r>
              <a:rPr lang="es-MX" sz="1600" cap="none" dirty="0" err="1">
                <a:latin typeface="Calibri" panose="020F0502020204030204" pitchFamily="34" charset="0"/>
                <a:ea typeface="Calibri" panose="020F0502020204030204" pitchFamily="34" charset="0"/>
                <a:cs typeface="Calibri" panose="020F0502020204030204" pitchFamily="34" charset="0"/>
              </a:rPr>
              <a:t>rstudio</a:t>
            </a:r>
            <a:r>
              <a:rPr lang="es-MX" sz="1600" cap="none" dirty="0">
                <a:latin typeface="Calibri" panose="020F0502020204030204" pitchFamily="34" charset="0"/>
                <a:ea typeface="Calibri" panose="020F0502020204030204" pitchFamily="34" charset="0"/>
                <a:cs typeface="Calibri" panose="020F0502020204030204" pitchFamily="34" charset="0"/>
              </a:rPr>
              <a:t> me ayudó a relacionar estos conceptos con ejemplos sencillos de simulación.</a:t>
            </a:r>
          </a:p>
        </p:txBody>
      </p:sp>
    </p:spTree>
    <p:extLst>
      <p:ext uri="{BB962C8B-B14F-4D97-AF65-F5344CB8AC3E}">
        <p14:creationId xmlns:p14="http://schemas.microsoft.com/office/powerpoint/2010/main" val="345983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5AE06C-DB4B-D47A-5033-09B34EA180D3}"/>
              </a:ext>
            </a:extLst>
          </p:cNvPr>
          <p:cNvSpPr>
            <a:spLocks noGrp="1"/>
          </p:cNvSpPr>
          <p:nvPr>
            <p:ph type="title"/>
          </p:nvPr>
        </p:nvSpPr>
        <p:spPr/>
        <p:txBody>
          <a:bodyPr/>
          <a:lstStyle/>
          <a:p>
            <a:r>
              <a:rPr lang="es-MX" dirty="0"/>
              <a:t>ANEXO LINK DE LA ACTIVIDAD SOLICITADA</a:t>
            </a:r>
          </a:p>
        </p:txBody>
      </p:sp>
      <p:sp>
        <p:nvSpPr>
          <p:cNvPr id="3" name="Marcador de contenido 2">
            <a:extLst>
              <a:ext uri="{FF2B5EF4-FFF2-40B4-BE49-F238E27FC236}">
                <a16:creationId xmlns:a16="http://schemas.microsoft.com/office/drawing/2014/main" id="{04B7A01D-7DBC-3D2C-2A8F-6560E4BAEACC}"/>
              </a:ext>
            </a:extLst>
          </p:cNvPr>
          <p:cNvSpPr>
            <a:spLocks noGrp="1"/>
          </p:cNvSpPr>
          <p:nvPr>
            <p:ph idx="1"/>
          </p:nvPr>
        </p:nvSpPr>
        <p:spPr>
          <a:xfrm>
            <a:off x="685175" y="2309943"/>
            <a:ext cx="10364452" cy="3424107"/>
          </a:xfrm>
        </p:spPr>
        <p:txBody>
          <a:bodyPr/>
          <a:lstStyle/>
          <a:p>
            <a:pPr marL="0" indent="0">
              <a:buNone/>
            </a:pPr>
            <a:r>
              <a:rPr lang="es-MX" dirty="0">
                <a:hlinkClick r:id="rId2"/>
              </a:rPr>
              <a:t>https://github.com/lopezramirezsimone-cyber/practica-numeros-pseudoaleatorios.git</a:t>
            </a:r>
          </a:p>
          <a:p>
            <a:pPr marL="0" indent="0">
              <a:buNone/>
            </a:pPr>
            <a:endParaRPr lang="es-MX" dirty="0">
              <a:hlinkClick r:id="rId2"/>
            </a:endParaRPr>
          </a:p>
        </p:txBody>
      </p:sp>
    </p:spTree>
    <p:extLst>
      <p:ext uri="{BB962C8B-B14F-4D97-AF65-F5344CB8AC3E}">
        <p14:creationId xmlns:p14="http://schemas.microsoft.com/office/powerpoint/2010/main" val="1434526284"/>
      </p:ext>
    </p:extLst>
  </p:cSld>
  <p:clrMapOvr>
    <a:masterClrMapping/>
  </p:clrMapOvr>
</p:sld>
</file>

<file path=ppt/theme/theme1.xml><?xml version="1.0" encoding="utf-8"?>
<a:theme xmlns:a="http://schemas.openxmlformats.org/drawingml/2006/main" name="Gota">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Gota</Template>
  <TotalTime>1123</TotalTime>
  <Words>1319</Words>
  <Application>Microsoft Office PowerPoint</Application>
  <PresentationFormat>Panorámica</PresentationFormat>
  <Paragraphs>44</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Tw Cen MT</vt:lpstr>
      <vt:lpstr>Gota</vt:lpstr>
      <vt:lpstr>Presentación de PowerPoint</vt:lpstr>
      <vt:lpstr>Introducción </vt:lpstr>
      <vt:lpstr>Justificación </vt:lpstr>
      <vt:lpstr>Presentación de PowerPoint</vt:lpstr>
      <vt:lpstr>Presentación de PowerPoint</vt:lpstr>
      <vt:lpstr>  Método de transformación inversa en Java. </vt:lpstr>
      <vt:lpstr>Dos tiempos exponenciales independientes y los suma.  para representar un proceso con dos etapas, generé un tiempo aleatorio para cada una y después los sumé. cada etapa sigue una distribución exponencial con una media teórica de 3 minutos. esta forma de sumar variables aleatorias corresponde al método de convolución y permite simular la duración completa de un proceso. el programa realiza 10 simulaciones y muestra el tiempo de cada etapa, el total y el promedio de los tiempos totales. la media teórica del proceso completo es de 6 minutos, aunque el promedio obtenido puede ser diferente por la variación de los valores generados. utilicé la semilla 74 para poder repetir los mismos resultados. </vt:lpstr>
      <vt:lpstr>Método de composición en Java.  para simular la atención de los clientes, combiné dos tipos de servicio mediante el método de composición. primero, el programa elige una atención rápida con un 70 % de probabilidad o una larga con un 30 %. después genera el tiempo correspondiente: entre 1 y 3 minutos para la rápida, y entre 5 y 9 minutos para la larga. al simular 10 clientes, obtuve un tiempo promedio de 4.54 minutos. las cantidades de atenciones rápidas y largas pueden variar, porque las probabilidades no obligan a obtener exactamente siete rápidas y tres largas. utilicé la semilla 85 para repetir los resultados y observar cómo este método permite representar servicios con diferentes duraciones.  </vt:lpstr>
      <vt:lpstr>Método de aceptación y rechazo en Java  </vt:lpstr>
      <vt:lpstr>Prueba de uniformida Generé 1,000 números pseudoaleatorios y los agrupé en cinco intervalos iguales entre 0 y 1. si su distribución es uniforme, se esperan 200 números por intervalo. obtuve 192, 199, 188, 206 y 215, y apliqué la prueba de chi-cuadrado para comparar estas cantidades con las esperadas. el valor de chi-cuadrado fue de 2.3500, menor que el valor crítico de 9.4877. por eso, con un nivel de significancia de 0.05, no se rechaza la hipótesis de uniformidad.  </vt:lpstr>
      <vt:lpstr>Generación de variables aleatorias y métodos de simulación en RStudio. El programa permite simular decisiones de compra y tiempos de atención. también apliqué la transformación inversa para generar tiempos entre llegadas, la convolución para sumar dos etapas y la composición para combinar atenciones rápidas y largas. con aceptación y rechazo seleccioné valores mediante una condición, y utilicé la semilla 129 para repetir los resultados. finalmente, generé 1,000 números y los agrupé en cinco intervalos para revisar su uniformidad mediante una prueba de chi-cuadrado y un histograma. obtuve un valor de chi-cuadrado de 7.49 y un valor p de 0.1122. como este último es mayor que 0.05, no se rechaza la hipótesis de uniformidad. esto indica que la prueba no encontró diferencias suficientes respecto a una distribución uniforme, aunque no demuestra una aleatoriedad perfecta.    </vt:lpstr>
      <vt:lpstr>Conclusión </vt:lpstr>
      <vt:lpstr>ANEXO LINK DE LA ACTIVIDAD SOLICITADA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 840 G5</dc:creator>
  <cp:lastModifiedBy>Belen</cp:lastModifiedBy>
  <cp:revision>26</cp:revision>
  <dcterms:created xsi:type="dcterms:W3CDTF">2025-08-17T02:41:38Z</dcterms:created>
  <dcterms:modified xsi:type="dcterms:W3CDTF">2026-10-03T08:32:18Z</dcterms:modified>
</cp:coreProperties>
</file>