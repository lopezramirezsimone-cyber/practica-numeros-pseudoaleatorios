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3" r:id="rId1"/>
  </p:sldMasterIdLst>
  <p:sldIdLst>
    <p:sldId id="256" r:id="rId2"/>
    <p:sldId id="257" r:id="rId3"/>
    <p:sldId id="262" r:id="rId4"/>
    <p:sldId id="258" r:id="rId5"/>
    <p:sldId id="261" r:id="rId6"/>
    <p:sldId id="265" r:id="rId7"/>
    <p:sldId id="266" r:id="rId8"/>
    <p:sldId id="267" r:id="rId9"/>
    <p:sldId id="268" r:id="rId10"/>
    <p:sldId id="269" r:id="rId11"/>
    <p:sldId id="270" r:id="rId12"/>
    <p:sldId id="271" r:id="rId13"/>
    <p:sldId id="272" r:id="rId14"/>
    <p:sldId id="273" r:id="rId15"/>
    <p:sldId id="260" r:id="rId16"/>
    <p:sldId id="264"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152" autoAdjust="0"/>
    <p:restoredTop sz="94660"/>
  </p:normalViewPr>
  <p:slideViewPr>
    <p:cSldViewPr snapToGrid="0">
      <p:cViewPr varScale="1">
        <p:scale>
          <a:sx n="80" d="100"/>
          <a:sy n="80" d="100"/>
        </p:scale>
        <p:origin x="778"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CD21CB79-48B0-4476-B550-9B8E0D8A515F}" type="datetimeFigureOut">
              <a:rPr lang="es-MX" smtClean="0"/>
              <a:t>02/10/2026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585B4EFA-7633-4447-B1D0-F687851FDCA6}" type="slidenum">
              <a:rPr lang="es-MX" smtClean="0"/>
              <a:t>‹Nº›</a:t>
            </a:fld>
            <a:endParaRPr lang="es-MX"/>
          </a:p>
        </p:txBody>
      </p:sp>
    </p:spTree>
    <p:extLst>
      <p:ext uri="{BB962C8B-B14F-4D97-AF65-F5344CB8AC3E}">
        <p14:creationId xmlns:p14="http://schemas.microsoft.com/office/powerpoint/2010/main" val="32242825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CD21CB79-48B0-4476-B550-9B8E0D8A515F}" type="datetimeFigureOut">
              <a:rPr lang="es-MX" smtClean="0"/>
              <a:t>02/10/2026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585B4EFA-7633-4447-B1D0-F687851FDCA6}" type="slidenum">
              <a:rPr lang="es-MX" smtClean="0"/>
              <a:t>‹Nº›</a:t>
            </a:fld>
            <a:endParaRPr lang="es-MX"/>
          </a:p>
        </p:txBody>
      </p:sp>
    </p:spTree>
    <p:extLst>
      <p:ext uri="{BB962C8B-B14F-4D97-AF65-F5344CB8AC3E}">
        <p14:creationId xmlns:p14="http://schemas.microsoft.com/office/powerpoint/2010/main" val="19813526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CD21CB79-48B0-4476-B550-9B8E0D8A515F}" type="datetimeFigureOut">
              <a:rPr lang="es-MX" smtClean="0"/>
              <a:t>02/10/2026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585B4EFA-7633-4447-B1D0-F687851FDCA6}" type="slidenum">
              <a:rPr lang="es-MX" smtClean="0"/>
              <a:t>‹Nº›</a:t>
            </a:fld>
            <a:endParaRPr lang="es-MX"/>
          </a:p>
        </p:txBody>
      </p:sp>
    </p:spTree>
    <p:extLst>
      <p:ext uri="{BB962C8B-B14F-4D97-AF65-F5344CB8AC3E}">
        <p14:creationId xmlns:p14="http://schemas.microsoft.com/office/powerpoint/2010/main" val="4640486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s-ES"/>
              <a:t>Haga clic para modificar el estilo de título del patrón</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CD21CB79-48B0-4476-B550-9B8E0D8A515F}" type="datetimeFigureOut">
              <a:rPr lang="es-MX" smtClean="0"/>
              <a:t>02/10/2026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585B4EFA-7633-4447-B1D0-F687851FDCA6}" type="slidenum">
              <a:rPr lang="es-MX" smtClean="0"/>
              <a:t>‹Nº›</a:t>
            </a:fld>
            <a:endParaRPr lang="es-MX"/>
          </a:p>
        </p:txBody>
      </p:sp>
    </p:spTree>
    <p:extLst>
      <p:ext uri="{BB962C8B-B14F-4D97-AF65-F5344CB8AC3E}">
        <p14:creationId xmlns:p14="http://schemas.microsoft.com/office/powerpoint/2010/main" val="40438058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2" name="Content Placeholder 3"/>
          <p:cNvSpPr>
            <a:spLocks noGrp="1"/>
          </p:cNvSpPr>
          <p:nvPr>
            <p:ph sz="quarter" idx="13"/>
          </p:nvPr>
        </p:nvSpPr>
        <p:spPr>
          <a:xfrm>
            <a:off x="913774" y="3051012"/>
            <a:ext cx="5106027" cy="2740187"/>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3" name="Content Placeholder 5"/>
          <p:cNvSpPr>
            <a:spLocks noGrp="1"/>
          </p:cNvSpPr>
          <p:nvPr>
            <p:ph sz="quarter" idx="14"/>
          </p:nvPr>
        </p:nvSpPr>
        <p:spPr>
          <a:xfrm>
            <a:off x="6172200" y="3051012"/>
            <a:ext cx="5105401" cy="2740187"/>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CD21CB79-48B0-4476-B550-9B8E0D8A515F}" type="datetimeFigureOut">
              <a:rPr lang="es-MX" smtClean="0"/>
              <a:t>02/10/2026</a:t>
            </a:fld>
            <a:endParaRPr lang="es-MX"/>
          </a:p>
        </p:txBody>
      </p:sp>
      <p:sp>
        <p:nvSpPr>
          <p:cNvPr id="8" name="Footer Placeholder 7"/>
          <p:cNvSpPr>
            <a:spLocks noGrp="1"/>
          </p:cNvSpPr>
          <p:nvPr>
            <p:ph type="ftr" sz="quarter" idx="11"/>
          </p:nvPr>
        </p:nvSpPr>
        <p:spPr/>
        <p:txBody>
          <a:bodyPr/>
          <a:lstStyle/>
          <a:p>
            <a:endParaRPr lang="es-MX"/>
          </a:p>
        </p:txBody>
      </p:sp>
      <p:sp>
        <p:nvSpPr>
          <p:cNvPr id="9" name="Slide Number Placeholder 8"/>
          <p:cNvSpPr>
            <a:spLocks noGrp="1"/>
          </p:cNvSpPr>
          <p:nvPr>
            <p:ph type="sldNum" sz="quarter" idx="12"/>
          </p:nvPr>
        </p:nvSpPr>
        <p:spPr/>
        <p:txBody>
          <a:bodyPr/>
          <a:lstStyle/>
          <a:p>
            <a:fld id="{585B4EFA-7633-4447-B1D0-F687851FDCA6}" type="slidenum">
              <a:rPr lang="es-MX" smtClean="0"/>
              <a:t>‹Nº›</a:t>
            </a:fld>
            <a:endParaRPr lang="es-MX"/>
          </a:p>
        </p:txBody>
      </p:sp>
    </p:spTree>
    <p:extLst>
      <p:ext uri="{BB962C8B-B14F-4D97-AF65-F5344CB8AC3E}">
        <p14:creationId xmlns:p14="http://schemas.microsoft.com/office/powerpoint/2010/main" val="17207050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CD21CB79-48B0-4476-B550-9B8E0D8A515F}" type="datetimeFigureOut">
              <a:rPr lang="es-MX" smtClean="0"/>
              <a:t>02/10/2026</a:t>
            </a:fld>
            <a:endParaRPr lang="es-MX"/>
          </a:p>
        </p:txBody>
      </p:sp>
      <p:sp>
        <p:nvSpPr>
          <p:cNvPr id="4" name="Footer Placeholder 3"/>
          <p:cNvSpPr>
            <a:spLocks noGrp="1"/>
          </p:cNvSpPr>
          <p:nvPr>
            <p:ph type="ftr" sz="quarter" idx="11"/>
          </p:nvPr>
        </p:nvSpPr>
        <p:spPr/>
        <p:txBody>
          <a:bodyPr/>
          <a:lstStyle/>
          <a:p>
            <a:endParaRPr lang="es-MX"/>
          </a:p>
        </p:txBody>
      </p:sp>
      <p:sp>
        <p:nvSpPr>
          <p:cNvPr id="5" name="Slide Number Placeholder 4"/>
          <p:cNvSpPr>
            <a:spLocks noGrp="1"/>
          </p:cNvSpPr>
          <p:nvPr>
            <p:ph type="sldNum" sz="quarter" idx="12"/>
          </p:nvPr>
        </p:nvSpPr>
        <p:spPr/>
        <p:txBody>
          <a:bodyPr/>
          <a:lstStyle/>
          <a:p>
            <a:fld id="{585B4EFA-7633-4447-B1D0-F687851FDCA6}" type="slidenum">
              <a:rPr lang="es-MX" smtClean="0"/>
              <a:t>‹Nº›</a:t>
            </a:fld>
            <a:endParaRPr lang="es-MX"/>
          </a:p>
        </p:txBody>
      </p:sp>
    </p:spTree>
    <p:extLst>
      <p:ext uri="{BB962C8B-B14F-4D97-AF65-F5344CB8AC3E}">
        <p14:creationId xmlns:p14="http://schemas.microsoft.com/office/powerpoint/2010/main" val="31434422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CD21CB79-48B0-4476-B550-9B8E0D8A515F}" type="datetimeFigureOut">
              <a:rPr lang="es-MX" smtClean="0"/>
              <a:t>02/10/2026</a:t>
            </a:fld>
            <a:endParaRPr lang="es-MX"/>
          </a:p>
        </p:txBody>
      </p:sp>
      <p:sp>
        <p:nvSpPr>
          <p:cNvPr id="3" name="Footer Placeholder 2"/>
          <p:cNvSpPr>
            <a:spLocks noGrp="1"/>
          </p:cNvSpPr>
          <p:nvPr>
            <p:ph type="ftr" sz="quarter" idx="11"/>
          </p:nvPr>
        </p:nvSpPr>
        <p:spPr/>
        <p:txBody>
          <a:bodyPr/>
          <a:lstStyle/>
          <a:p>
            <a:endParaRPr lang="es-MX"/>
          </a:p>
        </p:txBody>
      </p:sp>
      <p:sp>
        <p:nvSpPr>
          <p:cNvPr id="4" name="Slide Number Placeholder 3"/>
          <p:cNvSpPr>
            <a:spLocks noGrp="1"/>
          </p:cNvSpPr>
          <p:nvPr>
            <p:ph type="sldNum" sz="quarter" idx="12"/>
          </p:nvPr>
        </p:nvSpPr>
        <p:spPr/>
        <p:txBody>
          <a:bodyPr/>
          <a:lstStyle/>
          <a:p>
            <a:fld id="{585B4EFA-7633-4447-B1D0-F687851FDCA6}" type="slidenum">
              <a:rPr lang="es-MX" smtClean="0"/>
              <a:t>‹Nº›</a:t>
            </a:fld>
            <a:endParaRPr lang="es-MX"/>
          </a:p>
        </p:txBody>
      </p:sp>
    </p:spTree>
    <p:extLst>
      <p:ext uri="{BB962C8B-B14F-4D97-AF65-F5344CB8AC3E}">
        <p14:creationId xmlns:p14="http://schemas.microsoft.com/office/powerpoint/2010/main" val="36645411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s-ES"/>
              <a:t>Haga clic para modificar el estilo de título del patrón</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CD21CB79-48B0-4476-B550-9B8E0D8A515F}" type="datetimeFigureOut">
              <a:rPr lang="es-MX" smtClean="0"/>
              <a:t>02/10/2026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585B4EFA-7633-4447-B1D0-F687851FDCA6}" type="slidenum">
              <a:rPr lang="es-MX" smtClean="0"/>
              <a:t>‹Nº›</a:t>
            </a:fld>
            <a:endParaRPr lang="es-MX"/>
          </a:p>
        </p:txBody>
      </p:sp>
    </p:spTree>
    <p:extLst>
      <p:ext uri="{BB962C8B-B14F-4D97-AF65-F5344CB8AC3E}">
        <p14:creationId xmlns:p14="http://schemas.microsoft.com/office/powerpoint/2010/main" val="22902245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CD21CB79-48B0-4476-B550-9B8E0D8A515F}" type="datetimeFigureOut">
              <a:rPr lang="es-MX" smtClean="0"/>
              <a:t>02/10/2026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585B4EFA-7633-4447-B1D0-F687851FDCA6}" type="slidenum">
              <a:rPr lang="es-MX" smtClean="0"/>
              <a:t>‹Nº›</a:t>
            </a:fld>
            <a:endParaRPr lang="es-MX"/>
          </a:p>
        </p:txBody>
      </p:sp>
    </p:spTree>
    <p:extLst>
      <p:ext uri="{BB962C8B-B14F-4D97-AF65-F5344CB8AC3E}">
        <p14:creationId xmlns:p14="http://schemas.microsoft.com/office/powerpoint/2010/main" val="6268298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CD21CB79-48B0-4476-B550-9B8E0D8A515F}" type="datetimeFigureOut">
              <a:rPr lang="es-MX" smtClean="0"/>
              <a:t>02/10/2026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585B4EFA-7633-4447-B1D0-F687851FDCA6}" type="slidenum">
              <a:rPr lang="es-MX" smtClean="0"/>
              <a:t>‹Nº›</a:t>
            </a:fld>
            <a:endParaRPr lang="es-MX"/>
          </a:p>
        </p:txBody>
      </p:sp>
    </p:spTree>
    <p:extLst>
      <p:ext uri="{BB962C8B-B14F-4D97-AF65-F5344CB8AC3E}">
        <p14:creationId xmlns:p14="http://schemas.microsoft.com/office/powerpoint/2010/main" val="33107892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CD21CB79-48B0-4476-B550-9B8E0D8A515F}" type="datetimeFigureOut">
              <a:rPr lang="es-MX" smtClean="0"/>
              <a:t>02/10/2026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585B4EFA-7633-4447-B1D0-F687851FDCA6}" type="slidenum">
              <a:rPr lang="es-MX" smtClean="0"/>
              <a:t>‹Nº›</a:t>
            </a:fld>
            <a:endParaRPr lang="es-MX"/>
          </a:p>
        </p:txBody>
      </p:sp>
    </p:spTree>
    <p:extLst>
      <p:ext uri="{BB962C8B-B14F-4D97-AF65-F5344CB8AC3E}">
        <p14:creationId xmlns:p14="http://schemas.microsoft.com/office/powerpoint/2010/main" val="149630171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s-ES"/>
              <a:t>Haga clic para modificar el estilo de título del patrón</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CD21CB79-48B0-4476-B550-9B8E0D8A515F}" type="datetimeFigureOut">
              <a:rPr lang="es-MX" smtClean="0"/>
              <a:t>02/10/2026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585B4EFA-7633-4447-B1D0-F687851FDCA6}" type="slidenum">
              <a:rPr lang="es-MX" smtClean="0"/>
              <a:t>‹Nº›</a:t>
            </a:fld>
            <a:endParaRPr lang="es-MX"/>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1593719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CD21CB79-48B0-4476-B550-9B8E0D8A515F}" type="datetimeFigureOut">
              <a:rPr lang="es-MX" smtClean="0"/>
              <a:t>02/10/2026</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585B4EFA-7633-4447-B1D0-F687851FDCA6}" type="slidenum">
              <a:rPr lang="es-MX" smtClean="0"/>
              <a:t>‹Nº›</a:t>
            </a:fld>
            <a:endParaRPr lang="es-MX"/>
          </a:p>
        </p:txBody>
      </p:sp>
    </p:spTree>
    <p:extLst>
      <p:ext uri="{BB962C8B-B14F-4D97-AF65-F5344CB8AC3E}">
        <p14:creationId xmlns:p14="http://schemas.microsoft.com/office/powerpoint/2010/main" val="353822761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lumna 3">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s-ES"/>
              <a:t>Haga clic para modificar el estilo de título del patrón</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3" name="Date Placeholder 2"/>
          <p:cNvSpPr>
            <a:spLocks noGrp="1"/>
          </p:cNvSpPr>
          <p:nvPr>
            <p:ph type="dt" sz="half" idx="10"/>
          </p:nvPr>
        </p:nvSpPr>
        <p:spPr/>
        <p:txBody>
          <a:bodyPr/>
          <a:lstStyle/>
          <a:p>
            <a:fld id="{CD21CB79-48B0-4476-B550-9B8E0D8A515F}" type="datetimeFigureOut">
              <a:rPr lang="es-MX" smtClean="0"/>
              <a:t>02/10/2026</a:t>
            </a:fld>
            <a:endParaRPr lang="es-MX"/>
          </a:p>
        </p:txBody>
      </p:sp>
      <p:sp>
        <p:nvSpPr>
          <p:cNvPr id="4" name="Footer Placeholder 3"/>
          <p:cNvSpPr>
            <a:spLocks noGrp="1"/>
          </p:cNvSpPr>
          <p:nvPr>
            <p:ph type="ftr" sz="quarter" idx="11"/>
          </p:nvPr>
        </p:nvSpPr>
        <p:spPr/>
        <p:txBody>
          <a:bodyPr/>
          <a:lstStyle/>
          <a:p>
            <a:endParaRPr lang="es-MX"/>
          </a:p>
        </p:txBody>
      </p:sp>
      <p:sp>
        <p:nvSpPr>
          <p:cNvPr id="5" name="Slide Number Placeholder 4"/>
          <p:cNvSpPr>
            <a:spLocks noGrp="1"/>
          </p:cNvSpPr>
          <p:nvPr>
            <p:ph type="sldNum" sz="quarter" idx="12"/>
          </p:nvPr>
        </p:nvSpPr>
        <p:spPr/>
        <p:txBody>
          <a:bodyPr/>
          <a:lstStyle/>
          <a:p>
            <a:fld id="{585B4EFA-7633-4447-B1D0-F687851FDCA6}" type="slidenum">
              <a:rPr lang="es-MX" smtClean="0"/>
              <a:t>‹Nº›</a:t>
            </a:fld>
            <a:endParaRPr lang="es-MX"/>
          </a:p>
        </p:txBody>
      </p:sp>
    </p:spTree>
    <p:extLst>
      <p:ext uri="{BB962C8B-B14F-4D97-AF65-F5344CB8AC3E}">
        <p14:creationId xmlns:p14="http://schemas.microsoft.com/office/powerpoint/2010/main" val="314922205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lumna de imagen 3">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s-ES"/>
              <a:t>Haga clic para modificar el estilo de título del patrón</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3" name="Date Placeholder 2"/>
          <p:cNvSpPr>
            <a:spLocks noGrp="1"/>
          </p:cNvSpPr>
          <p:nvPr>
            <p:ph type="dt" sz="half" idx="10"/>
          </p:nvPr>
        </p:nvSpPr>
        <p:spPr/>
        <p:txBody>
          <a:bodyPr/>
          <a:lstStyle/>
          <a:p>
            <a:fld id="{CD21CB79-48B0-4476-B550-9B8E0D8A515F}" type="datetimeFigureOut">
              <a:rPr lang="es-MX" smtClean="0"/>
              <a:t>02/10/2026</a:t>
            </a:fld>
            <a:endParaRPr lang="es-MX"/>
          </a:p>
        </p:txBody>
      </p:sp>
      <p:sp>
        <p:nvSpPr>
          <p:cNvPr id="4" name="Footer Placeholder 3"/>
          <p:cNvSpPr>
            <a:spLocks noGrp="1"/>
          </p:cNvSpPr>
          <p:nvPr>
            <p:ph type="ftr" sz="quarter" idx="11"/>
          </p:nvPr>
        </p:nvSpPr>
        <p:spPr/>
        <p:txBody>
          <a:bodyPr/>
          <a:lstStyle/>
          <a:p>
            <a:endParaRPr lang="es-MX"/>
          </a:p>
        </p:txBody>
      </p:sp>
      <p:sp>
        <p:nvSpPr>
          <p:cNvPr id="5" name="Slide Number Placeholder 4"/>
          <p:cNvSpPr>
            <a:spLocks noGrp="1"/>
          </p:cNvSpPr>
          <p:nvPr>
            <p:ph type="sldNum" sz="quarter" idx="12"/>
          </p:nvPr>
        </p:nvSpPr>
        <p:spPr/>
        <p:txBody>
          <a:bodyPr/>
          <a:lstStyle/>
          <a:p>
            <a:fld id="{585B4EFA-7633-4447-B1D0-F687851FDCA6}" type="slidenum">
              <a:rPr lang="es-MX" smtClean="0"/>
              <a:t>‹Nº›</a:t>
            </a:fld>
            <a:endParaRPr lang="es-MX"/>
          </a:p>
        </p:txBody>
      </p:sp>
    </p:spTree>
    <p:extLst>
      <p:ext uri="{BB962C8B-B14F-4D97-AF65-F5344CB8AC3E}">
        <p14:creationId xmlns:p14="http://schemas.microsoft.com/office/powerpoint/2010/main" val="28827134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CD21CB79-48B0-4476-B550-9B8E0D8A515F}" type="datetimeFigureOut">
              <a:rPr lang="es-MX" smtClean="0"/>
              <a:t>02/10/2026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585B4EFA-7633-4447-B1D0-F687851FDCA6}" type="slidenum">
              <a:rPr lang="es-MX" smtClean="0"/>
              <a:t>‹Nº›</a:t>
            </a:fld>
            <a:endParaRPr lang="es-MX"/>
          </a:p>
        </p:txBody>
      </p:sp>
    </p:spTree>
    <p:extLst>
      <p:ext uri="{BB962C8B-B14F-4D97-AF65-F5344CB8AC3E}">
        <p14:creationId xmlns:p14="http://schemas.microsoft.com/office/powerpoint/2010/main" val="284737940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s-ES"/>
              <a:t>Haga clic para modificar el estilo de título del patrón</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CD21CB79-48B0-4476-B550-9B8E0D8A515F}" type="datetimeFigureOut">
              <a:rPr lang="es-MX" smtClean="0"/>
              <a:t>02/10/2026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585B4EFA-7633-4447-B1D0-F687851FDCA6}" type="slidenum">
              <a:rPr lang="es-MX" smtClean="0"/>
              <a:t>‹Nº›</a:t>
            </a:fld>
            <a:endParaRPr lang="es-MX"/>
          </a:p>
        </p:txBody>
      </p:sp>
    </p:spTree>
    <p:extLst>
      <p:ext uri="{BB962C8B-B14F-4D97-AF65-F5344CB8AC3E}">
        <p14:creationId xmlns:p14="http://schemas.microsoft.com/office/powerpoint/2010/main" val="110472963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1_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CD21CB79-48B0-4476-B550-9B8E0D8A515F}" type="datetimeFigureOut">
              <a:rPr lang="es-MX" smtClean="0"/>
              <a:t>02/10/2026</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585B4EFA-7633-4447-B1D0-F687851FDCA6}" type="slidenum">
              <a:rPr lang="es-MX" smtClean="0"/>
              <a:t>‹Nº›</a:t>
            </a:fld>
            <a:endParaRPr lang="es-MX"/>
          </a:p>
        </p:txBody>
      </p:sp>
    </p:spTree>
    <p:extLst>
      <p:ext uri="{BB962C8B-B14F-4D97-AF65-F5344CB8AC3E}">
        <p14:creationId xmlns:p14="http://schemas.microsoft.com/office/powerpoint/2010/main" val="38732392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20">
            <a:alphaModFix amt="70000"/>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CD21CB79-48B0-4476-B550-9B8E0D8A515F}" type="datetimeFigureOut">
              <a:rPr lang="es-MX" smtClean="0"/>
              <a:t>02/10/2026</a:t>
            </a:fld>
            <a:endParaRPr lang="es-MX"/>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s-MX"/>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585B4EFA-7633-4447-B1D0-F687851FDCA6}" type="slidenum">
              <a:rPr lang="es-MX" smtClean="0"/>
              <a:t>‹Nº›</a:t>
            </a:fld>
            <a:endParaRPr lang="es-MX"/>
          </a:p>
        </p:txBody>
      </p:sp>
    </p:spTree>
    <p:extLst>
      <p:ext uri="{BB962C8B-B14F-4D97-AF65-F5344CB8AC3E}">
        <p14:creationId xmlns:p14="http://schemas.microsoft.com/office/powerpoint/2010/main" val="2683656903"/>
      </p:ext>
    </p:extLst>
  </p:cSld>
  <p:clrMap bg1="lt1" tx1="dk1" bg2="lt2" tx2="dk2" accent1="accent1" accent2="accent2" accent3="accent3" accent4="accent4" accent5="accent5" accent6="accent6" hlink="hlink" folHlink="folHlink"/>
  <p:sldLayoutIdLst>
    <p:sldLayoutId id="2147483734" r:id="rId1"/>
    <p:sldLayoutId id="2147483735" r:id="rId2"/>
    <p:sldLayoutId id="2147483736" r:id="rId3"/>
    <p:sldLayoutId id="2147483737" r:id="rId4"/>
    <p:sldLayoutId id="2147483738" r:id="rId5"/>
    <p:sldLayoutId id="2147483739" r:id="rId6"/>
    <p:sldLayoutId id="2147483740" r:id="rId7"/>
    <p:sldLayoutId id="2147483741" r:id="rId8"/>
    <p:sldLayoutId id="2147483742" r:id="rId9"/>
    <p:sldLayoutId id="2147483743" r:id="rId10"/>
    <p:sldLayoutId id="2147483744" r:id="rId11"/>
    <p:sldLayoutId id="2147483745" r:id="rId12"/>
    <p:sldLayoutId id="2147483746" r:id="rId13"/>
    <p:sldLayoutId id="2147483747" r:id="rId14"/>
    <p:sldLayoutId id="2147483748" r:id="rId15"/>
    <p:sldLayoutId id="2147483749" r:id="rId16"/>
    <p:sldLayoutId id="2147483750" r:id="rId17"/>
    <p:sldLayoutId id="2147483751" r:id="rId18"/>
  </p:sldLayoutIdLs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1.xml"/><Relationship Id="rId4" Type="http://schemas.openxmlformats.org/officeDocument/2006/relationships/image" Target="../media/image6.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2" Type="http://schemas.openxmlformats.org/officeDocument/2006/relationships/hyperlink" Target="https://github.com/Cynthia21Morales/SIMULACION_CynthiaJasmineMT/blob/main/SIM-Tema-1/Actividad%201.2%20Reporte%20de%20Practica_CynthiaMorales_Sim_7ISCM.pptx" TargetMode="Externa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2">
            <a:extLst>
              <a:ext uri="{FF2B5EF4-FFF2-40B4-BE49-F238E27FC236}">
                <a16:creationId xmlns:a16="http://schemas.microsoft.com/office/drawing/2014/main" id="{A8C18A3F-B359-B219-8C12-985F36E5120A}"/>
              </a:ext>
            </a:extLst>
          </p:cNvPr>
          <p:cNvGrpSpPr/>
          <p:nvPr/>
        </p:nvGrpSpPr>
        <p:grpSpPr>
          <a:xfrm>
            <a:off x="671033" y="78183"/>
            <a:ext cx="2709599" cy="1198176"/>
            <a:chOff x="0" y="0"/>
            <a:chExt cx="3073400" cy="1308100"/>
          </a:xfrm>
        </p:grpSpPr>
        <p:sp>
          <p:nvSpPr>
            <p:cNvPr id="6" name="Freeform 3">
              <a:extLst>
                <a:ext uri="{FF2B5EF4-FFF2-40B4-BE49-F238E27FC236}">
                  <a16:creationId xmlns:a16="http://schemas.microsoft.com/office/drawing/2014/main" id="{6A3DEC6A-4B97-F8D1-8C0B-468EBB5C90B4}"/>
                </a:ext>
              </a:extLst>
            </p:cNvPr>
            <p:cNvSpPr/>
            <p:nvPr/>
          </p:nvSpPr>
          <p:spPr>
            <a:xfrm>
              <a:off x="0" y="0"/>
              <a:ext cx="3073400" cy="1308100"/>
            </a:xfrm>
            <a:custGeom>
              <a:avLst/>
              <a:gdLst/>
              <a:ahLst/>
              <a:cxnLst/>
              <a:rect l="l" t="t" r="r" b="b"/>
              <a:pathLst>
                <a:path w="3073400" h="1308100">
                  <a:moveTo>
                    <a:pt x="0" y="0"/>
                  </a:moveTo>
                  <a:lnTo>
                    <a:pt x="3073400" y="0"/>
                  </a:lnTo>
                  <a:lnTo>
                    <a:pt x="3073400" y="1308100"/>
                  </a:lnTo>
                  <a:lnTo>
                    <a:pt x="0" y="1308100"/>
                  </a:lnTo>
                  <a:lnTo>
                    <a:pt x="0" y="0"/>
                  </a:lnTo>
                  <a:close/>
                </a:path>
              </a:pathLst>
            </a:custGeom>
            <a:blipFill>
              <a:blip r:embed="rId2"/>
              <a:stretch>
                <a:fillRect/>
              </a:stretch>
            </a:blipFill>
          </p:spPr>
        </p:sp>
      </p:grpSp>
      <p:grpSp>
        <p:nvGrpSpPr>
          <p:cNvPr id="7" name="Group 4">
            <a:extLst>
              <a:ext uri="{FF2B5EF4-FFF2-40B4-BE49-F238E27FC236}">
                <a16:creationId xmlns:a16="http://schemas.microsoft.com/office/drawing/2014/main" id="{95D906A4-7E20-328A-5AD6-5F5E82946B39}"/>
              </a:ext>
            </a:extLst>
          </p:cNvPr>
          <p:cNvGrpSpPr/>
          <p:nvPr/>
        </p:nvGrpSpPr>
        <p:grpSpPr>
          <a:xfrm>
            <a:off x="9992616" y="31119"/>
            <a:ext cx="1872270" cy="1245240"/>
            <a:chOff x="0" y="0"/>
            <a:chExt cx="1981200" cy="1625600"/>
          </a:xfrm>
        </p:grpSpPr>
        <p:sp>
          <p:nvSpPr>
            <p:cNvPr id="8" name="Freeform 5">
              <a:extLst>
                <a:ext uri="{FF2B5EF4-FFF2-40B4-BE49-F238E27FC236}">
                  <a16:creationId xmlns:a16="http://schemas.microsoft.com/office/drawing/2014/main" id="{F4E133E1-6A9D-A7C5-6D4B-38E03C368723}"/>
                </a:ext>
              </a:extLst>
            </p:cNvPr>
            <p:cNvSpPr/>
            <p:nvPr/>
          </p:nvSpPr>
          <p:spPr>
            <a:xfrm>
              <a:off x="0" y="0"/>
              <a:ext cx="1981200" cy="1625600"/>
            </a:xfrm>
            <a:custGeom>
              <a:avLst/>
              <a:gdLst/>
              <a:ahLst/>
              <a:cxnLst/>
              <a:rect l="l" t="t" r="r" b="b"/>
              <a:pathLst>
                <a:path w="1981200" h="1625600">
                  <a:moveTo>
                    <a:pt x="0" y="0"/>
                  </a:moveTo>
                  <a:lnTo>
                    <a:pt x="1981200" y="0"/>
                  </a:lnTo>
                  <a:lnTo>
                    <a:pt x="1981200" y="1625600"/>
                  </a:lnTo>
                  <a:lnTo>
                    <a:pt x="0" y="1625600"/>
                  </a:lnTo>
                  <a:lnTo>
                    <a:pt x="0" y="0"/>
                  </a:lnTo>
                  <a:close/>
                </a:path>
              </a:pathLst>
            </a:custGeom>
            <a:blipFill>
              <a:blip r:embed="rId3"/>
              <a:stretch>
                <a:fillRect/>
              </a:stretch>
            </a:blipFill>
          </p:spPr>
        </p:sp>
      </p:grpSp>
      <p:grpSp>
        <p:nvGrpSpPr>
          <p:cNvPr id="9" name="Group 6">
            <a:extLst>
              <a:ext uri="{FF2B5EF4-FFF2-40B4-BE49-F238E27FC236}">
                <a16:creationId xmlns:a16="http://schemas.microsoft.com/office/drawing/2014/main" id="{8910A298-EA0B-B76B-E0D7-D4D05A56FB8C}"/>
              </a:ext>
            </a:extLst>
          </p:cNvPr>
          <p:cNvGrpSpPr/>
          <p:nvPr/>
        </p:nvGrpSpPr>
        <p:grpSpPr>
          <a:xfrm>
            <a:off x="5285663" y="199566"/>
            <a:ext cx="3812814" cy="709234"/>
            <a:chOff x="0" y="0"/>
            <a:chExt cx="4343400" cy="901700"/>
          </a:xfrm>
        </p:grpSpPr>
        <p:sp>
          <p:nvSpPr>
            <p:cNvPr id="10" name="Freeform 7">
              <a:extLst>
                <a:ext uri="{FF2B5EF4-FFF2-40B4-BE49-F238E27FC236}">
                  <a16:creationId xmlns:a16="http://schemas.microsoft.com/office/drawing/2014/main" id="{F20632BE-7D9D-EA90-975D-DE372630EB65}"/>
                </a:ext>
              </a:extLst>
            </p:cNvPr>
            <p:cNvSpPr/>
            <p:nvPr/>
          </p:nvSpPr>
          <p:spPr>
            <a:xfrm>
              <a:off x="0" y="0"/>
              <a:ext cx="4343400" cy="901700"/>
            </a:xfrm>
            <a:custGeom>
              <a:avLst/>
              <a:gdLst/>
              <a:ahLst/>
              <a:cxnLst/>
              <a:rect l="l" t="t" r="r" b="b"/>
              <a:pathLst>
                <a:path w="4343400" h="901700">
                  <a:moveTo>
                    <a:pt x="0" y="0"/>
                  </a:moveTo>
                  <a:lnTo>
                    <a:pt x="4343400" y="0"/>
                  </a:lnTo>
                  <a:lnTo>
                    <a:pt x="4343400" y="901700"/>
                  </a:lnTo>
                  <a:lnTo>
                    <a:pt x="0" y="901700"/>
                  </a:lnTo>
                  <a:lnTo>
                    <a:pt x="0" y="0"/>
                  </a:lnTo>
                  <a:close/>
                </a:path>
              </a:pathLst>
            </a:custGeom>
            <a:blipFill>
              <a:blip r:embed="rId4"/>
              <a:stretch>
                <a:fillRect/>
              </a:stretch>
            </a:blipFill>
          </p:spPr>
        </p:sp>
      </p:grpSp>
      <p:sp>
        <p:nvSpPr>
          <p:cNvPr id="15" name="TextBox 9">
            <a:extLst>
              <a:ext uri="{FF2B5EF4-FFF2-40B4-BE49-F238E27FC236}">
                <a16:creationId xmlns:a16="http://schemas.microsoft.com/office/drawing/2014/main" id="{A537F143-7C95-3F9E-7047-7661DB54166E}"/>
              </a:ext>
            </a:extLst>
          </p:cNvPr>
          <p:cNvSpPr txBox="1"/>
          <p:nvPr/>
        </p:nvSpPr>
        <p:spPr>
          <a:xfrm>
            <a:off x="2535480" y="1902456"/>
            <a:ext cx="7644625" cy="4678204"/>
          </a:xfrm>
          <a:prstGeom prst="rect">
            <a:avLst/>
          </a:prstGeom>
        </p:spPr>
        <p:txBody>
          <a:bodyPr wrap="square" lIns="0" tIns="0" rIns="0" bIns="0" rtlCol="0" anchor="t">
            <a:spAutoFit/>
          </a:bodyPr>
          <a:lstStyle/>
          <a:p>
            <a:pPr algn="ctr"/>
            <a:r>
              <a:rPr lang="en-US" sz="16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Glacial Indifference"/>
              </a:rPr>
              <a:t>MATERIA:</a:t>
            </a:r>
          </a:p>
          <a:p>
            <a:pPr algn="ctr"/>
            <a:r>
              <a:rPr lang="en-US" sz="16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Glacial Indifference"/>
              </a:rPr>
              <a:t>SIMULACIÓN</a:t>
            </a:r>
          </a:p>
          <a:p>
            <a:pPr algn="ctr"/>
            <a:endParaRPr lang="en-US" sz="16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Glacial Indifference"/>
            </a:endParaRPr>
          </a:p>
          <a:p>
            <a:pPr algn="ctr"/>
            <a:r>
              <a:rPr lang="en-US" sz="16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Glacial Indifference"/>
              </a:rPr>
              <a:t>SEMESTRE: </a:t>
            </a:r>
          </a:p>
          <a:p>
            <a:pPr algn="ctr"/>
            <a:r>
              <a:rPr lang="en-US" sz="16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Glacial Indifference"/>
              </a:rPr>
              <a:t>SEPTIMO SEMESTRE </a:t>
            </a:r>
          </a:p>
          <a:p>
            <a:pPr algn="ctr"/>
            <a:endParaRPr lang="en-US" sz="16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Glacial Indifference"/>
            </a:endParaRPr>
          </a:p>
          <a:p>
            <a:pPr algn="ctr"/>
            <a:r>
              <a:rPr lang="en-US" sz="16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Glacial Indifference"/>
              </a:rPr>
              <a:t>ESPECIALIDAD:</a:t>
            </a:r>
          </a:p>
          <a:p>
            <a:pPr algn="ctr"/>
            <a:r>
              <a:rPr lang="en-US" sz="16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Glacial Indifference"/>
              </a:rPr>
              <a:t> INGENIERÍA EN SISTEMAS COMPUTACIONALES.</a:t>
            </a:r>
          </a:p>
          <a:p>
            <a:pPr algn="ctr"/>
            <a:endParaRPr lang="en-US" sz="16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Glacial Indifference"/>
            </a:endParaRPr>
          </a:p>
          <a:p>
            <a:pPr algn="ctr"/>
            <a:r>
              <a:rPr lang="en-US" sz="16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Glacial Indifference"/>
              </a:rPr>
              <a:t>NOMBRE DEL ALUMNO:</a:t>
            </a:r>
          </a:p>
          <a:p>
            <a:pPr algn="ctr"/>
            <a:r>
              <a:rPr lang="en-US" sz="16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Glacial Indifference"/>
              </a:rPr>
              <a:t>SIMONE BELEN LOPEZ RAMIREZ / 231260010</a:t>
            </a:r>
          </a:p>
          <a:p>
            <a:pPr algn="ctr"/>
            <a:endParaRPr lang="en-US" sz="16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Glacial Indifference"/>
            </a:endParaRPr>
          </a:p>
          <a:p>
            <a:pPr algn="ctr"/>
            <a:r>
              <a:rPr lang="en-US" sz="16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Glacial Indifference"/>
              </a:rPr>
              <a:t> NOMBRE DEL DOCENTE: </a:t>
            </a:r>
          </a:p>
          <a:p>
            <a:pPr algn="ctr"/>
            <a:r>
              <a:rPr lang="en-US" sz="16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Glacial Indifference"/>
              </a:rPr>
              <a:t>ING. FRANCISCO JAVIER MINGO VELAZQUEZ </a:t>
            </a:r>
          </a:p>
          <a:p>
            <a:pPr algn="ctr"/>
            <a:endParaRPr lang="en-US" sz="16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Glacial Indifference"/>
            </a:endParaRPr>
          </a:p>
          <a:p>
            <a:pPr algn="ctr"/>
            <a:r>
              <a:rPr lang="en-US" sz="16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Glacial Indifference"/>
              </a:rPr>
              <a:t>NOMBRE DEL TRABAJO:</a:t>
            </a:r>
          </a:p>
          <a:p>
            <a:pPr algn="ctr"/>
            <a:r>
              <a:rPr lang="en-US" sz="16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Glacial Indifference"/>
              </a:rPr>
              <a:t>3.2  REPORTE DE PRACTICA  </a:t>
            </a:r>
          </a:p>
          <a:p>
            <a:pPr algn="ctr"/>
            <a:endParaRPr lang="en-US" sz="16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Glacial Indifference"/>
            </a:endParaRPr>
          </a:p>
          <a:p>
            <a:pPr algn="ctr"/>
            <a:r>
              <a:rPr lang="en-US" sz="16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Glacial Indifference"/>
              </a:rPr>
              <a:t> FRONTERA COMALAPA, CHIAPAS. A 09 DE SEPTIEMBRE DEL 2026.</a:t>
            </a:r>
          </a:p>
        </p:txBody>
      </p:sp>
      <p:sp>
        <p:nvSpPr>
          <p:cNvPr id="16" name="TextBox 8">
            <a:extLst>
              <a:ext uri="{FF2B5EF4-FFF2-40B4-BE49-F238E27FC236}">
                <a16:creationId xmlns:a16="http://schemas.microsoft.com/office/drawing/2014/main" id="{BFCF2299-CECC-2EF8-65CD-65D4C0942098}"/>
              </a:ext>
            </a:extLst>
          </p:cNvPr>
          <p:cNvSpPr txBox="1"/>
          <p:nvPr/>
        </p:nvSpPr>
        <p:spPr>
          <a:xfrm>
            <a:off x="2199384" y="1149738"/>
            <a:ext cx="8356475" cy="709233"/>
          </a:xfrm>
          <a:prstGeom prst="rect">
            <a:avLst/>
          </a:prstGeom>
        </p:spPr>
        <p:txBody>
          <a:bodyPr wrap="square" lIns="0" tIns="0" rIns="0" bIns="0" rtlCol="0" anchor="t">
            <a:spAutoFit/>
          </a:bodyPr>
          <a:lstStyle/>
          <a:p>
            <a:pPr algn="ctr">
              <a:lnSpc>
                <a:spcPts val="2908"/>
              </a:lnSpc>
            </a:pPr>
            <a:r>
              <a:rPr lang="en-US" sz="16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Glacial Indifference"/>
              </a:rPr>
              <a:t>INSTITUTO TECNOLÓGICO DE FRONTERA COMALAPA </a:t>
            </a:r>
          </a:p>
          <a:p>
            <a:pPr algn="ctr">
              <a:lnSpc>
                <a:spcPts val="2908"/>
              </a:lnSpc>
            </a:pPr>
            <a:r>
              <a:rPr lang="en-US" sz="16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Glacial Indifference"/>
              </a:rPr>
              <a:t>MODALIDAD MIXTA</a:t>
            </a:r>
          </a:p>
        </p:txBody>
      </p:sp>
    </p:spTree>
    <p:extLst>
      <p:ext uri="{BB962C8B-B14F-4D97-AF65-F5344CB8AC3E}">
        <p14:creationId xmlns:p14="http://schemas.microsoft.com/office/powerpoint/2010/main" val="15202230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795D3D0-8382-BF42-1B13-B77B649259DC}"/>
              </a:ext>
            </a:extLst>
          </p:cNvPr>
          <p:cNvSpPr>
            <a:spLocks noGrp="1"/>
          </p:cNvSpPr>
          <p:nvPr>
            <p:ph type="title"/>
          </p:nvPr>
        </p:nvSpPr>
        <p:spPr/>
        <p:txBody>
          <a:bodyPr/>
          <a:lstStyle/>
          <a:p>
            <a:r>
              <a:rPr lang="es-MX" b="1" dirty="0"/>
              <a:t>Introducción</a:t>
            </a:r>
            <a:br>
              <a:rPr lang="es-MX" b="1" dirty="0"/>
            </a:br>
            <a:endParaRPr lang="es-MX" dirty="0"/>
          </a:p>
        </p:txBody>
      </p:sp>
      <p:sp>
        <p:nvSpPr>
          <p:cNvPr id="3" name="Marcador de contenido 2">
            <a:extLst>
              <a:ext uri="{FF2B5EF4-FFF2-40B4-BE49-F238E27FC236}">
                <a16:creationId xmlns:a16="http://schemas.microsoft.com/office/drawing/2014/main" id="{56E62A0B-F3AF-8B5F-E978-EB6093EF7552}"/>
              </a:ext>
            </a:extLst>
          </p:cNvPr>
          <p:cNvSpPr>
            <a:spLocks noGrp="1"/>
          </p:cNvSpPr>
          <p:nvPr>
            <p:ph idx="1"/>
          </p:nvPr>
        </p:nvSpPr>
        <p:spPr>
          <a:xfrm>
            <a:off x="2852425" y="1716946"/>
            <a:ext cx="6487150" cy="3424107"/>
          </a:xfrm>
        </p:spPr>
        <p:txBody>
          <a:bodyPr>
            <a:normAutofit/>
          </a:bodyPr>
          <a:lstStyle/>
          <a:p>
            <a:pPr marL="0" indent="0" algn="just">
              <a:buNone/>
            </a:pPr>
            <a:r>
              <a:rPr lang="es-MX" sz="1600" dirty="0">
                <a:latin typeface="Calibri" panose="020F0502020204030204" pitchFamily="34" charset="0"/>
                <a:ea typeface="Calibri" panose="020F0502020204030204" pitchFamily="34" charset="0"/>
                <a:cs typeface="Calibri" panose="020F0502020204030204" pitchFamily="34" charset="0"/>
              </a:rPr>
              <a:t>L</a:t>
            </a:r>
            <a:r>
              <a:rPr lang="es-MX" sz="1600" cap="none" dirty="0">
                <a:latin typeface="Calibri" panose="020F0502020204030204" pitchFamily="34" charset="0"/>
                <a:ea typeface="Calibri" panose="020F0502020204030204" pitchFamily="34" charset="0"/>
                <a:cs typeface="Calibri" panose="020F0502020204030204" pitchFamily="34" charset="0"/>
              </a:rPr>
              <a:t>as variables aleatorias permiten representar situaciones cuyos resultados pueden cambiar, como la decisión de un cliente de comprar o el tiempo que tarda en recibir atención. en esta práctica desarrollé programas en java, </a:t>
            </a:r>
            <a:r>
              <a:rPr lang="es-MX" sz="1600" cap="none" dirty="0" err="1">
                <a:latin typeface="Calibri" panose="020F0502020204030204" pitchFamily="34" charset="0"/>
                <a:ea typeface="Calibri" panose="020F0502020204030204" pitchFamily="34" charset="0"/>
                <a:cs typeface="Calibri" panose="020F0502020204030204" pitchFamily="34" charset="0"/>
              </a:rPr>
              <a:t>python</a:t>
            </a:r>
            <a:r>
              <a:rPr lang="es-MX" sz="1600" cap="none" dirty="0">
                <a:latin typeface="Calibri" panose="020F0502020204030204" pitchFamily="34" charset="0"/>
                <a:ea typeface="Calibri" panose="020F0502020204030204" pitchFamily="34" charset="0"/>
                <a:cs typeface="Calibri" panose="020F0502020204030204" pitchFamily="34" charset="0"/>
              </a:rPr>
              <a:t> y </a:t>
            </a:r>
            <a:r>
              <a:rPr lang="es-MX" sz="1600" cap="none" dirty="0" err="1">
                <a:latin typeface="Calibri" panose="020F0502020204030204" pitchFamily="34" charset="0"/>
                <a:ea typeface="Calibri" panose="020F0502020204030204" pitchFamily="34" charset="0"/>
                <a:cs typeface="Calibri" panose="020F0502020204030204" pitchFamily="34" charset="0"/>
              </a:rPr>
              <a:t>rstudio</a:t>
            </a:r>
            <a:r>
              <a:rPr lang="es-MX" sz="1600" cap="none" dirty="0">
                <a:latin typeface="Calibri" panose="020F0502020204030204" pitchFamily="34" charset="0"/>
                <a:ea typeface="Calibri" panose="020F0502020204030204" pitchFamily="34" charset="0"/>
                <a:cs typeface="Calibri" panose="020F0502020204030204" pitchFamily="34" charset="0"/>
              </a:rPr>
              <a:t> para simular estas situaciones mediante diferentes métodos de generación. además, apliqué una prueba estadística para revisar cómo se distribuyen los números obtenidos y comprender mejor su uso en la simulación.</a:t>
            </a:r>
          </a:p>
        </p:txBody>
      </p:sp>
    </p:spTree>
    <p:extLst>
      <p:ext uri="{BB962C8B-B14F-4D97-AF65-F5344CB8AC3E}">
        <p14:creationId xmlns:p14="http://schemas.microsoft.com/office/powerpoint/2010/main" val="9109855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86B1812-48C9-9738-90C1-3F83DCE13786}"/>
              </a:ext>
            </a:extLst>
          </p:cNvPr>
          <p:cNvSpPr>
            <a:spLocks noGrp="1"/>
          </p:cNvSpPr>
          <p:nvPr>
            <p:ph type="title"/>
          </p:nvPr>
        </p:nvSpPr>
        <p:spPr/>
        <p:txBody>
          <a:bodyPr/>
          <a:lstStyle/>
          <a:p>
            <a:r>
              <a:rPr lang="es-MX" b="1" dirty="0"/>
              <a:t>Justificación</a:t>
            </a:r>
            <a:br>
              <a:rPr lang="es-MX" b="1" dirty="0"/>
            </a:br>
            <a:endParaRPr lang="es-MX" dirty="0"/>
          </a:p>
        </p:txBody>
      </p:sp>
      <p:sp>
        <p:nvSpPr>
          <p:cNvPr id="3" name="Marcador de contenido 2">
            <a:extLst>
              <a:ext uri="{FF2B5EF4-FFF2-40B4-BE49-F238E27FC236}">
                <a16:creationId xmlns:a16="http://schemas.microsoft.com/office/drawing/2014/main" id="{3BBC1B7C-B0C5-BC42-58B5-1A33659DB575}"/>
              </a:ext>
            </a:extLst>
          </p:cNvPr>
          <p:cNvSpPr>
            <a:spLocks noGrp="1"/>
          </p:cNvSpPr>
          <p:nvPr>
            <p:ph idx="1"/>
          </p:nvPr>
        </p:nvSpPr>
        <p:spPr>
          <a:xfrm>
            <a:off x="3357249" y="1716946"/>
            <a:ext cx="5920101" cy="3424107"/>
          </a:xfrm>
        </p:spPr>
        <p:txBody>
          <a:bodyPr>
            <a:normAutofit/>
          </a:bodyPr>
          <a:lstStyle/>
          <a:p>
            <a:pPr marL="0" indent="0" algn="just">
              <a:buNone/>
            </a:pPr>
            <a:r>
              <a:rPr lang="es-MX" sz="1600" dirty="0">
                <a:latin typeface="Calibri" panose="020F0502020204030204" pitchFamily="34" charset="0"/>
                <a:ea typeface="Calibri" panose="020F0502020204030204" pitchFamily="34" charset="0"/>
                <a:cs typeface="Calibri" panose="020F0502020204030204" pitchFamily="34" charset="0"/>
              </a:rPr>
              <a:t>R</a:t>
            </a:r>
            <a:r>
              <a:rPr lang="es-MX" sz="1600" cap="none" dirty="0">
                <a:latin typeface="Calibri" panose="020F0502020204030204" pitchFamily="34" charset="0"/>
                <a:ea typeface="Calibri" panose="020F0502020204030204" pitchFamily="34" charset="0"/>
                <a:cs typeface="Calibri" panose="020F0502020204030204" pitchFamily="34" charset="0"/>
              </a:rPr>
              <a:t>ealicé esta práctica para comprender cómo los números pseudoaleatorios pueden representar situaciones que cambian, como las compras de los clientes y los tiempos de atención. al trabajar con java, </a:t>
            </a:r>
            <a:r>
              <a:rPr lang="es-MX" sz="1600" cap="none" dirty="0" err="1">
                <a:latin typeface="Calibri" panose="020F0502020204030204" pitchFamily="34" charset="0"/>
                <a:ea typeface="Calibri" panose="020F0502020204030204" pitchFamily="34" charset="0"/>
                <a:cs typeface="Calibri" panose="020F0502020204030204" pitchFamily="34" charset="0"/>
              </a:rPr>
              <a:t>python</a:t>
            </a:r>
            <a:r>
              <a:rPr lang="es-MX" sz="1600" cap="none" dirty="0">
                <a:latin typeface="Calibri" panose="020F0502020204030204" pitchFamily="34" charset="0"/>
                <a:ea typeface="Calibri" panose="020F0502020204030204" pitchFamily="34" charset="0"/>
                <a:cs typeface="Calibri" panose="020F0502020204030204" pitchFamily="34" charset="0"/>
              </a:rPr>
              <a:t> y </a:t>
            </a:r>
            <a:r>
              <a:rPr lang="es-MX" sz="1600" cap="none" dirty="0" err="1">
                <a:latin typeface="Calibri" panose="020F0502020204030204" pitchFamily="34" charset="0"/>
                <a:ea typeface="Calibri" panose="020F0502020204030204" pitchFamily="34" charset="0"/>
                <a:cs typeface="Calibri" panose="020F0502020204030204" pitchFamily="34" charset="0"/>
              </a:rPr>
              <a:t>rstudio</a:t>
            </a:r>
            <a:r>
              <a:rPr lang="es-MX" sz="1600" cap="none" dirty="0">
                <a:latin typeface="Calibri" panose="020F0502020204030204" pitchFamily="34" charset="0"/>
                <a:ea typeface="Calibri" panose="020F0502020204030204" pitchFamily="34" charset="0"/>
                <a:cs typeface="Calibri" panose="020F0502020204030204" pitchFamily="34" charset="0"/>
              </a:rPr>
              <a:t>, pude aplicar los mismos conceptos en distintos lenguajes y observar sus resultados. la prueba de uniformidad también me ayudó a entender por qué es necesario revisar los números generados antes de utilizarlos en una simulación.</a:t>
            </a:r>
          </a:p>
        </p:txBody>
      </p:sp>
    </p:spTree>
    <p:extLst>
      <p:ext uri="{BB962C8B-B14F-4D97-AF65-F5344CB8AC3E}">
        <p14:creationId xmlns:p14="http://schemas.microsoft.com/office/powerpoint/2010/main" val="21686754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9">
            <a:extLst>
              <a:ext uri="{FF2B5EF4-FFF2-40B4-BE49-F238E27FC236}">
                <a16:creationId xmlns:a16="http://schemas.microsoft.com/office/drawing/2014/main" id="{7127AE64-BC41-8207-DE01-DA26CD0219CD}"/>
              </a:ext>
            </a:extLst>
          </p:cNvPr>
          <p:cNvSpPr>
            <a:spLocks noChangeArrowheads="1"/>
          </p:cNvSpPr>
          <p:nvPr/>
        </p:nvSpPr>
        <p:spPr bwMode="auto">
          <a:xfrm>
            <a:off x="3305636" y="114308"/>
            <a:ext cx="8886363" cy="3428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s-MX"/>
          </a:p>
        </p:txBody>
      </p:sp>
      <p:sp>
        <p:nvSpPr>
          <p:cNvPr id="6" name="CuadroTexto 5">
            <a:extLst>
              <a:ext uri="{FF2B5EF4-FFF2-40B4-BE49-F238E27FC236}">
                <a16:creationId xmlns:a16="http://schemas.microsoft.com/office/drawing/2014/main" id="{09E02B4D-48B5-4385-9BBA-F87A3969C768}"/>
              </a:ext>
            </a:extLst>
          </p:cNvPr>
          <p:cNvSpPr txBox="1"/>
          <p:nvPr/>
        </p:nvSpPr>
        <p:spPr>
          <a:xfrm>
            <a:off x="990600" y="314336"/>
            <a:ext cx="10010775" cy="2585323"/>
          </a:xfrm>
          <a:prstGeom prst="rect">
            <a:avLst/>
          </a:prstGeom>
          <a:noFill/>
        </p:spPr>
        <p:txBody>
          <a:bodyPr wrap="square">
            <a:spAutoFit/>
          </a:bodyPr>
          <a:lstStyle/>
          <a:p>
            <a:pPr algn="just"/>
            <a:r>
              <a:rPr lang="es-MX" b="1" dirty="0"/>
              <a:t>Variable discreta: lanzamiento de un dado en R</a:t>
            </a:r>
            <a:r>
              <a:rPr lang="es-MX" dirty="0"/>
              <a:t>.</a:t>
            </a:r>
          </a:p>
          <a:p>
            <a:r>
              <a:rPr lang="es-MX" dirty="0"/>
              <a:t>Simulé 12 lanzamientos de un dado, donde cada resultado puede ser un número entero del 1 al 6. Se trata de una variable discreta porque solo tiene seis valores posibles. Utilicé la semilla 150 para repetir los resultados y permití repeticiones, como ocurre al lanzar un dado varias veces.</a:t>
            </a:r>
          </a:p>
          <a:p>
            <a:r>
              <a:rPr lang="es-MX" dirty="0"/>
              <a:t>El promedio de los resultados fue de 4.08. Las caras 3 y 5 aparecieron cuatro veces cada una, mientras que la cara 2 no apareció. Esto puede suceder en una muestra pequeña, aunque todas las caras tengan la misma probabilidad. La tabla de frecuencias me permitió identificar cuántas veces salió cada número.</a:t>
            </a:r>
          </a:p>
          <a:p>
            <a:pPr algn="just"/>
            <a:endParaRPr lang="es-MX" dirty="0"/>
          </a:p>
          <a:p>
            <a:pPr algn="just"/>
            <a:endParaRPr lang="es-MX" dirty="0"/>
          </a:p>
        </p:txBody>
      </p:sp>
      <p:pic>
        <p:nvPicPr>
          <p:cNvPr id="9" name="Imagen 8">
            <a:extLst>
              <a:ext uri="{FF2B5EF4-FFF2-40B4-BE49-F238E27FC236}">
                <a16:creationId xmlns:a16="http://schemas.microsoft.com/office/drawing/2014/main" id="{737E28A5-66C4-4678-B6DE-BB7017C86A55}"/>
              </a:ext>
            </a:extLst>
          </p:cNvPr>
          <p:cNvPicPr>
            <a:picLocks noChangeAspect="1"/>
          </p:cNvPicPr>
          <p:nvPr/>
        </p:nvPicPr>
        <p:blipFill>
          <a:blip r:embed="rId2"/>
          <a:stretch>
            <a:fillRect/>
          </a:stretch>
        </p:blipFill>
        <p:spPr>
          <a:xfrm>
            <a:off x="2304966" y="2585495"/>
            <a:ext cx="7791534" cy="4158197"/>
          </a:xfrm>
          <a:prstGeom prst="rect">
            <a:avLst/>
          </a:prstGeom>
        </p:spPr>
      </p:pic>
    </p:spTree>
    <p:extLst>
      <p:ext uri="{BB962C8B-B14F-4D97-AF65-F5344CB8AC3E}">
        <p14:creationId xmlns:p14="http://schemas.microsoft.com/office/powerpoint/2010/main" val="6218701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3">
            <a:extLst>
              <a:ext uri="{FF2B5EF4-FFF2-40B4-BE49-F238E27FC236}">
                <a16:creationId xmlns:a16="http://schemas.microsoft.com/office/drawing/2014/main" id="{C351BC62-4AB9-FDCF-6A98-8FD53AE6EF79}"/>
              </a:ext>
            </a:extLst>
          </p:cNvPr>
          <p:cNvSpPr>
            <a:spLocks noChangeArrowheads="1"/>
          </p:cNvSpPr>
          <p:nvPr/>
        </p:nvSpPr>
        <p:spPr bwMode="auto">
          <a:xfrm>
            <a:off x="2436518" y="238036"/>
            <a:ext cx="7874979"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765175" algn="l"/>
              </a:tabLst>
              <a:defRPr>
                <a:solidFill>
                  <a:schemeClr val="tx1"/>
                </a:solidFill>
                <a:latin typeface="Arial" panose="020B0604020202020204" pitchFamily="34" charset="0"/>
              </a:defRPr>
            </a:lvl1pPr>
            <a:lvl2pPr eaLnBrk="0" fontAlgn="base" hangingPunct="0">
              <a:spcBef>
                <a:spcPct val="0"/>
              </a:spcBef>
              <a:spcAft>
                <a:spcPct val="0"/>
              </a:spcAft>
              <a:tabLst>
                <a:tab pos="765175" algn="l"/>
              </a:tabLst>
              <a:defRPr>
                <a:solidFill>
                  <a:schemeClr val="tx1"/>
                </a:solidFill>
                <a:latin typeface="Arial" panose="020B0604020202020204" pitchFamily="34" charset="0"/>
              </a:defRPr>
            </a:lvl2pPr>
            <a:lvl3pPr eaLnBrk="0" fontAlgn="base" hangingPunct="0">
              <a:spcBef>
                <a:spcPct val="0"/>
              </a:spcBef>
              <a:spcAft>
                <a:spcPct val="0"/>
              </a:spcAft>
              <a:tabLst>
                <a:tab pos="765175" algn="l"/>
              </a:tabLst>
              <a:defRPr>
                <a:solidFill>
                  <a:schemeClr val="tx1"/>
                </a:solidFill>
                <a:latin typeface="Arial" panose="020B0604020202020204" pitchFamily="34" charset="0"/>
              </a:defRPr>
            </a:lvl3pPr>
            <a:lvl4pPr eaLnBrk="0" fontAlgn="base" hangingPunct="0">
              <a:spcBef>
                <a:spcPct val="0"/>
              </a:spcBef>
              <a:spcAft>
                <a:spcPct val="0"/>
              </a:spcAft>
              <a:tabLst>
                <a:tab pos="765175" algn="l"/>
              </a:tabLst>
              <a:defRPr>
                <a:solidFill>
                  <a:schemeClr val="tx1"/>
                </a:solidFill>
                <a:latin typeface="Arial" panose="020B0604020202020204" pitchFamily="34" charset="0"/>
              </a:defRPr>
            </a:lvl4pPr>
            <a:lvl5pPr eaLnBrk="0" fontAlgn="base" hangingPunct="0">
              <a:spcBef>
                <a:spcPct val="0"/>
              </a:spcBef>
              <a:spcAft>
                <a:spcPct val="0"/>
              </a:spcAft>
              <a:tabLst>
                <a:tab pos="765175" algn="l"/>
              </a:tabLst>
              <a:defRPr>
                <a:solidFill>
                  <a:schemeClr val="tx1"/>
                </a:solidFill>
                <a:latin typeface="Arial" panose="020B0604020202020204" pitchFamily="34" charset="0"/>
              </a:defRPr>
            </a:lvl5pPr>
            <a:lvl6pPr eaLnBrk="0" fontAlgn="base" hangingPunct="0">
              <a:spcBef>
                <a:spcPct val="0"/>
              </a:spcBef>
              <a:spcAft>
                <a:spcPct val="0"/>
              </a:spcAft>
              <a:tabLst>
                <a:tab pos="765175" algn="l"/>
              </a:tabLst>
              <a:defRPr>
                <a:solidFill>
                  <a:schemeClr val="tx1"/>
                </a:solidFill>
                <a:latin typeface="Arial" panose="020B0604020202020204" pitchFamily="34" charset="0"/>
              </a:defRPr>
            </a:lvl6pPr>
            <a:lvl7pPr eaLnBrk="0" fontAlgn="base" hangingPunct="0">
              <a:spcBef>
                <a:spcPct val="0"/>
              </a:spcBef>
              <a:spcAft>
                <a:spcPct val="0"/>
              </a:spcAft>
              <a:tabLst>
                <a:tab pos="765175" algn="l"/>
              </a:tabLst>
              <a:defRPr>
                <a:solidFill>
                  <a:schemeClr val="tx1"/>
                </a:solidFill>
                <a:latin typeface="Arial" panose="020B0604020202020204" pitchFamily="34" charset="0"/>
              </a:defRPr>
            </a:lvl7pPr>
            <a:lvl8pPr eaLnBrk="0" fontAlgn="base" hangingPunct="0">
              <a:spcBef>
                <a:spcPct val="0"/>
              </a:spcBef>
              <a:spcAft>
                <a:spcPct val="0"/>
              </a:spcAft>
              <a:tabLst>
                <a:tab pos="765175" algn="l"/>
              </a:tabLst>
              <a:defRPr>
                <a:solidFill>
                  <a:schemeClr val="tx1"/>
                </a:solidFill>
                <a:latin typeface="Arial" panose="020B0604020202020204" pitchFamily="34" charset="0"/>
              </a:defRPr>
            </a:lvl8pPr>
            <a:lvl9pPr eaLnBrk="0" fontAlgn="base" hangingPunct="0">
              <a:spcBef>
                <a:spcPct val="0"/>
              </a:spcBef>
              <a:spcAft>
                <a:spcPct val="0"/>
              </a:spcAft>
              <a:tabLst>
                <a:tab pos="765175" algn="l"/>
              </a:tabLst>
              <a:defRPr>
                <a:solidFill>
                  <a:schemeClr val="tx1"/>
                </a:solidFill>
                <a:latin typeface="Arial" panose="020B0604020202020204" pitchFamily="34" charset="0"/>
              </a:defRPr>
            </a:lvl9pPr>
          </a:lstStyle>
          <a:p>
            <a:pPr algn="just"/>
            <a:r>
              <a:rPr lang="es-MX" dirty="0"/>
              <a:t>Variable continua: tiempo de entrega en R</a:t>
            </a:r>
          </a:p>
          <a:p>
            <a:pPr algn="just"/>
            <a:endParaRPr lang="es-MX" dirty="0"/>
          </a:p>
          <a:p>
            <a:pPr algn="just"/>
            <a:endParaRPr lang="es-MX" dirty="0"/>
          </a:p>
          <a:p>
            <a:pPr marL="0" marR="0" lvl="0" indent="0" algn="just" defTabSz="914400" rtl="0" eaLnBrk="0" fontAlgn="base" latinLnBrk="0" hangingPunct="0">
              <a:lnSpc>
                <a:spcPct val="100000"/>
              </a:lnSpc>
              <a:spcBef>
                <a:spcPct val="0"/>
              </a:spcBef>
              <a:spcAft>
                <a:spcPct val="0"/>
              </a:spcAft>
              <a:buClrTx/>
              <a:buSzTx/>
              <a:buFontTx/>
              <a:buNone/>
              <a:tabLst>
                <a:tab pos="765175" algn="l"/>
              </a:tabLst>
            </a:pPr>
            <a:endParaRPr lang="es-MX" altLang="es-MX" dirty="0"/>
          </a:p>
        </p:txBody>
      </p:sp>
      <p:sp>
        <p:nvSpPr>
          <p:cNvPr id="17" name="Rectangle 19">
            <a:extLst>
              <a:ext uri="{FF2B5EF4-FFF2-40B4-BE49-F238E27FC236}">
                <a16:creationId xmlns:a16="http://schemas.microsoft.com/office/drawing/2014/main" id="{A9ABD7B3-EFE6-98B6-5F26-4DA66D7F7DFA}"/>
              </a:ext>
            </a:extLst>
          </p:cNvPr>
          <p:cNvSpPr>
            <a:spLocks noChangeArrowheads="1"/>
          </p:cNvSpPr>
          <p:nvPr/>
        </p:nvSpPr>
        <p:spPr bwMode="auto">
          <a:xfrm>
            <a:off x="0" y="457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MX"/>
          </a:p>
        </p:txBody>
      </p:sp>
      <p:pic>
        <p:nvPicPr>
          <p:cNvPr id="10" name="Imagen 9">
            <a:extLst>
              <a:ext uri="{FF2B5EF4-FFF2-40B4-BE49-F238E27FC236}">
                <a16:creationId xmlns:a16="http://schemas.microsoft.com/office/drawing/2014/main" id="{F3D01CCF-2933-4062-A34A-03431144A181}"/>
              </a:ext>
            </a:extLst>
          </p:cNvPr>
          <p:cNvPicPr>
            <a:picLocks noChangeAspect="1"/>
          </p:cNvPicPr>
          <p:nvPr/>
        </p:nvPicPr>
        <p:blipFill>
          <a:blip r:embed="rId2"/>
          <a:stretch>
            <a:fillRect/>
          </a:stretch>
        </p:blipFill>
        <p:spPr>
          <a:xfrm>
            <a:off x="2436518" y="2765524"/>
            <a:ext cx="7318964" cy="3970643"/>
          </a:xfrm>
          <a:prstGeom prst="rect">
            <a:avLst/>
          </a:prstGeom>
        </p:spPr>
      </p:pic>
      <p:sp>
        <p:nvSpPr>
          <p:cNvPr id="19" name="Rectangle 4">
            <a:extLst>
              <a:ext uri="{FF2B5EF4-FFF2-40B4-BE49-F238E27FC236}">
                <a16:creationId xmlns:a16="http://schemas.microsoft.com/office/drawing/2014/main" id="{7DEF4646-0527-448A-B60D-33F117F27CB8}"/>
              </a:ext>
            </a:extLst>
          </p:cNvPr>
          <p:cNvSpPr>
            <a:spLocks noChangeArrowheads="1"/>
          </p:cNvSpPr>
          <p:nvPr/>
        </p:nvSpPr>
        <p:spPr bwMode="auto">
          <a:xfrm>
            <a:off x="1604962" y="823436"/>
            <a:ext cx="9896475"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lang="es-MX" altLang="es-MX"/>
              <a:t>Simulé ocho tiempos de entrega entre 10 y 20 minutos. Los generé con la función runif(), que permite obtener valores dentro de ese intervalo. Estos tiempos representan una variable continua porque pueden incluir decimales, como 12.5 o 18.3 minutos.</a:t>
            </a:r>
          </a:p>
          <a:p>
            <a:pPr marL="0" marR="0" lvl="0" indent="0" algn="just" defTabSz="914400" rtl="0" eaLnBrk="0" fontAlgn="base" latinLnBrk="0" hangingPunct="0">
              <a:lnSpc>
                <a:spcPct val="100000"/>
              </a:lnSpc>
              <a:spcBef>
                <a:spcPct val="0"/>
              </a:spcBef>
              <a:spcAft>
                <a:spcPct val="0"/>
              </a:spcAft>
              <a:buClrTx/>
              <a:buSzTx/>
              <a:buFontTx/>
              <a:buNone/>
              <a:tabLst/>
            </a:pPr>
            <a:r>
              <a:rPr lang="es-MX" altLang="es-MX"/>
              <a:t>También calculé el promedio para conocer el tiempo medio de las entregas simuladas. Usé la semilla 160 para poder repetir los mismos resultados al ejecutar nuevamente el código.</a:t>
            </a:r>
          </a:p>
        </p:txBody>
      </p:sp>
    </p:spTree>
    <p:extLst>
      <p:ext uri="{BB962C8B-B14F-4D97-AF65-F5344CB8AC3E}">
        <p14:creationId xmlns:p14="http://schemas.microsoft.com/office/powerpoint/2010/main" val="20711566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ítulo 6">
            <a:extLst>
              <a:ext uri="{FF2B5EF4-FFF2-40B4-BE49-F238E27FC236}">
                <a16:creationId xmlns:a16="http://schemas.microsoft.com/office/drawing/2014/main" id="{1DB22BF8-CC59-4633-9741-AF760023AE61}"/>
              </a:ext>
            </a:extLst>
          </p:cNvPr>
          <p:cNvSpPr>
            <a:spLocks noGrp="1"/>
          </p:cNvSpPr>
          <p:nvPr>
            <p:ph type="title"/>
          </p:nvPr>
        </p:nvSpPr>
        <p:spPr>
          <a:xfrm>
            <a:off x="2571900" y="0"/>
            <a:ext cx="6781650" cy="215800"/>
          </a:xfrm>
        </p:spPr>
        <p:txBody>
          <a:bodyPr>
            <a:normAutofit fontScale="90000"/>
          </a:bodyPr>
          <a:lstStyle/>
          <a:p>
            <a:br>
              <a:rPr lang="es-MX" dirty="0"/>
            </a:br>
            <a:endParaRPr lang="es-MX" sz="1600" b="1" dirty="0">
              <a:latin typeface="Calibri" panose="020F0502020204030204" pitchFamily="34" charset="0"/>
              <a:ea typeface="Calibri" panose="020F0502020204030204" pitchFamily="34" charset="0"/>
              <a:cs typeface="Calibri" panose="020F0502020204030204" pitchFamily="34" charset="0"/>
            </a:endParaRPr>
          </a:p>
        </p:txBody>
      </p:sp>
      <p:sp>
        <p:nvSpPr>
          <p:cNvPr id="12" name="Rectangle 1">
            <a:extLst>
              <a:ext uri="{FF2B5EF4-FFF2-40B4-BE49-F238E27FC236}">
                <a16:creationId xmlns:a16="http://schemas.microsoft.com/office/drawing/2014/main" id="{E8FBFE25-E68A-49C1-B8F1-02864E4EC93E}"/>
              </a:ext>
            </a:extLst>
          </p:cNvPr>
          <p:cNvSpPr>
            <a:spLocks noChangeArrowheads="1"/>
          </p:cNvSpPr>
          <p:nvPr/>
        </p:nvSpPr>
        <p:spPr bwMode="auto">
          <a:xfrm>
            <a:off x="1200150" y="411062"/>
            <a:ext cx="10687050"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s-MX" b="1" dirty="0"/>
              <a:t>Método de transformación inversa: tiempo de espera en R</a:t>
            </a:r>
            <a:r>
              <a:rPr lang="es-MX" dirty="0"/>
              <a:t>.</a:t>
            </a:r>
          </a:p>
          <a:p>
            <a:r>
              <a:rPr lang="es-MX" dirty="0"/>
              <a:t>Generé diez tiempos de espera mediante el método de transformación inversa. Primero obtuve números entre 0 y 1 y después los transformé con una fórmula para representar una distribución exponencial. Este modelo permite simular esperas cortas y algunas más largas.</a:t>
            </a:r>
          </a:p>
          <a:p>
            <a:r>
              <a:rPr lang="es-MX" dirty="0"/>
              <a:t>El promedio obtenido fue de 4.78 minutos, cercano a los 5 minutos establecidos en el modelo. Esto no significa que todas las esperas duren lo mismo: los resultados van desde aproximadamente 0.33 hasta 20.73 minutos. Usé la semilla 170 para poder repetir estos resultados.</a:t>
            </a:r>
          </a:p>
          <a:p>
            <a:pPr marL="0" marR="0" lvl="0" indent="0" algn="just" defTabSz="914400" rtl="0" eaLnBrk="0" fontAlgn="base" latinLnBrk="0" hangingPunct="0">
              <a:lnSpc>
                <a:spcPct val="100000"/>
              </a:lnSpc>
              <a:spcBef>
                <a:spcPct val="0"/>
              </a:spcBef>
              <a:spcAft>
                <a:spcPct val="0"/>
              </a:spcAft>
              <a:buClrTx/>
              <a:buSzTx/>
              <a:buFontTx/>
              <a:buNone/>
              <a:tabLst/>
            </a:pPr>
            <a:endParaRPr lang="es-MX" altLang="es-MX" dirty="0">
              <a:latin typeface="Calibri" panose="020F0502020204030204" pitchFamily="34" charset="0"/>
              <a:ea typeface="Calibri" panose="020F0502020204030204" pitchFamily="34" charset="0"/>
              <a:cs typeface="Calibri" panose="020F0502020204030204" pitchFamily="34" charset="0"/>
            </a:endParaRPr>
          </a:p>
        </p:txBody>
      </p:sp>
      <p:pic>
        <p:nvPicPr>
          <p:cNvPr id="14" name="Imagen 13">
            <a:extLst>
              <a:ext uri="{FF2B5EF4-FFF2-40B4-BE49-F238E27FC236}">
                <a16:creationId xmlns:a16="http://schemas.microsoft.com/office/drawing/2014/main" id="{5616C74C-3798-486F-BB91-491AD41608CA}"/>
              </a:ext>
            </a:extLst>
          </p:cNvPr>
          <p:cNvPicPr>
            <a:picLocks noChangeAspect="1"/>
          </p:cNvPicPr>
          <p:nvPr/>
        </p:nvPicPr>
        <p:blipFill>
          <a:blip r:embed="rId2"/>
          <a:stretch>
            <a:fillRect/>
          </a:stretch>
        </p:blipFill>
        <p:spPr>
          <a:xfrm>
            <a:off x="2247901" y="2835737"/>
            <a:ext cx="7534274" cy="4099243"/>
          </a:xfrm>
          <a:prstGeom prst="rect">
            <a:avLst/>
          </a:prstGeom>
        </p:spPr>
      </p:pic>
    </p:spTree>
    <p:extLst>
      <p:ext uri="{BB962C8B-B14F-4D97-AF65-F5344CB8AC3E}">
        <p14:creationId xmlns:p14="http://schemas.microsoft.com/office/powerpoint/2010/main" val="18902212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1">
            <a:extLst>
              <a:ext uri="{FF2B5EF4-FFF2-40B4-BE49-F238E27FC236}">
                <a16:creationId xmlns:a16="http://schemas.microsoft.com/office/drawing/2014/main" id="{09A9F6B2-5513-498F-A283-74E7AD41766C}"/>
              </a:ext>
            </a:extLst>
          </p:cNvPr>
          <p:cNvSpPr>
            <a:spLocks noGrp="1" noChangeArrowheads="1"/>
          </p:cNvSpPr>
          <p:nvPr>
            <p:ph type="title"/>
          </p:nvPr>
        </p:nvSpPr>
        <p:spPr bwMode="auto">
          <a:xfrm>
            <a:off x="2871628" y="289196"/>
            <a:ext cx="8101172" cy="24745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s-MX" sz="1600" b="1" dirty="0">
                <a:latin typeface="Calibri" panose="020F0502020204030204" pitchFamily="34" charset="0"/>
                <a:ea typeface="Calibri" panose="020F0502020204030204" pitchFamily="34" charset="0"/>
                <a:cs typeface="Calibri" panose="020F0502020204030204" pitchFamily="34" charset="0"/>
              </a:rPr>
              <a:t>Método de convolución: aproximación a una distribución normal en R</a:t>
            </a:r>
            <a:br>
              <a:rPr lang="es-MX" sz="1600" b="1" dirty="0">
                <a:latin typeface="Calibri" panose="020F0502020204030204" pitchFamily="34" charset="0"/>
                <a:ea typeface="Calibri" panose="020F0502020204030204" pitchFamily="34" charset="0"/>
                <a:cs typeface="Calibri" panose="020F0502020204030204" pitchFamily="34" charset="0"/>
              </a:rPr>
            </a:br>
            <a:br>
              <a:rPr lang="es-MX" sz="1600" dirty="0">
                <a:latin typeface="Calibri" panose="020F0502020204030204" pitchFamily="34" charset="0"/>
                <a:ea typeface="Calibri" panose="020F0502020204030204" pitchFamily="34" charset="0"/>
                <a:cs typeface="Calibri" panose="020F0502020204030204" pitchFamily="34" charset="0"/>
              </a:rPr>
            </a:br>
            <a:r>
              <a:rPr lang="es-MX" sz="1600" dirty="0">
                <a:latin typeface="Calibri" panose="020F0502020204030204" pitchFamily="34" charset="0"/>
                <a:ea typeface="Calibri" panose="020F0502020204030204" pitchFamily="34" charset="0"/>
                <a:cs typeface="Calibri" panose="020F0502020204030204" pitchFamily="34" charset="0"/>
              </a:rPr>
              <a:t>Generé diez valores sumando, para cada uno, doce números pseudoaleatorios entre 0 y 1. Después resté 6 para centrar los resultados alrededor de cero. Este procedimiento permite aproximar una distribución normal, aunque no produce una normal exacta.</a:t>
            </a:r>
            <a:br>
              <a:rPr lang="es-MX" sz="1600" dirty="0">
                <a:latin typeface="Calibri" panose="020F0502020204030204" pitchFamily="34" charset="0"/>
                <a:ea typeface="Calibri" panose="020F0502020204030204" pitchFamily="34" charset="0"/>
                <a:cs typeface="Calibri" panose="020F0502020204030204" pitchFamily="34" charset="0"/>
              </a:rPr>
            </a:br>
            <a:r>
              <a:rPr lang="es-MX" sz="1600" dirty="0">
                <a:latin typeface="Calibri" panose="020F0502020204030204" pitchFamily="34" charset="0"/>
                <a:ea typeface="Calibri" panose="020F0502020204030204" pitchFamily="34" charset="0"/>
                <a:cs typeface="Calibri" panose="020F0502020204030204" pitchFamily="34" charset="0"/>
              </a:rPr>
              <a:t>Obtuve valores positivos y negativos, con un promedio de −0.06, cercano a cero. Los números representan valores matemáticos, por lo que pueden ser negativos. Usé la semilla 180 para repetir los mismos resultados al ejecutar el código.</a:t>
            </a:r>
            <a:br>
              <a:rPr lang="es-MX" sz="900" dirty="0"/>
            </a:br>
            <a:br>
              <a:rPr lang="es-MX" sz="1400" cap="none" dirty="0">
                <a:latin typeface="Calibri" panose="020F0502020204030204" pitchFamily="34" charset="0"/>
                <a:ea typeface="Calibri" panose="020F0502020204030204" pitchFamily="34" charset="0"/>
                <a:cs typeface="Calibri" panose="020F0502020204030204" pitchFamily="34" charset="0"/>
              </a:rPr>
            </a:br>
            <a:endParaRPr lang="es-MX" altLang="es-MX" sz="1400" cap="none" dirty="0">
              <a:latin typeface="Calibri" panose="020F0502020204030204" pitchFamily="34" charset="0"/>
              <a:ea typeface="Calibri" panose="020F0502020204030204" pitchFamily="34" charset="0"/>
              <a:cs typeface="Calibri" panose="020F0502020204030204" pitchFamily="34" charset="0"/>
            </a:endParaRPr>
          </a:p>
        </p:txBody>
      </p:sp>
      <p:pic>
        <p:nvPicPr>
          <p:cNvPr id="12" name="Imagen 11">
            <a:extLst>
              <a:ext uri="{FF2B5EF4-FFF2-40B4-BE49-F238E27FC236}">
                <a16:creationId xmlns:a16="http://schemas.microsoft.com/office/drawing/2014/main" id="{CCBD5C67-CFCE-4656-8D11-CF0ABF40DC23}"/>
              </a:ext>
            </a:extLst>
          </p:cNvPr>
          <p:cNvPicPr>
            <a:picLocks noChangeAspect="1"/>
          </p:cNvPicPr>
          <p:nvPr/>
        </p:nvPicPr>
        <p:blipFill>
          <a:blip r:embed="rId2"/>
          <a:stretch>
            <a:fillRect/>
          </a:stretch>
        </p:blipFill>
        <p:spPr>
          <a:xfrm>
            <a:off x="2790826" y="2922038"/>
            <a:ext cx="7229474" cy="3935962"/>
          </a:xfrm>
          <a:prstGeom prst="rect">
            <a:avLst/>
          </a:prstGeom>
        </p:spPr>
      </p:pic>
    </p:spTree>
    <p:extLst>
      <p:ext uri="{BB962C8B-B14F-4D97-AF65-F5344CB8AC3E}">
        <p14:creationId xmlns:p14="http://schemas.microsoft.com/office/powerpoint/2010/main" val="30129324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27209B5-B337-4F54-B9F0-C1A8A4AAB045}"/>
              </a:ext>
            </a:extLst>
          </p:cNvPr>
          <p:cNvSpPr>
            <a:spLocks noGrp="1"/>
          </p:cNvSpPr>
          <p:nvPr>
            <p:ph type="title"/>
          </p:nvPr>
        </p:nvSpPr>
        <p:spPr>
          <a:xfrm>
            <a:off x="2686051" y="476250"/>
            <a:ext cx="6572249" cy="1834517"/>
          </a:xfrm>
        </p:spPr>
        <p:txBody>
          <a:bodyPr>
            <a:noAutofit/>
          </a:bodyPr>
          <a:lstStyle/>
          <a:p>
            <a:br>
              <a:rPr lang="es-MX" sz="1600" dirty="0">
                <a:latin typeface="Calibri" panose="020F0502020204030204" pitchFamily="34" charset="0"/>
                <a:ea typeface="Calibri" panose="020F0502020204030204" pitchFamily="34" charset="0"/>
                <a:cs typeface="Calibri" panose="020F0502020204030204" pitchFamily="34" charset="0"/>
              </a:rPr>
            </a:br>
            <a:br>
              <a:rPr lang="es-MX" sz="1400" cap="none" dirty="0">
                <a:latin typeface="Calibri" panose="020F0502020204030204" pitchFamily="34" charset="0"/>
                <a:ea typeface="Calibri" panose="020F0502020204030204" pitchFamily="34" charset="0"/>
                <a:cs typeface="Calibri" panose="020F0502020204030204" pitchFamily="34" charset="0"/>
              </a:rPr>
            </a:br>
            <a:r>
              <a:rPr lang="es-MX" sz="1400" b="1" dirty="0">
                <a:latin typeface="Calibri" panose="020F0502020204030204" pitchFamily="34" charset="0"/>
                <a:ea typeface="Calibri" panose="020F0502020204030204" pitchFamily="34" charset="0"/>
                <a:cs typeface="Calibri" panose="020F0502020204030204" pitchFamily="34" charset="0"/>
              </a:rPr>
              <a:t>Método de composición: tiempos de servicio en R</a:t>
            </a:r>
            <a:r>
              <a:rPr lang="es-MX" sz="1400" dirty="0">
                <a:latin typeface="Calibri" panose="020F0502020204030204" pitchFamily="34" charset="0"/>
                <a:ea typeface="Calibri" panose="020F0502020204030204" pitchFamily="34" charset="0"/>
                <a:cs typeface="Calibri" panose="020F0502020204030204" pitchFamily="34" charset="0"/>
              </a:rPr>
              <a:t>.</a:t>
            </a:r>
            <a:br>
              <a:rPr lang="es-MX" sz="1400" dirty="0">
                <a:latin typeface="Calibri" panose="020F0502020204030204" pitchFamily="34" charset="0"/>
                <a:ea typeface="Calibri" panose="020F0502020204030204" pitchFamily="34" charset="0"/>
                <a:cs typeface="Calibri" panose="020F0502020204030204" pitchFamily="34" charset="0"/>
              </a:rPr>
            </a:br>
            <a:r>
              <a:rPr lang="es-MX" sz="1400" dirty="0">
                <a:latin typeface="Calibri" panose="020F0502020204030204" pitchFamily="34" charset="0"/>
                <a:ea typeface="Calibri" panose="020F0502020204030204" pitchFamily="34" charset="0"/>
                <a:cs typeface="Calibri" panose="020F0502020204030204" pitchFamily="34" charset="0"/>
              </a:rPr>
              <a:t>Debajo escribe:</a:t>
            </a:r>
            <a:br>
              <a:rPr lang="es-MX" sz="1400" dirty="0">
                <a:latin typeface="Calibri" panose="020F0502020204030204" pitchFamily="34" charset="0"/>
                <a:ea typeface="Calibri" panose="020F0502020204030204" pitchFamily="34" charset="0"/>
                <a:cs typeface="Calibri" panose="020F0502020204030204" pitchFamily="34" charset="0"/>
              </a:rPr>
            </a:br>
            <a:r>
              <a:rPr lang="es-MX" sz="1400" dirty="0">
                <a:latin typeface="Calibri" panose="020F0502020204030204" pitchFamily="34" charset="0"/>
                <a:ea typeface="Calibri" panose="020F0502020204030204" pitchFamily="34" charset="0"/>
                <a:cs typeface="Calibri" panose="020F0502020204030204" pitchFamily="34" charset="0"/>
              </a:rPr>
              <a:t>Simulé los tiempos de servicio de diez clientes combinando dos distribuciones. Para cada cliente, el programa eligió una distribución exponencial con una probabilidad del 60 %, o una uniforme entre 4 y 8 minutos con una probabilidad del 40 %. Así representé servicios con diferentes comportamientos.</a:t>
            </a:r>
            <a:br>
              <a:rPr lang="es-MX" sz="1400" dirty="0">
                <a:latin typeface="Calibri" panose="020F0502020204030204" pitchFamily="34" charset="0"/>
                <a:ea typeface="Calibri" panose="020F0502020204030204" pitchFamily="34" charset="0"/>
                <a:cs typeface="Calibri" panose="020F0502020204030204" pitchFamily="34" charset="0"/>
              </a:rPr>
            </a:br>
            <a:r>
              <a:rPr lang="es-MX" sz="1400" dirty="0">
                <a:latin typeface="Calibri" panose="020F0502020204030204" pitchFamily="34" charset="0"/>
                <a:ea typeface="Calibri" panose="020F0502020204030204" pitchFamily="34" charset="0"/>
                <a:cs typeface="Calibri" panose="020F0502020204030204" pitchFamily="34" charset="0"/>
              </a:rPr>
              <a:t>En esta ejecución obtuve cuatro tiempos exponenciales y seis uniformes, con un promedio de 6.26 minutos. Las cantidades no tienen que coincidir exactamente con los porcentajes porque la selección es aleatoria y son pocos clientes. Usé la semilla 190 para repetir los resultados.</a:t>
            </a:r>
            <a:br>
              <a:rPr lang="es-MX" sz="1000" dirty="0"/>
            </a:br>
            <a:br>
              <a:rPr lang="es-MX" sz="1600" cap="none" dirty="0">
                <a:latin typeface="Calibri" panose="020F0502020204030204" pitchFamily="34" charset="0"/>
                <a:ea typeface="Calibri" panose="020F0502020204030204" pitchFamily="34" charset="0"/>
                <a:cs typeface="Calibri" panose="020F0502020204030204" pitchFamily="34" charset="0"/>
              </a:rPr>
            </a:br>
            <a:endParaRPr lang="es-MX" sz="1600" cap="none" dirty="0">
              <a:latin typeface="Calibri" panose="020F0502020204030204" pitchFamily="34" charset="0"/>
              <a:ea typeface="Calibri" panose="020F0502020204030204" pitchFamily="34" charset="0"/>
              <a:cs typeface="Calibri" panose="020F0502020204030204" pitchFamily="34" charset="0"/>
            </a:endParaRPr>
          </a:p>
        </p:txBody>
      </p:sp>
      <p:pic>
        <p:nvPicPr>
          <p:cNvPr id="11" name="Imagen 10">
            <a:extLst>
              <a:ext uri="{FF2B5EF4-FFF2-40B4-BE49-F238E27FC236}">
                <a16:creationId xmlns:a16="http://schemas.microsoft.com/office/drawing/2014/main" id="{139C90C6-95DB-46E9-AA82-A6D588DB97AB}"/>
              </a:ext>
            </a:extLst>
          </p:cNvPr>
          <p:cNvPicPr>
            <a:picLocks noChangeAspect="1"/>
          </p:cNvPicPr>
          <p:nvPr/>
        </p:nvPicPr>
        <p:blipFill>
          <a:blip r:embed="rId2"/>
          <a:stretch>
            <a:fillRect/>
          </a:stretch>
        </p:blipFill>
        <p:spPr>
          <a:xfrm>
            <a:off x="2343634" y="2778079"/>
            <a:ext cx="7676666" cy="4024543"/>
          </a:xfrm>
          <a:prstGeom prst="rect">
            <a:avLst/>
          </a:prstGeom>
        </p:spPr>
      </p:pic>
    </p:spTree>
    <p:extLst>
      <p:ext uri="{BB962C8B-B14F-4D97-AF65-F5344CB8AC3E}">
        <p14:creationId xmlns:p14="http://schemas.microsoft.com/office/powerpoint/2010/main" val="27257418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Imagen 11">
            <a:extLst>
              <a:ext uri="{FF2B5EF4-FFF2-40B4-BE49-F238E27FC236}">
                <a16:creationId xmlns:a16="http://schemas.microsoft.com/office/drawing/2014/main" id="{D46173E2-616C-4482-9CFE-06D4588C3DCC}"/>
              </a:ext>
            </a:extLst>
          </p:cNvPr>
          <p:cNvPicPr>
            <a:picLocks noChangeAspect="1"/>
          </p:cNvPicPr>
          <p:nvPr/>
        </p:nvPicPr>
        <p:blipFill>
          <a:blip r:embed="rId2"/>
          <a:stretch>
            <a:fillRect/>
          </a:stretch>
        </p:blipFill>
        <p:spPr>
          <a:xfrm>
            <a:off x="2578962" y="2695575"/>
            <a:ext cx="7517538" cy="4019550"/>
          </a:xfrm>
          <a:prstGeom prst="rect">
            <a:avLst/>
          </a:prstGeom>
        </p:spPr>
      </p:pic>
      <p:sp>
        <p:nvSpPr>
          <p:cNvPr id="15" name="Rectangle 2">
            <a:extLst>
              <a:ext uri="{FF2B5EF4-FFF2-40B4-BE49-F238E27FC236}">
                <a16:creationId xmlns:a16="http://schemas.microsoft.com/office/drawing/2014/main" id="{00306CEE-3758-458F-91C8-7ACB1EC64FF3}"/>
              </a:ext>
            </a:extLst>
          </p:cNvPr>
          <p:cNvSpPr>
            <a:spLocks noChangeArrowheads="1"/>
          </p:cNvSpPr>
          <p:nvPr/>
        </p:nvSpPr>
        <p:spPr bwMode="auto">
          <a:xfrm>
            <a:off x="2352675" y="384513"/>
            <a:ext cx="8820149"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s-MX" altLang="es-MX" dirty="0"/>
              <a:t>Método de aceptación y rechazo en R</a:t>
            </a:r>
          </a:p>
          <a:p>
            <a:pPr marL="0" marR="0" lvl="0" indent="0" algn="ctr" defTabSz="914400" rtl="0" eaLnBrk="0" fontAlgn="base" latinLnBrk="0" hangingPunct="0">
              <a:lnSpc>
                <a:spcPct val="100000"/>
              </a:lnSpc>
              <a:spcBef>
                <a:spcPct val="0"/>
              </a:spcBef>
              <a:spcAft>
                <a:spcPct val="0"/>
              </a:spcAft>
              <a:buClrTx/>
              <a:buSzTx/>
              <a:buFontTx/>
              <a:buNone/>
              <a:tabLst/>
            </a:pPr>
            <a:r>
              <a:rPr lang="es-MX" altLang="es-MX" dirty="0"/>
              <a:t>Generé números entre 0 y 1 y apliqué una condición para decidir cuáles conservar. En cada intento obtuve dos números, llamados x y u, y acepté x cuando u fue menor o igual que 1 − x. Este procedimiento favorece los valores cercanos a cero.</a:t>
            </a:r>
          </a:p>
          <a:p>
            <a:pPr marL="0" marR="0" lvl="0" indent="0" algn="ctr" defTabSz="914400" rtl="0" eaLnBrk="0" fontAlgn="base" latinLnBrk="0" hangingPunct="0">
              <a:lnSpc>
                <a:spcPct val="100000"/>
              </a:lnSpc>
              <a:spcBef>
                <a:spcPct val="0"/>
              </a:spcBef>
              <a:spcAft>
                <a:spcPct val="0"/>
              </a:spcAft>
              <a:buClrTx/>
              <a:buSzTx/>
              <a:buFontTx/>
              <a:buNone/>
              <a:tabLst/>
            </a:pPr>
            <a:r>
              <a:rPr lang="es-MX" altLang="es-MX" dirty="0"/>
              <a:t>El programa continuó hasta reunir diez valores aceptados. Necesitó 17 intentos y rechazó siete valores que no cumplieron la condición. El promedio obtenido fue de 0.3896 y usé la semilla 200 para poder repetir los resultados.</a:t>
            </a:r>
          </a:p>
        </p:txBody>
      </p:sp>
    </p:spTree>
    <p:extLst>
      <p:ext uri="{BB962C8B-B14F-4D97-AF65-F5344CB8AC3E}">
        <p14:creationId xmlns:p14="http://schemas.microsoft.com/office/powerpoint/2010/main" val="21888433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9224D9D-86D4-467A-B23F-C5DFBB91CB14}"/>
              </a:ext>
            </a:extLst>
          </p:cNvPr>
          <p:cNvSpPr>
            <a:spLocks noGrp="1"/>
          </p:cNvSpPr>
          <p:nvPr>
            <p:ph type="title"/>
          </p:nvPr>
        </p:nvSpPr>
        <p:spPr>
          <a:xfrm>
            <a:off x="2495549" y="266700"/>
            <a:ext cx="8039100" cy="2236364"/>
          </a:xfrm>
        </p:spPr>
        <p:txBody>
          <a:bodyPr>
            <a:noAutofit/>
          </a:bodyPr>
          <a:lstStyle/>
          <a:p>
            <a:r>
              <a:rPr lang="es-MX" sz="1400" b="1" dirty="0">
                <a:latin typeface="Calibri" panose="020F0502020204030204" pitchFamily="34" charset="0"/>
                <a:ea typeface="Calibri" panose="020F0502020204030204" pitchFamily="34" charset="0"/>
                <a:cs typeface="Calibri" panose="020F0502020204030204" pitchFamily="34" charset="0"/>
              </a:rPr>
              <a:t>Prueba de uniformidad con chi-cuadrada en R</a:t>
            </a:r>
            <a:r>
              <a:rPr lang="es-MX" sz="1400" dirty="0">
                <a:latin typeface="Calibri" panose="020F0502020204030204" pitchFamily="34" charset="0"/>
                <a:ea typeface="Calibri" panose="020F0502020204030204" pitchFamily="34" charset="0"/>
                <a:cs typeface="Calibri" panose="020F0502020204030204" pitchFamily="34" charset="0"/>
              </a:rPr>
              <a:t>.</a:t>
            </a:r>
            <a:br>
              <a:rPr lang="es-MX" sz="1400" dirty="0">
                <a:latin typeface="Calibri" panose="020F0502020204030204" pitchFamily="34" charset="0"/>
                <a:ea typeface="Calibri" panose="020F0502020204030204" pitchFamily="34" charset="0"/>
                <a:cs typeface="Calibri" panose="020F0502020204030204" pitchFamily="34" charset="0"/>
              </a:rPr>
            </a:br>
            <a:br>
              <a:rPr lang="es-MX" sz="1400" dirty="0">
                <a:latin typeface="Calibri" panose="020F0502020204030204" pitchFamily="34" charset="0"/>
                <a:ea typeface="Calibri" panose="020F0502020204030204" pitchFamily="34" charset="0"/>
                <a:cs typeface="Calibri" panose="020F0502020204030204" pitchFamily="34" charset="0"/>
              </a:rPr>
            </a:br>
            <a:r>
              <a:rPr lang="es-MX" sz="1400" cap="none" dirty="0">
                <a:latin typeface="Calibri" panose="020F0502020204030204" pitchFamily="34" charset="0"/>
                <a:ea typeface="Calibri" panose="020F0502020204030204" pitchFamily="34" charset="0"/>
                <a:cs typeface="Calibri" panose="020F0502020204030204" pitchFamily="34" charset="0"/>
              </a:rPr>
              <a:t>Generé mil números pseudoaleatorios entre 0 y 1 y los agrupé en cinco intervalos iguales. después comparé las cantidades obtenidas con los 200 números esperados en cada intervalo mediante la prueba de chi-cuadrada.</a:t>
            </a:r>
            <a:br>
              <a:rPr lang="es-MX" sz="1400" cap="none" dirty="0">
                <a:latin typeface="Calibri" panose="020F0502020204030204" pitchFamily="34" charset="0"/>
                <a:ea typeface="Calibri" panose="020F0502020204030204" pitchFamily="34" charset="0"/>
                <a:cs typeface="Calibri" panose="020F0502020204030204" pitchFamily="34" charset="0"/>
              </a:rPr>
            </a:br>
            <a:r>
              <a:rPr lang="es-MX" sz="1400" cap="none" dirty="0">
                <a:latin typeface="Calibri" panose="020F0502020204030204" pitchFamily="34" charset="0"/>
                <a:ea typeface="Calibri" panose="020F0502020204030204" pitchFamily="34" charset="0"/>
                <a:cs typeface="Calibri" panose="020F0502020204030204" pitchFamily="34" charset="0"/>
              </a:rPr>
              <a:t>el resultado fue de 3.96, con un valor p de 0.4114. como este valor es mayor que 0.05, no encontré evidencia suficiente para rechazar la uniformidad. esto significa que los resultados son compatibles con una distribución uniforme, aunque no demuestra que los números sean perfectamente aleatorios.</a:t>
            </a:r>
            <a:br>
              <a:rPr lang="es-MX" sz="1000" dirty="0"/>
            </a:br>
            <a:br>
              <a:rPr lang="es-MX" sz="1600" dirty="0">
                <a:latin typeface="Calibri" panose="020F0502020204030204" pitchFamily="34" charset="0"/>
                <a:ea typeface="Calibri" panose="020F0502020204030204" pitchFamily="34" charset="0"/>
                <a:cs typeface="Calibri" panose="020F0502020204030204" pitchFamily="34" charset="0"/>
              </a:rPr>
            </a:br>
            <a:endParaRPr lang="es-MX" sz="1600" dirty="0">
              <a:latin typeface="Calibri" panose="020F0502020204030204" pitchFamily="34" charset="0"/>
              <a:ea typeface="Calibri" panose="020F0502020204030204" pitchFamily="34" charset="0"/>
              <a:cs typeface="Calibri" panose="020F0502020204030204" pitchFamily="34" charset="0"/>
            </a:endParaRPr>
          </a:p>
        </p:txBody>
      </p:sp>
      <p:pic>
        <p:nvPicPr>
          <p:cNvPr id="11" name="Imagen 10">
            <a:extLst>
              <a:ext uri="{FF2B5EF4-FFF2-40B4-BE49-F238E27FC236}">
                <a16:creationId xmlns:a16="http://schemas.microsoft.com/office/drawing/2014/main" id="{F70931FC-EDA8-4840-A356-B90AF076E6A8}"/>
              </a:ext>
            </a:extLst>
          </p:cNvPr>
          <p:cNvPicPr>
            <a:picLocks noChangeAspect="1"/>
          </p:cNvPicPr>
          <p:nvPr/>
        </p:nvPicPr>
        <p:blipFill>
          <a:blip r:embed="rId2"/>
          <a:stretch>
            <a:fillRect/>
          </a:stretch>
        </p:blipFill>
        <p:spPr>
          <a:xfrm>
            <a:off x="2135054" y="2097512"/>
            <a:ext cx="8760089" cy="4514850"/>
          </a:xfrm>
          <a:prstGeom prst="rect">
            <a:avLst/>
          </a:prstGeom>
        </p:spPr>
      </p:pic>
    </p:spTree>
    <p:extLst>
      <p:ext uri="{BB962C8B-B14F-4D97-AF65-F5344CB8AC3E}">
        <p14:creationId xmlns:p14="http://schemas.microsoft.com/office/powerpoint/2010/main" val="25627061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3166E91-A7E2-4193-8420-FA3A2DE60077}"/>
              </a:ext>
            </a:extLst>
          </p:cNvPr>
          <p:cNvSpPr>
            <a:spLocks noGrp="1"/>
          </p:cNvSpPr>
          <p:nvPr>
            <p:ph type="title"/>
          </p:nvPr>
        </p:nvSpPr>
        <p:spPr>
          <a:xfrm>
            <a:off x="3072288" y="1019174"/>
            <a:ext cx="6410324" cy="1490795"/>
          </a:xfrm>
        </p:spPr>
        <p:txBody>
          <a:bodyPr>
            <a:normAutofit fontScale="90000"/>
          </a:bodyPr>
          <a:lstStyle/>
          <a:p>
            <a:r>
              <a:rPr lang="es-MX" sz="1600" dirty="0">
                <a:latin typeface="Calibri" panose="020F0502020204030204" pitchFamily="34" charset="0"/>
                <a:ea typeface="Calibri" panose="020F0502020204030204" pitchFamily="34" charset="0"/>
                <a:cs typeface="Calibri" panose="020F0502020204030204" pitchFamily="34" charset="0"/>
              </a:rPr>
              <a:t>Variable discreta: lanzamiento de un dado en Python</a:t>
            </a:r>
            <a:br>
              <a:rPr lang="es-MX" sz="1600" dirty="0">
                <a:latin typeface="Calibri" panose="020F0502020204030204" pitchFamily="34" charset="0"/>
                <a:ea typeface="Calibri" panose="020F0502020204030204" pitchFamily="34" charset="0"/>
                <a:cs typeface="Calibri" panose="020F0502020204030204" pitchFamily="34" charset="0"/>
              </a:rPr>
            </a:br>
            <a:br>
              <a:rPr lang="es-MX" sz="1600" dirty="0">
                <a:latin typeface="Calibri" panose="020F0502020204030204" pitchFamily="34" charset="0"/>
                <a:ea typeface="Calibri" panose="020F0502020204030204" pitchFamily="34" charset="0"/>
                <a:cs typeface="Calibri" panose="020F0502020204030204" pitchFamily="34" charset="0"/>
              </a:rPr>
            </a:br>
            <a:r>
              <a:rPr lang="es-MX" sz="1600" dirty="0">
                <a:latin typeface="Calibri" panose="020F0502020204030204" pitchFamily="34" charset="0"/>
                <a:ea typeface="Calibri" panose="020F0502020204030204" pitchFamily="34" charset="0"/>
                <a:cs typeface="Calibri" panose="020F0502020204030204" pitchFamily="34" charset="0"/>
              </a:rPr>
              <a:t>S</a:t>
            </a:r>
            <a:r>
              <a:rPr lang="es-MX" sz="1600" cap="none" dirty="0">
                <a:latin typeface="Calibri" panose="020F0502020204030204" pitchFamily="34" charset="0"/>
                <a:ea typeface="Calibri" panose="020F0502020204030204" pitchFamily="34" charset="0"/>
                <a:cs typeface="Calibri" panose="020F0502020204030204" pitchFamily="34" charset="0"/>
              </a:rPr>
              <a:t>imulé doce lanzamientos de un dado, generando números enteros del 1 al 6. estos resultados representan una variable discreta porque solo pueden tomar seis valores específicos. usé la semilla 150 para poder repetir los mismos lanzamientos al ejecutar el programa.</a:t>
            </a:r>
            <a:br>
              <a:rPr lang="es-MX" sz="1600" cap="none" dirty="0">
                <a:latin typeface="Calibri" panose="020F0502020204030204" pitchFamily="34" charset="0"/>
                <a:ea typeface="Calibri" panose="020F0502020204030204" pitchFamily="34" charset="0"/>
                <a:cs typeface="Calibri" panose="020F0502020204030204" pitchFamily="34" charset="0"/>
              </a:rPr>
            </a:br>
            <a:r>
              <a:rPr lang="es-MX" sz="1600" cap="none" dirty="0">
                <a:latin typeface="Calibri" panose="020F0502020204030204" pitchFamily="34" charset="0"/>
                <a:ea typeface="Calibri" panose="020F0502020204030204" pitchFamily="34" charset="0"/>
                <a:cs typeface="Calibri" panose="020F0502020204030204" pitchFamily="34" charset="0"/>
              </a:rPr>
              <a:t>calculé el promedio, que fue de 3.0, y conté cuántas veces apareció cada cara. la cara 2 salió cuatro veces y la cara 5 no apareció. esto puede ocurrir en pocos lanzamientos, aunque todas las caras tengan la misma probabilidad.</a:t>
            </a:r>
            <a:br>
              <a:rPr lang="es-MX" sz="1600" cap="none" dirty="0">
                <a:latin typeface="Calibri" panose="020F0502020204030204" pitchFamily="34" charset="0"/>
                <a:ea typeface="Calibri" panose="020F0502020204030204" pitchFamily="34" charset="0"/>
                <a:cs typeface="Calibri" panose="020F0502020204030204" pitchFamily="34" charset="0"/>
              </a:rPr>
            </a:br>
            <a:br>
              <a:rPr lang="es-MX" sz="1050" cap="none" dirty="0"/>
            </a:br>
            <a:br>
              <a:rPr lang="es-MX" sz="1800" dirty="0">
                <a:latin typeface="Calibri" panose="020F0502020204030204" pitchFamily="34" charset="0"/>
                <a:ea typeface="Calibri" panose="020F0502020204030204" pitchFamily="34" charset="0"/>
                <a:cs typeface="Calibri" panose="020F0502020204030204" pitchFamily="34" charset="0"/>
              </a:rPr>
            </a:br>
            <a:br>
              <a:rPr lang="es-MX" sz="1800" cap="none" dirty="0"/>
            </a:br>
            <a:br>
              <a:rPr lang="es-MX" dirty="0"/>
            </a:br>
            <a:endParaRPr lang="es-MX" dirty="0"/>
          </a:p>
        </p:txBody>
      </p:sp>
      <p:pic>
        <p:nvPicPr>
          <p:cNvPr id="15" name="Imagen 14">
            <a:extLst>
              <a:ext uri="{FF2B5EF4-FFF2-40B4-BE49-F238E27FC236}">
                <a16:creationId xmlns:a16="http://schemas.microsoft.com/office/drawing/2014/main" id="{A09FDA1A-B6A3-42FF-B058-6B626F81F315}"/>
              </a:ext>
            </a:extLst>
          </p:cNvPr>
          <p:cNvPicPr>
            <a:picLocks noChangeAspect="1"/>
          </p:cNvPicPr>
          <p:nvPr/>
        </p:nvPicPr>
        <p:blipFill>
          <a:blip r:embed="rId2"/>
          <a:stretch>
            <a:fillRect/>
          </a:stretch>
        </p:blipFill>
        <p:spPr>
          <a:xfrm>
            <a:off x="1924134" y="2122460"/>
            <a:ext cx="8743865" cy="4451143"/>
          </a:xfrm>
          <a:prstGeom prst="rect">
            <a:avLst/>
          </a:prstGeom>
        </p:spPr>
      </p:pic>
    </p:spTree>
    <p:extLst>
      <p:ext uri="{BB962C8B-B14F-4D97-AF65-F5344CB8AC3E}">
        <p14:creationId xmlns:p14="http://schemas.microsoft.com/office/powerpoint/2010/main" val="40535461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636ED43-EAA7-4505-9952-95F2503F1640}"/>
              </a:ext>
            </a:extLst>
          </p:cNvPr>
          <p:cNvSpPr>
            <a:spLocks noGrp="1"/>
          </p:cNvSpPr>
          <p:nvPr>
            <p:ph type="title"/>
          </p:nvPr>
        </p:nvSpPr>
        <p:spPr>
          <a:xfrm>
            <a:off x="2305051" y="95250"/>
            <a:ext cx="6896100" cy="1967044"/>
          </a:xfrm>
        </p:spPr>
        <p:txBody>
          <a:bodyPr>
            <a:normAutofit fontScale="90000"/>
          </a:bodyPr>
          <a:lstStyle/>
          <a:p>
            <a:pPr algn="just"/>
            <a:r>
              <a:rPr lang="es-MX" sz="1600" dirty="0">
                <a:latin typeface="Calibri" panose="020F0502020204030204" pitchFamily="34" charset="0"/>
                <a:ea typeface="Calibri" panose="020F0502020204030204" pitchFamily="34" charset="0"/>
                <a:cs typeface="Calibri" panose="020F0502020204030204" pitchFamily="34" charset="0"/>
              </a:rPr>
              <a:t>Generé ocho tiempos de entrega entre 10 y 20 minutos. Estos tiempos pueden tener decimales porque una entrega puede tardar, por ejemplo, 11.23 minutos. Todos los valores dentro del intervalo tienen la misma posibilidad de generarse.</a:t>
            </a:r>
            <a:br>
              <a:rPr lang="es-MX" sz="1600" dirty="0">
                <a:latin typeface="Calibri" panose="020F0502020204030204" pitchFamily="34" charset="0"/>
                <a:ea typeface="Calibri" panose="020F0502020204030204" pitchFamily="34" charset="0"/>
                <a:cs typeface="Calibri" panose="020F0502020204030204" pitchFamily="34" charset="0"/>
              </a:rPr>
            </a:br>
            <a:r>
              <a:rPr lang="es-MX" sz="1600" dirty="0">
                <a:latin typeface="Calibri" panose="020F0502020204030204" pitchFamily="34" charset="0"/>
                <a:ea typeface="Calibri" panose="020F0502020204030204" pitchFamily="34" charset="0"/>
                <a:cs typeface="Calibri" panose="020F0502020204030204" pitchFamily="34" charset="0"/>
              </a:rPr>
              <a:t>Después calculé el promedio de los ocho tiempos y obtuve </a:t>
            </a:r>
            <a:r>
              <a:rPr lang="es-MX" sz="1600" b="1" dirty="0">
                <a:latin typeface="Calibri" panose="020F0502020204030204" pitchFamily="34" charset="0"/>
                <a:ea typeface="Calibri" panose="020F0502020204030204" pitchFamily="34" charset="0"/>
                <a:cs typeface="Calibri" panose="020F0502020204030204" pitchFamily="34" charset="0"/>
              </a:rPr>
              <a:t>14.78 minutos</a:t>
            </a:r>
            <a:r>
              <a:rPr lang="es-MX" sz="1600" dirty="0">
                <a:latin typeface="Calibri" panose="020F0502020204030204" pitchFamily="34" charset="0"/>
                <a:ea typeface="Calibri" panose="020F0502020204030204" pitchFamily="34" charset="0"/>
                <a:cs typeface="Calibri" panose="020F0502020204030204" pitchFamily="34" charset="0"/>
              </a:rPr>
              <a:t>. Este resultado representa el tiempo promedio de las entregas simuladas y permite estimar cuánto podrían tardar en una situación similar</a:t>
            </a:r>
            <a:r>
              <a:rPr lang="es-MX" sz="1600" dirty="0"/>
              <a:t>.</a:t>
            </a:r>
            <a:br>
              <a:rPr lang="es-MX" sz="1600" dirty="0"/>
            </a:br>
            <a:endParaRPr lang="es-MX" sz="1600" dirty="0"/>
          </a:p>
        </p:txBody>
      </p:sp>
      <p:pic>
        <p:nvPicPr>
          <p:cNvPr id="5" name="Marcador de contenido 4">
            <a:extLst>
              <a:ext uri="{FF2B5EF4-FFF2-40B4-BE49-F238E27FC236}">
                <a16:creationId xmlns:a16="http://schemas.microsoft.com/office/drawing/2014/main" id="{2360F48A-A123-4F11-BBBF-03A304543B82}"/>
              </a:ext>
            </a:extLst>
          </p:cNvPr>
          <p:cNvPicPr>
            <a:picLocks noGrp="1" noChangeAspect="1"/>
          </p:cNvPicPr>
          <p:nvPr>
            <p:ph idx="1"/>
          </p:nvPr>
        </p:nvPicPr>
        <p:blipFill>
          <a:blip r:embed="rId2"/>
          <a:stretch>
            <a:fillRect/>
          </a:stretch>
        </p:blipFill>
        <p:spPr>
          <a:xfrm>
            <a:off x="1700345" y="2062294"/>
            <a:ext cx="8791309" cy="4620955"/>
          </a:xfrm>
        </p:spPr>
      </p:pic>
    </p:spTree>
    <p:extLst>
      <p:ext uri="{BB962C8B-B14F-4D97-AF65-F5344CB8AC3E}">
        <p14:creationId xmlns:p14="http://schemas.microsoft.com/office/powerpoint/2010/main" val="13164713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BB8D8EC-9E9C-4E66-9FDE-04190B208E8E}"/>
              </a:ext>
            </a:extLst>
          </p:cNvPr>
          <p:cNvSpPr>
            <a:spLocks noGrp="1"/>
          </p:cNvSpPr>
          <p:nvPr>
            <p:ph type="title"/>
          </p:nvPr>
        </p:nvSpPr>
        <p:spPr>
          <a:xfrm>
            <a:off x="2971800" y="952500"/>
            <a:ext cx="7277726" cy="824044"/>
          </a:xfrm>
        </p:spPr>
        <p:txBody>
          <a:bodyPr>
            <a:noAutofit/>
          </a:bodyPr>
          <a:lstStyle/>
          <a:p>
            <a:pPr algn="just"/>
            <a:r>
              <a:rPr lang="es-MX" sz="1600" dirty="0"/>
              <a:t>Generé diez tiempos de espera a partir de números pseudoaleatorios mediante el método de transformación inversa. Con una fórmula convertí esos números en tiempos que siguen una distribución exponencial, la cual permite representar esperas cortas frecuentes y algunas más largas.</a:t>
            </a:r>
            <a:br>
              <a:rPr lang="es-MX" sz="1600" dirty="0"/>
            </a:br>
            <a:r>
              <a:rPr lang="es-MX" sz="1600" dirty="0"/>
              <a:t>El promedio obtenido fue de </a:t>
            </a:r>
            <a:r>
              <a:rPr lang="es-MX" sz="1600" b="1" dirty="0"/>
              <a:t>4.96 minutos</a:t>
            </a:r>
            <a:r>
              <a:rPr lang="es-MX" sz="1600" dirty="0"/>
              <a:t>. Algunos tiempos fueron menores a un minuto y otros superaron los diez minutos. Esto muestra cómo pueden variar las esperas, aunque el modelo tenga un promedio esperado de cinco minutos.</a:t>
            </a:r>
            <a:br>
              <a:rPr lang="es-MX" sz="1600" dirty="0"/>
            </a:br>
            <a:endParaRPr lang="es-MX" sz="1600" dirty="0"/>
          </a:p>
        </p:txBody>
      </p:sp>
      <p:pic>
        <p:nvPicPr>
          <p:cNvPr id="4" name="Marcador de contenido 4">
            <a:extLst>
              <a:ext uri="{FF2B5EF4-FFF2-40B4-BE49-F238E27FC236}">
                <a16:creationId xmlns:a16="http://schemas.microsoft.com/office/drawing/2014/main" id="{9C616ACC-6D61-4C48-A0FA-D43FFDE127CA}"/>
              </a:ext>
            </a:extLst>
          </p:cNvPr>
          <p:cNvPicPr>
            <a:picLocks noGrp="1" noChangeAspect="1"/>
          </p:cNvPicPr>
          <p:nvPr>
            <p:ph idx="1"/>
          </p:nvPr>
        </p:nvPicPr>
        <p:blipFill>
          <a:blip r:embed="rId2"/>
          <a:stretch>
            <a:fillRect/>
          </a:stretch>
        </p:blipFill>
        <p:spPr>
          <a:xfrm>
            <a:off x="2124341" y="2421960"/>
            <a:ext cx="8439510" cy="4436040"/>
          </a:xfrm>
        </p:spPr>
      </p:pic>
    </p:spTree>
    <p:extLst>
      <p:ext uri="{BB962C8B-B14F-4D97-AF65-F5344CB8AC3E}">
        <p14:creationId xmlns:p14="http://schemas.microsoft.com/office/powerpoint/2010/main" val="32260751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720E066-81E6-4416-BA35-6122BED3018C}"/>
              </a:ext>
            </a:extLst>
          </p:cNvPr>
          <p:cNvSpPr>
            <a:spLocks noGrp="1"/>
          </p:cNvSpPr>
          <p:nvPr>
            <p:ph type="title"/>
          </p:nvPr>
        </p:nvSpPr>
        <p:spPr>
          <a:xfrm>
            <a:off x="3028951" y="142196"/>
            <a:ext cx="5057774" cy="2533650"/>
          </a:xfrm>
        </p:spPr>
        <p:txBody>
          <a:bodyPr>
            <a:normAutofit/>
          </a:bodyPr>
          <a:lstStyle/>
          <a:p>
            <a:r>
              <a:rPr lang="es-MX" sz="1400" b="1" dirty="0">
                <a:latin typeface="Calibri" panose="020F0502020204030204" pitchFamily="34" charset="0"/>
                <a:ea typeface="Calibri" panose="020F0502020204030204" pitchFamily="34" charset="0"/>
                <a:cs typeface="Calibri" panose="020F0502020204030204" pitchFamily="34" charset="0"/>
              </a:rPr>
              <a:t>Prueba de uniformidad</a:t>
            </a:r>
            <a:br>
              <a:rPr lang="es-MX" sz="1400" dirty="0">
                <a:latin typeface="Calibri" panose="020F0502020204030204" pitchFamily="34" charset="0"/>
                <a:ea typeface="Calibri" panose="020F0502020204030204" pitchFamily="34" charset="0"/>
                <a:cs typeface="Calibri" panose="020F0502020204030204" pitchFamily="34" charset="0"/>
              </a:rPr>
            </a:br>
            <a:r>
              <a:rPr lang="es-MX" sz="1400" dirty="0">
                <a:latin typeface="Calibri" panose="020F0502020204030204" pitchFamily="34" charset="0"/>
                <a:ea typeface="Calibri" panose="020F0502020204030204" pitchFamily="34" charset="0"/>
                <a:cs typeface="Calibri" panose="020F0502020204030204" pitchFamily="34" charset="0"/>
              </a:rPr>
              <a:t>Generé mil números pseudoaleatorios entre cero y uno y los agrupé en cinco intervalos del mismo tamaño. Después comparé la cantidad de números de cada grupo con los </a:t>
            </a:r>
            <a:r>
              <a:rPr lang="es-MX" sz="1400" b="1" dirty="0">
                <a:latin typeface="Calibri" panose="020F0502020204030204" pitchFamily="34" charset="0"/>
                <a:ea typeface="Calibri" panose="020F0502020204030204" pitchFamily="34" charset="0"/>
                <a:cs typeface="Calibri" panose="020F0502020204030204" pitchFamily="34" charset="0"/>
              </a:rPr>
              <a:t>200 esperados por intervalo</a:t>
            </a:r>
            <a:r>
              <a:rPr lang="es-MX" sz="1400" dirty="0">
                <a:latin typeface="Calibri" panose="020F0502020204030204" pitchFamily="34" charset="0"/>
                <a:ea typeface="Calibri" panose="020F0502020204030204" pitchFamily="34" charset="0"/>
                <a:cs typeface="Calibri" panose="020F0502020204030204" pitchFamily="34" charset="0"/>
              </a:rPr>
              <a:t>, mediante la prueba de chi-cuadrada.</a:t>
            </a:r>
            <a:br>
              <a:rPr lang="es-MX" sz="1400" dirty="0">
                <a:latin typeface="Calibri" panose="020F0502020204030204" pitchFamily="34" charset="0"/>
                <a:ea typeface="Calibri" panose="020F0502020204030204" pitchFamily="34" charset="0"/>
                <a:cs typeface="Calibri" panose="020F0502020204030204" pitchFamily="34" charset="0"/>
              </a:rPr>
            </a:br>
            <a:r>
              <a:rPr lang="es-MX" sz="1400" dirty="0">
                <a:latin typeface="Calibri" panose="020F0502020204030204" pitchFamily="34" charset="0"/>
                <a:ea typeface="Calibri" panose="020F0502020204030204" pitchFamily="34" charset="0"/>
                <a:cs typeface="Calibri" panose="020F0502020204030204" pitchFamily="34" charset="0"/>
              </a:rPr>
              <a:t>Obtuve una chi-cuadrada de </a:t>
            </a:r>
            <a:r>
              <a:rPr lang="es-MX" sz="1400" b="1" dirty="0">
                <a:latin typeface="Calibri" panose="020F0502020204030204" pitchFamily="34" charset="0"/>
                <a:ea typeface="Calibri" panose="020F0502020204030204" pitchFamily="34" charset="0"/>
                <a:cs typeface="Calibri" panose="020F0502020204030204" pitchFamily="34" charset="0"/>
              </a:rPr>
              <a:t>5.52</a:t>
            </a:r>
            <a:r>
              <a:rPr lang="es-MX" sz="1400" dirty="0">
                <a:latin typeface="Calibri" panose="020F0502020204030204" pitchFamily="34" charset="0"/>
                <a:ea typeface="Calibri" panose="020F0502020204030204" pitchFamily="34" charset="0"/>
                <a:cs typeface="Calibri" panose="020F0502020204030204" pitchFamily="34" charset="0"/>
              </a:rPr>
              <a:t> y un valor p de </a:t>
            </a:r>
            <a:r>
              <a:rPr lang="es-MX" sz="1400" b="1" dirty="0">
                <a:latin typeface="Calibri" panose="020F0502020204030204" pitchFamily="34" charset="0"/>
                <a:ea typeface="Calibri" panose="020F0502020204030204" pitchFamily="34" charset="0"/>
                <a:cs typeface="Calibri" panose="020F0502020204030204" pitchFamily="34" charset="0"/>
              </a:rPr>
              <a:t>0.238</a:t>
            </a:r>
            <a:r>
              <a:rPr lang="es-MX" sz="1400" dirty="0">
                <a:latin typeface="Calibri" panose="020F0502020204030204" pitchFamily="34" charset="0"/>
                <a:ea typeface="Calibri" panose="020F0502020204030204" pitchFamily="34" charset="0"/>
                <a:cs typeface="Calibri" panose="020F0502020204030204" pitchFamily="34" charset="0"/>
              </a:rPr>
              <a:t>. Como este valor es mayor que 0.05, no rechacé la uniformidad: las diferencias observadas entre los grupos son compatibles con una distribución uniforme según esta prueba.</a:t>
            </a:r>
            <a:br>
              <a:rPr lang="es-MX" sz="1400" dirty="0"/>
            </a:br>
            <a:endParaRPr lang="es-MX" sz="1400" dirty="0"/>
          </a:p>
        </p:txBody>
      </p:sp>
      <p:pic>
        <p:nvPicPr>
          <p:cNvPr id="5" name="Marcador de contenido 4">
            <a:extLst>
              <a:ext uri="{FF2B5EF4-FFF2-40B4-BE49-F238E27FC236}">
                <a16:creationId xmlns:a16="http://schemas.microsoft.com/office/drawing/2014/main" id="{781C9D7B-39DC-4266-BD45-61C9442E625F}"/>
              </a:ext>
            </a:extLst>
          </p:cNvPr>
          <p:cNvPicPr>
            <a:picLocks noGrp="1" noChangeAspect="1"/>
          </p:cNvPicPr>
          <p:nvPr>
            <p:ph idx="1"/>
          </p:nvPr>
        </p:nvPicPr>
        <p:blipFill>
          <a:blip r:embed="rId2"/>
          <a:stretch>
            <a:fillRect/>
          </a:stretch>
        </p:blipFill>
        <p:spPr>
          <a:xfrm>
            <a:off x="2819400" y="2743200"/>
            <a:ext cx="6252550" cy="3991654"/>
          </a:xfrm>
        </p:spPr>
      </p:pic>
    </p:spTree>
    <p:extLst>
      <p:ext uri="{BB962C8B-B14F-4D97-AF65-F5344CB8AC3E}">
        <p14:creationId xmlns:p14="http://schemas.microsoft.com/office/powerpoint/2010/main" val="41662700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0FE2A2A-790E-677F-2565-9BEEFD32A52D}"/>
              </a:ext>
            </a:extLst>
          </p:cNvPr>
          <p:cNvSpPr>
            <a:spLocks noGrp="1"/>
          </p:cNvSpPr>
          <p:nvPr>
            <p:ph type="title"/>
          </p:nvPr>
        </p:nvSpPr>
        <p:spPr>
          <a:xfrm>
            <a:off x="913774" y="285141"/>
            <a:ext cx="10364451" cy="1596177"/>
          </a:xfrm>
        </p:spPr>
        <p:txBody>
          <a:bodyPr/>
          <a:lstStyle/>
          <a:p>
            <a:r>
              <a:rPr lang="es-MX" dirty="0"/>
              <a:t>Conclusión </a:t>
            </a:r>
          </a:p>
        </p:txBody>
      </p:sp>
      <p:sp>
        <p:nvSpPr>
          <p:cNvPr id="3" name="Marcador de contenido 2">
            <a:extLst>
              <a:ext uri="{FF2B5EF4-FFF2-40B4-BE49-F238E27FC236}">
                <a16:creationId xmlns:a16="http://schemas.microsoft.com/office/drawing/2014/main" id="{8EF6874C-05D6-03B6-F270-B04708EFE5D8}"/>
              </a:ext>
            </a:extLst>
          </p:cNvPr>
          <p:cNvSpPr>
            <a:spLocks noGrp="1"/>
          </p:cNvSpPr>
          <p:nvPr>
            <p:ph idx="1"/>
          </p:nvPr>
        </p:nvSpPr>
        <p:spPr>
          <a:xfrm>
            <a:off x="2143125" y="1881318"/>
            <a:ext cx="8163552" cy="3424107"/>
          </a:xfrm>
        </p:spPr>
        <p:txBody>
          <a:bodyPr>
            <a:normAutofit/>
          </a:bodyPr>
          <a:lstStyle/>
          <a:p>
            <a:pPr marL="0" indent="0" algn="just">
              <a:buNone/>
            </a:pPr>
            <a:r>
              <a:rPr lang="es-MX" sz="1400" cap="none" dirty="0">
                <a:latin typeface="Calibri" panose="020F0502020204030204" pitchFamily="34" charset="0"/>
                <a:ea typeface="Calibri" panose="020F0502020204030204" pitchFamily="34" charset="0"/>
                <a:cs typeface="Calibri" panose="020F0502020204030204" pitchFamily="34" charset="0"/>
              </a:rPr>
              <a:t>Con esta práctica comprendí cómo se generan los números pseudoaleatorios y cómo se pueden utilizar para representar situaciones como el lanzamiento de un dado, los tiempos de espera y la duración de una entrega. estos números se obtienen mediante algoritmos y permiten realizar simulaciones para estudiar distintos resultados</a:t>
            </a:r>
            <a:r>
              <a:rPr lang="es-MX" sz="1400" dirty="0"/>
              <a:t>.</a:t>
            </a:r>
            <a:endParaRPr lang="es-MX" sz="1600" cap="none"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459830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D5AE06C-DB4B-D47A-5033-09B34EA180D3}"/>
              </a:ext>
            </a:extLst>
          </p:cNvPr>
          <p:cNvSpPr>
            <a:spLocks noGrp="1"/>
          </p:cNvSpPr>
          <p:nvPr>
            <p:ph type="title"/>
          </p:nvPr>
        </p:nvSpPr>
        <p:spPr/>
        <p:txBody>
          <a:bodyPr/>
          <a:lstStyle/>
          <a:p>
            <a:r>
              <a:rPr lang="es-MX" dirty="0"/>
              <a:t>ANEXO LINK DE LA ACTIVIDAD SOLICITADA</a:t>
            </a:r>
          </a:p>
        </p:txBody>
      </p:sp>
      <p:sp>
        <p:nvSpPr>
          <p:cNvPr id="3" name="Marcador de contenido 2">
            <a:extLst>
              <a:ext uri="{FF2B5EF4-FFF2-40B4-BE49-F238E27FC236}">
                <a16:creationId xmlns:a16="http://schemas.microsoft.com/office/drawing/2014/main" id="{04B7A01D-7DBC-3D2C-2A8F-6560E4BAEACC}"/>
              </a:ext>
            </a:extLst>
          </p:cNvPr>
          <p:cNvSpPr>
            <a:spLocks noGrp="1"/>
          </p:cNvSpPr>
          <p:nvPr>
            <p:ph idx="1"/>
          </p:nvPr>
        </p:nvSpPr>
        <p:spPr>
          <a:xfrm>
            <a:off x="685175" y="2309943"/>
            <a:ext cx="10364452" cy="3424107"/>
          </a:xfrm>
        </p:spPr>
        <p:txBody>
          <a:bodyPr/>
          <a:lstStyle/>
          <a:p>
            <a:pPr marL="0" indent="0">
              <a:buNone/>
            </a:pPr>
            <a:r>
              <a:rPr lang="es-MX" dirty="0">
                <a:hlinkClick r:id="rId2"/>
              </a:rPr>
              <a:t>https://github.com/lopezramirezsimone-cyber/practica-numeros-pseudoaleatorios.git</a:t>
            </a:r>
          </a:p>
          <a:p>
            <a:pPr marL="0" indent="0">
              <a:buNone/>
            </a:pPr>
            <a:endParaRPr lang="es-MX" dirty="0">
              <a:hlinkClick r:id="rId2"/>
            </a:endParaRPr>
          </a:p>
        </p:txBody>
      </p:sp>
    </p:spTree>
    <p:extLst>
      <p:ext uri="{BB962C8B-B14F-4D97-AF65-F5344CB8AC3E}">
        <p14:creationId xmlns:p14="http://schemas.microsoft.com/office/powerpoint/2010/main" val="1434526284"/>
      </p:ext>
    </p:extLst>
  </p:cSld>
  <p:clrMapOvr>
    <a:masterClrMapping/>
  </p:clrMapOvr>
</p:sld>
</file>

<file path=ppt/theme/theme1.xml><?xml version="1.0" encoding="utf-8"?>
<a:theme xmlns:a="http://schemas.openxmlformats.org/drawingml/2006/main" name="Gota">
  <a:themeElements>
    <a:clrScheme name="Azul">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Gota">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ota">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92000"/>
                <a:satMod val="180000"/>
                <a:lumMod val="114000"/>
              </a:schemeClr>
            </a:gs>
            <a:gs pos="100000">
              <a:schemeClr val="phClr">
                <a:shade val="92000"/>
                <a:satMod val="170000"/>
                <a:lumMod val="96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DEB094D4-7FD8-4F86-93D5-B0F1341EF586}"/>
    </a:ext>
  </a:extLst>
</a:theme>
</file>

<file path=docProps/app.xml><?xml version="1.0" encoding="utf-8"?>
<Properties xmlns="http://schemas.openxmlformats.org/officeDocument/2006/extended-properties" xmlns:vt="http://schemas.openxmlformats.org/officeDocument/2006/docPropsVTypes">
  <Template>Gota</Template>
  <TotalTime>1248</TotalTime>
  <Words>1362</Words>
  <Application>Microsoft Office PowerPoint</Application>
  <PresentationFormat>Panorámica</PresentationFormat>
  <Paragraphs>50</Paragraphs>
  <Slides>16</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16</vt:i4>
      </vt:variant>
    </vt:vector>
  </HeadingPairs>
  <TitlesOfParts>
    <vt:vector size="20" baseType="lpstr">
      <vt:lpstr>Arial</vt:lpstr>
      <vt:lpstr>Calibri</vt:lpstr>
      <vt:lpstr>Tw Cen MT</vt:lpstr>
      <vt:lpstr>Gota</vt:lpstr>
      <vt:lpstr>Presentación de PowerPoint</vt:lpstr>
      <vt:lpstr>Introducción </vt:lpstr>
      <vt:lpstr>Justificación </vt:lpstr>
      <vt:lpstr>Presentación de PowerPoint</vt:lpstr>
      <vt:lpstr>Presentación de PowerPoint</vt:lpstr>
      <vt:lpstr> </vt:lpstr>
      <vt:lpstr>Método de convolución: aproximación a una distribución normal en R  Generé diez valores sumando, para cada uno, doce números pseudoaleatorios entre 0 y 1. Después resté 6 para centrar los resultados alrededor de cero. Este procedimiento permite aproximar una distribución normal, aunque no produce una normal exacta. Obtuve valores positivos y negativos, con un promedio de −0.06, cercano a cero. Los números representan valores matemáticos, por lo que pueden ser negativos. Usé la semilla 180 para repetir los mismos resultados al ejecutar el código.  </vt:lpstr>
      <vt:lpstr>  Método de composición: tiempos de servicio en R. Debajo escribe: Simulé los tiempos de servicio de diez clientes combinando dos distribuciones. Para cada cliente, el programa eligió una distribución exponencial con una probabilidad del 60 %, o una uniforme entre 4 y 8 minutos con una probabilidad del 40 %. Así representé servicios con diferentes comportamientos. En esta ejecución obtuve cuatro tiempos exponenciales y seis uniformes, con un promedio de 6.26 minutos. Las cantidades no tienen que coincidir exactamente con los porcentajes porque la selección es aleatoria y son pocos clientes. Usé la semilla 190 para repetir los resultados.  </vt:lpstr>
      <vt:lpstr>Presentación de PowerPoint</vt:lpstr>
      <vt:lpstr>Prueba de uniformidad con chi-cuadrada en R.  Generé mil números pseudoaleatorios entre 0 y 1 y los agrupé en cinco intervalos iguales. después comparé las cantidades obtenidas con los 200 números esperados en cada intervalo mediante la prueba de chi-cuadrada. el resultado fue de 3.96, con un valor p de 0.4114. como este valor es mayor que 0.05, no encontré evidencia suficiente para rechazar la uniformidad. esto significa que los resultados son compatibles con una distribución uniforme, aunque no demuestra que los números sean perfectamente aleatorios.  </vt:lpstr>
      <vt:lpstr>Variable discreta: lanzamiento de un dado en Python  Simulé doce lanzamientos de un dado, generando números enteros del 1 al 6. estos resultados representan una variable discreta porque solo pueden tomar seis valores específicos. usé la semilla 150 para poder repetir los mismos lanzamientos al ejecutar el programa. calculé el promedio, que fue de 3.0, y conté cuántas veces apareció cada cara. la cara 2 salió cuatro veces y la cara 5 no apareció. esto puede ocurrir en pocos lanzamientos, aunque todas las caras tengan la misma probabilidad.     </vt:lpstr>
      <vt:lpstr>Generé ocho tiempos de entrega entre 10 y 20 minutos. Estos tiempos pueden tener decimales porque una entrega puede tardar, por ejemplo, 11.23 minutos. Todos los valores dentro del intervalo tienen la misma posibilidad de generarse. Después calculé el promedio de los ocho tiempos y obtuve 14.78 minutos. Este resultado representa el tiempo promedio de las entregas simuladas y permite estimar cuánto podrían tardar en una situación similar. </vt:lpstr>
      <vt:lpstr>Generé diez tiempos de espera a partir de números pseudoaleatorios mediante el método de transformación inversa. Con una fórmula convertí esos números en tiempos que siguen una distribución exponencial, la cual permite representar esperas cortas frecuentes y algunas más largas. El promedio obtenido fue de 4.96 minutos. Algunos tiempos fueron menores a un minuto y otros superaron los diez minutos. Esto muestra cómo pueden variar las esperas, aunque el modelo tenga un promedio esperado de cinco minutos. </vt:lpstr>
      <vt:lpstr>Prueba de uniformidad Generé mil números pseudoaleatorios entre cero y uno y los agrupé en cinco intervalos del mismo tamaño. Después comparé la cantidad de números de cada grupo con los 200 esperados por intervalo, mediante la prueba de chi-cuadrada. Obtuve una chi-cuadrada de 5.52 y un valor p de 0.238. Como este valor es mayor que 0.05, no rechacé la uniformidad: las diferencias observadas entre los grupos son compatibles con una distribución uniforme según esta prueba. </vt:lpstr>
      <vt:lpstr>Conclusión </vt:lpstr>
      <vt:lpstr>ANEXO LINK DE LA ACTIVIDAD SOLICITADA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HP 840 G5</dc:creator>
  <cp:lastModifiedBy>Belen</cp:lastModifiedBy>
  <cp:revision>35</cp:revision>
  <dcterms:created xsi:type="dcterms:W3CDTF">2025-08-17T02:41:38Z</dcterms:created>
  <dcterms:modified xsi:type="dcterms:W3CDTF">2026-10-03T10:38:10Z</dcterms:modified>
</cp:coreProperties>
</file>