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notesMasterIdLst>
    <p:notesMasterId r:id="rId16"/>
  </p:notesMasterIdLst>
  <p:sldIdLst>
    <p:sldId id="256" r:id="rId2"/>
    <p:sldId id="257" r:id="rId3"/>
    <p:sldId id="262" r:id="rId4"/>
    <p:sldId id="258" r:id="rId5"/>
    <p:sldId id="261" r:id="rId6"/>
    <p:sldId id="265" r:id="rId7"/>
    <p:sldId id="260" r:id="rId8"/>
    <p:sldId id="266" r:id="rId9"/>
    <p:sldId id="267" r:id="rId10"/>
    <p:sldId id="268" r:id="rId11"/>
    <p:sldId id="269" r:id="rId12"/>
    <p:sldId id="270" r:id="rId13"/>
    <p:sldId id="271" r:id="rId14"/>
    <p:sldId id="26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54" autoAdjust="0"/>
    <p:restoredTop sz="94660"/>
  </p:normalViewPr>
  <p:slideViewPr>
    <p:cSldViewPr snapToGrid="0">
      <p:cViewPr varScale="1">
        <p:scale>
          <a:sx n="80" d="100"/>
          <a:sy n="80" d="100"/>
        </p:scale>
        <p:origin x="82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BCD9BF-087E-46BD-A515-963A113C7ACB}" type="datetimeFigureOut">
              <a:rPr lang="es-MX" smtClean="0"/>
              <a:t>03/10/2026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50A2AB-1724-4755-851B-E7A4D8921BBF}" type="slidenum">
              <a:rPr lang="es-MX" smtClean="0"/>
              <a:t>‹Nº›</a:t>
            </a:fld>
            <a:endParaRPr lang="es-MX"/>
          </a:p>
        </p:txBody>
      </p:sp>
    </p:spTree>
    <p:extLst>
      <p:ext uri="{BB962C8B-B14F-4D97-AF65-F5344CB8AC3E}">
        <p14:creationId xmlns:p14="http://schemas.microsoft.com/office/powerpoint/2010/main" val="3029203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E150A2AB-1724-4755-851B-E7A4D8921BBF}" type="slidenum">
              <a:rPr lang="es-MX" smtClean="0"/>
              <a:t>13</a:t>
            </a:fld>
            <a:endParaRPr lang="es-MX"/>
          </a:p>
        </p:txBody>
      </p:sp>
    </p:spTree>
    <p:extLst>
      <p:ext uri="{BB962C8B-B14F-4D97-AF65-F5344CB8AC3E}">
        <p14:creationId xmlns:p14="http://schemas.microsoft.com/office/powerpoint/2010/main" val="2743206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224282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98135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64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04380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72070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344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D21CB79-48B0-4476-B550-9B8E0D8A515F}"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6454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9022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62682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31078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496301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9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538227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92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8271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47379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104729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873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D21CB79-48B0-4476-B550-9B8E0D8A515F}" type="datetimeFigureOut">
              <a:rPr lang="es-MX" smtClean="0"/>
              <a:t>02/10/2026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268365690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Cynthia21Morales/SIMULACION_CynthiaJasmineMT/blob/main/SIM-Tema-1/Actividad%201.2%20Reporte%20de%20Practica_CynthiaMorales_Sim_7ISCM.pptx"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671033" y="78183"/>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992616" y="31119"/>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5285663" y="199566"/>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678204"/>
          </a:xfrm>
          <a:prstGeom prst="rect">
            <a:avLst/>
          </a:prstGeom>
        </p:spPr>
        <p:txBody>
          <a:bodyPr wrap="square" lIns="0" tIns="0" rIns="0" bIns="0" rtlCol="0" anchor="t">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MATERIA:</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SIMULACIÓN</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SEMESTRE: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SEPTIMO SEMESTRE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ESPECIALIDAD:</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INGENIERÍA EN SISTEMAS COMPUTACIONALES.</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ALUMNO: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SIMONE BELEN LOPEZ RAMIREZ / 231260010</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NOMBRE DEL DOCENTE: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ING. FRANCISCO JAVIER MINGO VELAZQUEZ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TRABAJO: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4.3Banco de </a:t>
            </a:r>
            <a:r>
              <a:rPr lang="en-US" sz="1600" b="1" dirty="0" err="1">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ejercicio</a:t>
            </a: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FRONTERA COMALAPA, CHIAPAS. A 29 DE SEPTIEMBRE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INSTITUTO TECNOLÓGICO DE FRONTERA COMALAPA </a:t>
            </a:r>
          </a:p>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a:xfrm>
            <a:off x="2852425" y="1716946"/>
            <a:ext cx="6487150" cy="3424107"/>
          </a:xfrm>
        </p:spPr>
        <p:txBody>
          <a:bodyPr>
            <a:normAutofit/>
          </a:bodyPr>
          <a:lstStyle/>
          <a:p>
            <a:pPr marL="0" indent="0" algn="just">
              <a:buNone/>
            </a:pPr>
            <a:r>
              <a:rPr lang="es-MX" sz="1200" dirty="0">
                <a:latin typeface="Calibri" panose="020F0502020204030204" pitchFamily="34" charset="0"/>
                <a:ea typeface="Calibri" panose="020F0502020204030204" pitchFamily="34" charset="0"/>
                <a:cs typeface="Calibri" panose="020F0502020204030204" pitchFamily="34" charset="0"/>
              </a:rPr>
              <a:t>permite representar una situación mediante un programa para observar cómo funciona. En esta práctica trabajo con Python, R y Java para simular el lanzamiento de un dado, las ventas de una tienda y la atención a clientes. Mediante números pseudoaleatorios represento resultados y tiempos que pueden variar, y organizo la información en tablas para facilitar su interpretación</a:t>
            </a:r>
            <a:endParaRPr lang="es-MX"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a:xfrm>
            <a:off x="3357249" y="1716946"/>
            <a:ext cx="5920101" cy="3424107"/>
          </a:xfrm>
        </p:spPr>
        <p:txBody>
          <a:bodyPr>
            <a:normAutofit/>
          </a:bodyPr>
          <a:lstStyle/>
          <a:p>
            <a:pPr marL="0" indent="0" algn="just">
              <a:buNone/>
            </a:pPr>
            <a:r>
              <a:rPr lang="es-MX" sz="1200" dirty="0">
                <a:latin typeface="Calibri" panose="020F0502020204030204" pitchFamily="34" charset="0"/>
                <a:ea typeface="Calibri" panose="020F0502020204030204" pitchFamily="34" charset="0"/>
                <a:cs typeface="Calibri" panose="020F0502020204030204" pitchFamily="34" charset="0"/>
              </a:rPr>
              <a:t>Realizo estos ejercicios para comprender cómo se aplica la simulación en situaciones cotidianas y poner en práctica lo aprendido en clase. Los ejemplos me permiten analizar cuántas veces aparece una cara del dado, cómo disminuye un inventario y por qué los clientes deben esperar. Además, trabajar con tres lenguajes me ayuda a reconocer distintas maneras de programar una misma situación.</a:t>
            </a:r>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
        <p:nvSpPr>
          <p:cNvPr id="6" name="CuadroTexto 5">
            <a:extLst>
              <a:ext uri="{FF2B5EF4-FFF2-40B4-BE49-F238E27FC236}">
                <a16:creationId xmlns:a16="http://schemas.microsoft.com/office/drawing/2014/main" id="{09E02B4D-48B5-4385-9BBA-F87A3969C768}"/>
              </a:ext>
            </a:extLst>
          </p:cNvPr>
          <p:cNvSpPr txBox="1"/>
          <p:nvPr/>
        </p:nvSpPr>
        <p:spPr>
          <a:xfrm>
            <a:off x="6353175" y="790586"/>
            <a:ext cx="4676775" cy="4524315"/>
          </a:xfrm>
          <a:prstGeom prst="rect">
            <a:avLst/>
          </a:prstGeom>
          <a:noFill/>
        </p:spPr>
        <p:txBody>
          <a:bodyPr wrap="square">
            <a:spAutoFit/>
          </a:bodyPr>
          <a:lstStyle/>
          <a:p>
            <a:r>
              <a:rPr lang="es-MX" b="1" dirty="0"/>
              <a:t>Simulación de un dado en Python</a:t>
            </a:r>
            <a:endParaRPr lang="es-MX" dirty="0"/>
          </a:p>
          <a:p>
            <a:r>
              <a:rPr lang="es-MX" dirty="0"/>
              <a:t>Simulé 20 lanzamientos de un dado mediante un programa que genera números pseudoaleatorios del 1 al 6. Cada número representa una cara del dado. El programa muestra los lanzamientos y cuenta cuántas veces aparece cada cara, además de calcular su porcentaje del total.</a:t>
            </a:r>
          </a:p>
          <a:p>
            <a:r>
              <a:rPr lang="es-MX" dirty="0"/>
              <a:t>En los resultados, la cara 1 apareció 6 veces, equivalente al 30 % de los lanzamientos, mientras que las caras 3 y 6 aparecieron 2 veces cada una. El promedio de los valores fue de 3.10. Esto muestra que, en pocos lanzamientos, las caras pueden aparecer con distintas frecuencias aunque todas tengan la misma probabilidad.</a:t>
            </a:r>
          </a:p>
          <a:p>
            <a:endParaRPr lang="es-MX" dirty="0"/>
          </a:p>
        </p:txBody>
      </p:sp>
      <p:pic>
        <p:nvPicPr>
          <p:cNvPr id="14" name="Imagen 13">
            <a:extLst>
              <a:ext uri="{FF2B5EF4-FFF2-40B4-BE49-F238E27FC236}">
                <a16:creationId xmlns:a16="http://schemas.microsoft.com/office/drawing/2014/main" id="{CCFF386F-5726-4BA9-863B-368058AF2CD2}"/>
              </a:ext>
            </a:extLst>
          </p:cNvPr>
          <p:cNvPicPr>
            <a:picLocks noChangeAspect="1"/>
          </p:cNvPicPr>
          <p:nvPr/>
        </p:nvPicPr>
        <p:blipFill>
          <a:blip r:embed="rId2"/>
          <a:stretch>
            <a:fillRect/>
          </a:stretch>
        </p:blipFill>
        <p:spPr>
          <a:xfrm>
            <a:off x="457514" y="581025"/>
            <a:ext cx="5696244" cy="5830658"/>
          </a:xfrm>
          <a:prstGeom prst="rect">
            <a:avLst/>
          </a:prstGeom>
        </p:spPr>
      </p:pic>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381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sp>
        <p:nvSpPr>
          <p:cNvPr id="19" name="Rectangle 4">
            <a:extLst>
              <a:ext uri="{FF2B5EF4-FFF2-40B4-BE49-F238E27FC236}">
                <a16:creationId xmlns:a16="http://schemas.microsoft.com/office/drawing/2014/main" id="{7DEF4646-0527-448A-B60D-33F117F27CB8}"/>
              </a:ext>
            </a:extLst>
          </p:cNvPr>
          <p:cNvSpPr>
            <a:spLocks noChangeArrowheads="1"/>
          </p:cNvSpPr>
          <p:nvPr/>
        </p:nvSpPr>
        <p:spPr bwMode="auto">
          <a:xfrm>
            <a:off x="6638925" y="938243"/>
            <a:ext cx="525303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b="1" dirty="0"/>
              <a:t>Simulación de inventario en Python</a:t>
            </a:r>
            <a:endParaRPr lang="es-MX" dirty="0"/>
          </a:p>
          <a:p>
            <a:r>
              <a:rPr lang="es-MX" dirty="0"/>
              <a:t>Simulé las ventas de una tienda durante 7 días, comenzando con 50 productos y sin recibir mercancía adicional. El programa genera una demanda diaria de entre 5 y 12 productos y calcula cuántos se pueden vender según las existencias disponibles. También registra la cantidad de productos solicitados que no se pudo entregar.</a:t>
            </a:r>
          </a:p>
          <a:p>
            <a:r>
              <a:rPr lang="es-MX" dirty="0"/>
              <a:t>En los resultados se vendieron los 50 productos. Al comenzar el séptimo día quedaba solamente uno, pero la demanda fue de 10, por lo que faltaron 9 productos para cubrirla. El inventario final quedó en cero. Esto me permitió observar cómo disminuyen las existencias y cómo la falta de mercancía puede ocasionar ventas perdidas.</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dirty="0"/>
          </a:p>
        </p:txBody>
      </p:sp>
      <p:pic>
        <p:nvPicPr>
          <p:cNvPr id="23" name="Imagen 22">
            <a:extLst>
              <a:ext uri="{FF2B5EF4-FFF2-40B4-BE49-F238E27FC236}">
                <a16:creationId xmlns:a16="http://schemas.microsoft.com/office/drawing/2014/main" id="{333E92DC-F68D-4064-A7A3-17D3FCA772ED}"/>
              </a:ext>
            </a:extLst>
          </p:cNvPr>
          <p:cNvPicPr>
            <a:picLocks noChangeAspect="1"/>
          </p:cNvPicPr>
          <p:nvPr/>
        </p:nvPicPr>
        <p:blipFill>
          <a:blip r:embed="rId2"/>
          <a:stretch>
            <a:fillRect/>
          </a:stretch>
        </p:blipFill>
        <p:spPr>
          <a:xfrm>
            <a:off x="76200" y="419100"/>
            <a:ext cx="6096000" cy="5915024"/>
          </a:xfrm>
          <a:prstGeom prst="rect">
            <a:avLst/>
          </a:prstGeom>
        </p:spPr>
      </p:pic>
    </p:spTree>
    <p:extLst>
      <p:ext uri="{BB962C8B-B14F-4D97-AF65-F5344CB8AC3E}">
        <p14:creationId xmlns:p14="http://schemas.microsoft.com/office/powerpoint/2010/main" val="207115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DB22BF8-CC59-4633-9741-AF760023AE61}"/>
              </a:ext>
            </a:extLst>
          </p:cNvPr>
          <p:cNvSpPr>
            <a:spLocks noGrp="1"/>
          </p:cNvSpPr>
          <p:nvPr>
            <p:ph type="title"/>
          </p:nvPr>
        </p:nvSpPr>
        <p:spPr>
          <a:xfrm>
            <a:off x="2571900" y="0"/>
            <a:ext cx="6781650" cy="215800"/>
          </a:xfrm>
        </p:spPr>
        <p:txBody>
          <a:bodyPr>
            <a:normAutofit fontScale="90000"/>
          </a:bodyPr>
          <a:lstStyle/>
          <a:p>
            <a:br>
              <a:rPr lang="es-MX" dirty="0"/>
            </a:br>
            <a:endParaRPr lang="es-MX" sz="1600" b="1"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
            <a:extLst>
              <a:ext uri="{FF2B5EF4-FFF2-40B4-BE49-F238E27FC236}">
                <a16:creationId xmlns:a16="http://schemas.microsoft.com/office/drawing/2014/main" id="{E8FBFE25-E68A-49C1-B8F1-02864E4EC93E}"/>
              </a:ext>
            </a:extLst>
          </p:cNvPr>
          <p:cNvSpPr>
            <a:spLocks noChangeArrowheads="1"/>
          </p:cNvSpPr>
          <p:nvPr/>
        </p:nvSpPr>
        <p:spPr bwMode="auto">
          <a:xfrm>
            <a:off x="6183384" y="1589840"/>
            <a:ext cx="587692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b="1" dirty="0"/>
              <a:t>Simulación de atención a 15 clientes en Python</a:t>
            </a:r>
            <a:endParaRPr lang="es-MX" dirty="0"/>
          </a:p>
          <a:p>
            <a:r>
              <a:rPr lang="es-MX" dirty="0"/>
              <a:t>Simulé la atención de 15 clientes con una sola persona encargada de atenderlos en orden de llegada. El programa genera tiempos pseudoaleatorios y calcula cuándo llega cada cliente, cuánto dura su servicio y cuándo comienza y termina su atención. Si la persona está ocupada, el cliente espera hasta que finalice la atención anterior.</a:t>
            </a:r>
          </a:p>
          <a:p>
            <a:r>
              <a:rPr lang="es-MX" dirty="0"/>
              <a:t>En esta ejecución, 14 clientes tuvieron que esperar. La espera promedio fue de 8.80 minutos y el servicio promedio de 4.07 minutos. La espera máxima fue de 18 minutos y la última atención terminó en el minuto 61. Estos resultados me permitieron observar cómo se acumula la espera cuando llegan clientes mientras todavía se está atendiendo a otros.</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dirty="0">
              <a:latin typeface="Calibri" panose="020F0502020204030204" pitchFamily="34" charset="0"/>
              <a:ea typeface="Calibri" panose="020F0502020204030204" pitchFamily="34" charset="0"/>
              <a:cs typeface="Calibri" panose="020F0502020204030204" pitchFamily="34" charset="0"/>
            </a:endParaRPr>
          </a:p>
        </p:txBody>
      </p:sp>
      <p:pic>
        <p:nvPicPr>
          <p:cNvPr id="18" name="Imagen 17">
            <a:extLst>
              <a:ext uri="{FF2B5EF4-FFF2-40B4-BE49-F238E27FC236}">
                <a16:creationId xmlns:a16="http://schemas.microsoft.com/office/drawing/2014/main" id="{B7FB2D17-C3E8-44B4-A984-6CB0F8A57442}"/>
              </a:ext>
            </a:extLst>
          </p:cNvPr>
          <p:cNvPicPr>
            <a:picLocks noChangeAspect="1"/>
          </p:cNvPicPr>
          <p:nvPr/>
        </p:nvPicPr>
        <p:blipFill>
          <a:blip r:embed="rId2"/>
          <a:stretch>
            <a:fillRect/>
          </a:stretch>
        </p:blipFill>
        <p:spPr>
          <a:xfrm>
            <a:off x="131691" y="742950"/>
            <a:ext cx="5526160" cy="5438775"/>
          </a:xfrm>
          <a:prstGeom prst="rect">
            <a:avLst/>
          </a:prstGeom>
        </p:spPr>
      </p:pic>
    </p:spTree>
    <p:extLst>
      <p:ext uri="{BB962C8B-B14F-4D97-AF65-F5344CB8AC3E}">
        <p14:creationId xmlns:p14="http://schemas.microsoft.com/office/powerpoint/2010/main" val="189022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a:xfrm>
            <a:off x="7591424" y="1716946"/>
            <a:ext cx="4143375" cy="3424107"/>
          </a:xfrm>
        </p:spPr>
        <p:txBody>
          <a:bodyPr>
            <a:normAutofit fontScale="77500" lnSpcReduction="20000"/>
          </a:bodyPr>
          <a:lstStyle/>
          <a:p>
            <a:pPr marL="0" indent="0" algn="just">
              <a:buNone/>
            </a:pPr>
            <a:r>
              <a:rPr lang="es-MX" cap="none" dirty="0">
                <a:latin typeface="Calibri" panose="020F0502020204030204" pitchFamily="34" charset="0"/>
                <a:ea typeface="Calibri" panose="020F0502020204030204" pitchFamily="34" charset="0"/>
                <a:cs typeface="Calibri" panose="020F0502020204030204" pitchFamily="34" charset="0"/>
              </a:rPr>
              <a:t>simulación del lanzamiento de un dado en r</a:t>
            </a:r>
          </a:p>
          <a:p>
            <a:pPr marL="0" indent="0" algn="just">
              <a:buNone/>
            </a:pPr>
            <a:r>
              <a:rPr lang="es-MX" cap="none" dirty="0">
                <a:latin typeface="Calibri" panose="020F0502020204030204" pitchFamily="34" charset="0"/>
                <a:ea typeface="Calibri" panose="020F0502020204030204" pitchFamily="34" charset="0"/>
                <a:cs typeface="Calibri" panose="020F0502020204030204" pitchFamily="34" charset="0"/>
              </a:rPr>
              <a:t>en este ejercicio simulo 20 lanzamientos de un dado. el programa genera números pseudoaleatorios del 1 al 6, donde cada número representa una cara del dado. después cuenta cuántas veces aparece cada cara y calcula su porcentaje.</a:t>
            </a:r>
          </a:p>
          <a:p>
            <a:pPr marL="0" indent="0" algn="just">
              <a:buNone/>
            </a:pPr>
            <a:r>
              <a:rPr lang="es-MX" cap="none" dirty="0">
                <a:latin typeface="Calibri" panose="020F0502020204030204" pitchFamily="34" charset="0"/>
                <a:ea typeface="Calibri" panose="020F0502020204030204" pitchFamily="34" charset="0"/>
                <a:cs typeface="Calibri" panose="020F0502020204030204" pitchFamily="34" charset="0"/>
              </a:rPr>
              <a:t>la tabla permite comparar cuáles caras aparecen más y cuáles menos. también se calcula el promedio de los 20 resultados. como son pocos lanzamientos, las caras pueden aparecer distintas cantidades de veces.</a:t>
            </a:r>
          </a:p>
          <a:p>
            <a:pPr marL="0" indent="0" algn="just">
              <a:buNone/>
            </a:pP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7" name="Imagen 6">
            <a:extLst>
              <a:ext uri="{FF2B5EF4-FFF2-40B4-BE49-F238E27FC236}">
                <a16:creationId xmlns:a16="http://schemas.microsoft.com/office/drawing/2014/main" id="{5AE415FA-4AF5-4F51-B6BD-4C13E2C534DC}"/>
              </a:ext>
            </a:extLst>
          </p:cNvPr>
          <p:cNvPicPr>
            <a:picLocks noChangeAspect="1"/>
          </p:cNvPicPr>
          <p:nvPr/>
        </p:nvPicPr>
        <p:blipFill>
          <a:blip r:embed="rId2"/>
          <a:stretch>
            <a:fillRect/>
          </a:stretch>
        </p:blipFill>
        <p:spPr>
          <a:xfrm>
            <a:off x="457201" y="990634"/>
            <a:ext cx="6924675" cy="4876731"/>
          </a:xfrm>
          <a:prstGeom prst="rect">
            <a:avLst/>
          </a:prstGeom>
        </p:spPr>
      </p:pic>
    </p:spTree>
    <p:extLst>
      <p:ext uri="{BB962C8B-B14F-4D97-AF65-F5344CB8AC3E}">
        <p14:creationId xmlns:p14="http://schemas.microsoft.com/office/powerpoint/2010/main" val="345983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242518-D050-469C-8DD9-A265BDBEF12A}"/>
              </a:ext>
            </a:extLst>
          </p:cNvPr>
          <p:cNvSpPr>
            <a:spLocks noGrp="1"/>
          </p:cNvSpPr>
          <p:nvPr>
            <p:ph type="title"/>
          </p:nvPr>
        </p:nvSpPr>
        <p:spPr>
          <a:xfrm>
            <a:off x="7229475" y="1333762"/>
            <a:ext cx="4505951" cy="4714613"/>
          </a:xfrm>
        </p:spPr>
        <p:txBody>
          <a:bodyPr>
            <a:normAutofit/>
          </a:bodyPr>
          <a:lstStyle/>
          <a:p>
            <a:r>
              <a:rPr lang="es-MX" sz="1400" b="1" dirty="0">
                <a:latin typeface="Calibri" panose="020F0502020204030204" pitchFamily="34" charset="0"/>
                <a:ea typeface="Calibri" panose="020F0502020204030204" pitchFamily="34" charset="0"/>
                <a:cs typeface="Calibri" panose="020F0502020204030204" pitchFamily="34" charset="0"/>
              </a:rPr>
              <a:t>Simulación de inventario en R</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En este ejercicio simulo una tienda que comienza con 50 productos y realiza ventas durante siete días. El programa genera una demanda diaria de entre 5 y 12 productos y registra cuánto se vende y cuántos productos quedan disponibles.</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Si la demanda supera las existencias, solo se vende lo disponible y se registra la cantidad que no pudo atenderse. Esto permite observar cómo disminuye el inventario y reconocer cuándo hace falta reponer productos.</a:t>
            </a:r>
            <a:br>
              <a:rPr lang="es-MX" sz="1400" dirty="0">
                <a:latin typeface="Calibri" panose="020F0502020204030204" pitchFamily="34" charset="0"/>
                <a:ea typeface="Calibri" panose="020F0502020204030204" pitchFamily="34" charset="0"/>
                <a:cs typeface="Calibri" panose="020F0502020204030204" pitchFamily="34" charset="0"/>
              </a:rPr>
            </a:br>
            <a:endParaRPr lang="es-MX" sz="1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Marcador de contenido 4">
            <a:extLst>
              <a:ext uri="{FF2B5EF4-FFF2-40B4-BE49-F238E27FC236}">
                <a16:creationId xmlns:a16="http://schemas.microsoft.com/office/drawing/2014/main" id="{A3342CCB-79A4-49B2-A3E9-B184D57A62A9}"/>
              </a:ext>
            </a:extLst>
          </p:cNvPr>
          <p:cNvPicPr>
            <a:picLocks noGrp="1" noChangeAspect="1"/>
          </p:cNvPicPr>
          <p:nvPr>
            <p:ph idx="1"/>
          </p:nvPr>
        </p:nvPicPr>
        <p:blipFill>
          <a:blip r:embed="rId2"/>
          <a:stretch>
            <a:fillRect/>
          </a:stretch>
        </p:blipFill>
        <p:spPr>
          <a:xfrm>
            <a:off x="542924" y="495300"/>
            <a:ext cx="5553076" cy="5333999"/>
          </a:xfrm>
        </p:spPr>
      </p:pic>
    </p:spTree>
    <p:extLst>
      <p:ext uri="{BB962C8B-B14F-4D97-AF65-F5344CB8AC3E}">
        <p14:creationId xmlns:p14="http://schemas.microsoft.com/office/powerpoint/2010/main" val="224837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7F71A1-39BF-41FA-99C4-88166888F4F7}"/>
              </a:ext>
            </a:extLst>
          </p:cNvPr>
          <p:cNvSpPr>
            <a:spLocks noGrp="1"/>
          </p:cNvSpPr>
          <p:nvPr>
            <p:ph type="title"/>
          </p:nvPr>
        </p:nvSpPr>
        <p:spPr>
          <a:xfrm>
            <a:off x="6657975" y="2630911"/>
            <a:ext cx="4915526" cy="1596177"/>
          </a:xfrm>
        </p:spPr>
        <p:txBody>
          <a:bodyPr>
            <a:noAutofit/>
          </a:bodyPr>
          <a:lstStyle/>
          <a:p>
            <a:pPr algn="just"/>
            <a:r>
              <a:rPr lang="es-MX" sz="1800" b="1" dirty="0">
                <a:latin typeface="Calibri" panose="020F0502020204030204" pitchFamily="34" charset="0"/>
                <a:ea typeface="Calibri" panose="020F0502020204030204" pitchFamily="34" charset="0"/>
                <a:cs typeface="Calibri" panose="020F0502020204030204" pitchFamily="34" charset="0"/>
              </a:rPr>
              <a:t>Simulación de atención a 15 clientes en R</a:t>
            </a:r>
            <a:br>
              <a:rPr lang="es-MX" sz="1800" dirty="0">
                <a:latin typeface="Calibri" panose="020F0502020204030204" pitchFamily="34" charset="0"/>
                <a:ea typeface="Calibri" panose="020F0502020204030204" pitchFamily="34" charset="0"/>
                <a:cs typeface="Calibri" panose="020F0502020204030204" pitchFamily="34" charset="0"/>
              </a:rPr>
            </a:br>
            <a:r>
              <a:rPr lang="es-MX" sz="1800" dirty="0">
                <a:latin typeface="Calibri" panose="020F0502020204030204" pitchFamily="34" charset="0"/>
                <a:ea typeface="Calibri" panose="020F0502020204030204" pitchFamily="34" charset="0"/>
                <a:cs typeface="Calibri" panose="020F0502020204030204" pitchFamily="34" charset="0"/>
              </a:rPr>
              <a:t>En este ejercicio simulo la llegada de 15 clientes a un lugar donde una sola persona los atiende por orden de llegada. El programa genera los intervalos entre llegadas y la duración de cada servicio. Si alguien llega mientras se atiende a otro cliente, debe esperar su turno.</a:t>
            </a:r>
            <a:br>
              <a:rPr lang="es-MX" sz="1800" dirty="0">
                <a:latin typeface="Calibri" panose="020F0502020204030204" pitchFamily="34" charset="0"/>
                <a:ea typeface="Calibri" panose="020F0502020204030204" pitchFamily="34" charset="0"/>
                <a:cs typeface="Calibri" panose="020F0502020204030204" pitchFamily="34" charset="0"/>
              </a:rPr>
            </a:br>
            <a:r>
              <a:rPr lang="es-MX" sz="1800" dirty="0">
                <a:latin typeface="Calibri" panose="020F0502020204030204" pitchFamily="34" charset="0"/>
                <a:ea typeface="Calibri" panose="020F0502020204030204" pitchFamily="34" charset="0"/>
                <a:cs typeface="Calibri" panose="020F0502020204030204" pitchFamily="34" charset="0"/>
              </a:rPr>
              <a:t>La tabla muestra cuándo llega cada cliente, cuándo comienza y termina su atención y cuánto espera. También se calcula la espera promedio, la espera máxima y el tiempo total hasta terminar la última atención. Así puedo observar cómo se forma una fila.</a:t>
            </a:r>
            <a:br>
              <a:rPr lang="es-MX" sz="1800" dirty="0">
                <a:latin typeface="Calibri" panose="020F0502020204030204" pitchFamily="34" charset="0"/>
                <a:ea typeface="Calibri" panose="020F0502020204030204" pitchFamily="34" charset="0"/>
                <a:cs typeface="Calibri" panose="020F0502020204030204" pitchFamily="34" charset="0"/>
              </a:rPr>
            </a:br>
            <a:endParaRPr lang="es-MX" sz="1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Marcador de contenido 4">
            <a:extLst>
              <a:ext uri="{FF2B5EF4-FFF2-40B4-BE49-F238E27FC236}">
                <a16:creationId xmlns:a16="http://schemas.microsoft.com/office/drawing/2014/main" id="{E0825EF9-06E4-4A19-A845-C1B46B8EC0C4}"/>
              </a:ext>
            </a:extLst>
          </p:cNvPr>
          <p:cNvPicPr>
            <a:picLocks noGrp="1" noChangeAspect="1"/>
          </p:cNvPicPr>
          <p:nvPr>
            <p:ph idx="1"/>
          </p:nvPr>
        </p:nvPicPr>
        <p:blipFill rotWithShape="1">
          <a:blip r:embed="rId2"/>
          <a:srcRect b="6605"/>
          <a:stretch/>
        </p:blipFill>
        <p:spPr>
          <a:xfrm>
            <a:off x="449374" y="871232"/>
            <a:ext cx="5837126" cy="5386693"/>
          </a:xfrm>
        </p:spPr>
      </p:pic>
    </p:spTree>
    <p:extLst>
      <p:ext uri="{BB962C8B-B14F-4D97-AF65-F5344CB8AC3E}">
        <p14:creationId xmlns:p14="http://schemas.microsoft.com/office/powerpoint/2010/main" val="365507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0D6110-C5F1-44C6-95A4-2433A804C66F}"/>
              </a:ext>
            </a:extLst>
          </p:cNvPr>
          <p:cNvSpPr>
            <a:spLocks noGrp="1"/>
          </p:cNvSpPr>
          <p:nvPr>
            <p:ph type="title"/>
          </p:nvPr>
        </p:nvSpPr>
        <p:spPr>
          <a:xfrm>
            <a:off x="7353300" y="1190625"/>
            <a:ext cx="3790950" cy="3271969"/>
          </a:xfrm>
        </p:spPr>
        <p:txBody>
          <a:bodyPr>
            <a:noAutofit/>
          </a:bodyPr>
          <a:lstStyle/>
          <a:p>
            <a:pPr algn="just"/>
            <a:r>
              <a:rPr lang="es-MX" sz="1600" b="1" dirty="0">
                <a:latin typeface="Calibri" panose="020F0502020204030204" pitchFamily="34" charset="0"/>
                <a:ea typeface="Calibri" panose="020F0502020204030204" pitchFamily="34" charset="0"/>
                <a:cs typeface="Calibri" panose="020F0502020204030204" pitchFamily="34" charset="0"/>
              </a:rPr>
              <a:t>Simulación del lanzamiento de un dado en Java</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En este ejercicio simulo 20 lanzamientos de un dado mediante números pseudoaleatorios del 1 al 6. El programa cuenta cuántas veces aparece cada cara y calcula su porcentaje, lo que permite comparar los resultados de los lanzamientos.</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En los resultados se observa que la cara 6 apareció 3 veces, equivalente al 15 % de los lanzamientos, y el promedio fue de 3.85</a:t>
            </a:r>
            <a:br>
              <a:rPr lang="es-MX" sz="1600" dirty="0"/>
            </a:br>
            <a:endParaRPr lang="es-MX" sz="1600" dirty="0"/>
          </a:p>
        </p:txBody>
      </p:sp>
      <p:pic>
        <p:nvPicPr>
          <p:cNvPr id="5" name="Marcador de contenido 4">
            <a:extLst>
              <a:ext uri="{FF2B5EF4-FFF2-40B4-BE49-F238E27FC236}">
                <a16:creationId xmlns:a16="http://schemas.microsoft.com/office/drawing/2014/main" id="{739286B5-53CB-46D4-BAF6-09FFD0A07309}"/>
              </a:ext>
            </a:extLst>
          </p:cNvPr>
          <p:cNvPicPr>
            <a:picLocks noGrp="1" noChangeAspect="1"/>
          </p:cNvPicPr>
          <p:nvPr>
            <p:ph idx="1"/>
          </p:nvPr>
        </p:nvPicPr>
        <p:blipFill>
          <a:blip r:embed="rId2"/>
          <a:stretch>
            <a:fillRect/>
          </a:stretch>
        </p:blipFill>
        <p:spPr>
          <a:xfrm>
            <a:off x="304629" y="618518"/>
            <a:ext cx="5124622" cy="5286982"/>
          </a:xfrm>
        </p:spPr>
      </p:pic>
    </p:spTree>
    <p:extLst>
      <p:ext uri="{BB962C8B-B14F-4D97-AF65-F5344CB8AC3E}">
        <p14:creationId xmlns:p14="http://schemas.microsoft.com/office/powerpoint/2010/main" val="1660156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314A36-0381-4B54-B0EA-BC9186952CE7}"/>
              </a:ext>
            </a:extLst>
          </p:cNvPr>
          <p:cNvSpPr>
            <a:spLocks noGrp="1"/>
          </p:cNvSpPr>
          <p:nvPr>
            <p:ph type="title"/>
          </p:nvPr>
        </p:nvSpPr>
        <p:spPr>
          <a:xfrm>
            <a:off x="6943725" y="1178719"/>
            <a:ext cx="4191000" cy="4324958"/>
          </a:xfrm>
        </p:spPr>
        <p:txBody>
          <a:bodyPr>
            <a:normAutofit/>
          </a:bodyPr>
          <a:lstStyle/>
          <a:p>
            <a:pPr algn="just"/>
            <a:r>
              <a:rPr lang="es-MX" sz="1600" b="1" dirty="0">
                <a:latin typeface="Calibri" panose="020F0502020204030204" pitchFamily="34" charset="0"/>
                <a:ea typeface="Calibri" panose="020F0502020204030204" pitchFamily="34" charset="0"/>
                <a:cs typeface="Calibri" panose="020F0502020204030204" pitchFamily="34" charset="0"/>
              </a:rPr>
              <a:t>Simulación de inventario en Java</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En este ejercicio simulo las ventas de una tienda durante siete días, comenzando con 50 productos. El programa genera una demanda diaria de entre 5 y 12 unidades, descuenta los productos vendidos y registra cuántos quedan disponibles.</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Los resultados muestran que se vendieron los 50 productos y el inventario terminó en cero. Además, quedó una demanda de 11 unidades sin atender porque las existencias se agotaron.</a:t>
            </a:r>
            <a:br>
              <a:rPr lang="es-MX" sz="1600" dirty="0"/>
            </a:br>
            <a:endParaRPr lang="es-MX" sz="1600" dirty="0"/>
          </a:p>
        </p:txBody>
      </p:sp>
      <p:pic>
        <p:nvPicPr>
          <p:cNvPr id="5" name="Marcador de contenido 4">
            <a:extLst>
              <a:ext uri="{FF2B5EF4-FFF2-40B4-BE49-F238E27FC236}">
                <a16:creationId xmlns:a16="http://schemas.microsoft.com/office/drawing/2014/main" id="{5E962C5E-88FE-40BC-9168-6676F7BAB82C}"/>
              </a:ext>
            </a:extLst>
          </p:cNvPr>
          <p:cNvPicPr>
            <a:picLocks noGrp="1" noChangeAspect="1"/>
          </p:cNvPicPr>
          <p:nvPr>
            <p:ph idx="1"/>
          </p:nvPr>
        </p:nvPicPr>
        <p:blipFill>
          <a:blip r:embed="rId2"/>
          <a:stretch>
            <a:fillRect/>
          </a:stretch>
        </p:blipFill>
        <p:spPr>
          <a:xfrm>
            <a:off x="441397" y="1178719"/>
            <a:ext cx="5366362" cy="4500562"/>
          </a:xfrm>
        </p:spPr>
      </p:pic>
    </p:spTree>
    <p:extLst>
      <p:ext uri="{BB962C8B-B14F-4D97-AF65-F5344CB8AC3E}">
        <p14:creationId xmlns:p14="http://schemas.microsoft.com/office/powerpoint/2010/main" val="1001050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5DD188-D599-419F-BB07-668A472F39A3}"/>
              </a:ext>
            </a:extLst>
          </p:cNvPr>
          <p:cNvSpPr>
            <a:spLocks noGrp="1"/>
          </p:cNvSpPr>
          <p:nvPr>
            <p:ph type="title"/>
          </p:nvPr>
        </p:nvSpPr>
        <p:spPr>
          <a:xfrm>
            <a:off x="6019800" y="2304442"/>
            <a:ext cx="5017783" cy="1596177"/>
          </a:xfrm>
        </p:spPr>
        <p:txBody>
          <a:bodyPr>
            <a:noAutofit/>
          </a:bodyPr>
          <a:lstStyle/>
          <a:p>
            <a:pPr algn="just"/>
            <a:r>
              <a:rPr lang="es-MX" sz="1600" b="1" cap="none" dirty="0">
                <a:latin typeface="Calibri" panose="020F0502020204030204" pitchFamily="34" charset="0"/>
                <a:ea typeface="Calibri" panose="020F0502020204030204" pitchFamily="34" charset="0"/>
                <a:cs typeface="Calibri" panose="020F0502020204030204" pitchFamily="34" charset="0"/>
              </a:rPr>
              <a:t>simulación de atención a 15 clientes en java</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en este ejercicio simulo la llegada de 15 clientes que son atendidos por una sola persona, siguiendo su orden de llegada. el programa genera los tiempos entre llegadas y la duración de cada atención. cuando un cliente llega y la persona sigue ocupada, debe esperar su turno.</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la tabla permite identificar cuándo llega cada cliente, cuándo comienza y termina su atención y cuánto espera. también se calculan la espera promedio, la espera máxima y el momento en que termina la última atención, para comprender cómo se forma una fila.</a:t>
            </a:r>
            <a:br>
              <a:rPr lang="es-MX" sz="1600" cap="none" dirty="0">
                <a:latin typeface="Calibri" panose="020F0502020204030204" pitchFamily="34" charset="0"/>
                <a:ea typeface="Calibri" panose="020F0502020204030204" pitchFamily="34" charset="0"/>
                <a:cs typeface="Calibri" panose="020F0502020204030204" pitchFamily="34" charset="0"/>
              </a:rPr>
            </a:b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5" name="Marcador de contenido 4">
            <a:extLst>
              <a:ext uri="{FF2B5EF4-FFF2-40B4-BE49-F238E27FC236}">
                <a16:creationId xmlns:a16="http://schemas.microsoft.com/office/drawing/2014/main" id="{4AE2D4ED-37C5-46AB-9DB2-2DB07B017B4D}"/>
              </a:ext>
            </a:extLst>
          </p:cNvPr>
          <p:cNvPicPr>
            <a:picLocks noGrp="1" noChangeAspect="1"/>
          </p:cNvPicPr>
          <p:nvPr>
            <p:ph idx="1"/>
          </p:nvPr>
        </p:nvPicPr>
        <p:blipFill>
          <a:blip r:embed="rId2"/>
          <a:stretch>
            <a:fillRect/>
          </a:stretch>
        </p:blipFill>
        <p:spPr>
          <a:xfrm>
            <a:off x="430517" y="952501"/>
            <a:ext cx="5017783" cy="4572000"/>
          </a:xfrm>
        </p:spPr>
      </p:pic>
    </p:spTree>
    <p:extLst>
      <p:ext uri="{BB962C8B-B14F-4D97-AF65-F5344CB8AC3E}">
        <p14:creationId xmlns:p14="http://schemas.microsoft.com/office/powerpoint/2010/main" val="3924414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7FA32-C446-43DE-AA7A-FA69A8C916C1}"/>
              </a:ext>
            </a:extLst>
          </p:cNvPr>
          <p:cNvSpPr>
            <a:spLocks noGrp="1"/>
          </p:cNvSpPr>
          <p:nvPr>
            <p:ph type="title"/>
          </p:nvPr>
        </p:nvSpPr>
        <p:spPr/>
        <p:txBody>
          <a:bodyPr/>
          <a:lstStyle/>
          <a:p>
            <a:r>
              <a:rPr lang="es-MX" dirty="0" err="1"/>
              <a:t>Conclusion</a:t>
            </a:r>
            <a:r>
              <a:rPr lang="es-MX" dirty="0"/>
              <a:t> </a:t>
            </a:r>
          </a:p>
        </p:txBody>
      </p:sp>
      <p:sp>
        <p:nvSpPr>
          <p:cNvPr id="3" name="Marcador de contenido 2">
            <a:extLst>
              <a:ext uri="{FF2B5EF4-FFF2-40B4-BE49-F238E27FC236}">
                <a16:creationId xmlns:a16="http://schemas.microsoft.com/office/drawing/2014/main" id="{C10FC50D-CD34-429E-B723-81DB5E7575EC}"/>
              </a:ext>
            </a:extLst>
          </p:cNvPr>
          <p:cNvSpPr>
            <a:spLocks noGrp="1"/>
          </p:cNvSpPr>
          <p:nvPr>
            <p:ph idx="1"/>
          </p:nvPr>
        </p:nvSpPr>
        <p:spPr>
          <a:xfrm>
            <a:off x="2809874" y="2214694"/>
            <a:ext cx="7868277" cy="3424107"/>
          </a:xfrm>
        </p:spPr>
        <p:txBody>
          <a:bodyPr>
            <a:normAutofit/>
          </a:bodyPr>
          <a:lstStyle/>
          <a:p>
            <a:pPr marL="0" indent="0" algn="just">
              <a:buNone/>
            </a:pPr>
            <a:r>
              <a:rPr lang="es-MX" sz="1400" dirty="0">
                <a:latin typeface="Calibri" panose="020F0502020204030204" pitchFamily="34" charset="0"/>
                <a:ea typeface="Calibri" panose="020F0502020204030204" pitchFamily="34" charset="0"/>
                <a:cs typeface="Calibri" panose="020F0502020204030204" pitchFamily="34" charset="0"/>
              </a:rPr>
              <a:t>Con estos ejercicios comprendí cómo la simulación permite representar situaciones como lanzar un dado, vender productos y atender clientes. Al trabajar con Python, R y Java, aprendí a utilizar números pseudoaleatorios y a interpretar frecuencias, existencias y tiempos de espera. También entendí que los resultados pueden variar entre lenguajes, aunque se sigan las mismas reglas. Estos ejemplos me ayudaron a relacionar lo visto en clase con situaciones cotidianas</a:t>
            </a:r>
          </a:p>
        </p:txBody>
      </p:sp>
    </p:spTree>
    <p:extLst>
      <p:ext uri="{BB962C8B-B14F-4D97-AF65-F5344CB8AC3E}">
        <p14:creationId xmlns:p14="http://schemas.microsoft.com/office/powerpoint/2010/main" val="134080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AE06C-DB4B-D47A-5033-09B34EA180D3}"/>
              </a:ext>
            </a:extLst>
          </p:cNvPr>
          <p:cNvSpPr>
            <a:spLocks noGrp="1"/>
          </p:cNvSpPr>
          <p:nvPr>
            <p:ph type="title"/>
          </p:nvPr>
        </p:nvSpPr>
        <p:spPr/>
        <p:txBody>
          <a:bodyPr/>
          <a:lstStyle/>
          <a:p>
            <a:r>
              <a:rPr lang="es-MX" dirty="0"/>
              <a:t>ANEXO LINK DE LA ACTIVIDAD SOLICITADA</a:t>
            </a:r>
          </a:p>
        </p:txBody>
      </p:sp>
      <p:sp>
        <p:nvSpPr>
          <p:cNvPr id="3" name="Marcador de contenido 2">
            <a:extLst>
              <a:ext uri="{FF2B5EF4-FFF2-40B4-BE49-F238E27FC236}">
                <a16:creationId xmlns:a16="http://schemas.microsoft.com/office/drawing/2014/main" id="{04B7A01D-7DBC-3D2C-2A8F-6560E4BAEACC}"/>
              </a:ext>
            </a:extLst>
          </p:cNvPr>
          <p:cNvSpPr>
            <a:spLocks noGrp="1"/>
          </p:cNvSpPr>
          <p:nvPr>
            <p:ph idx="1"/>
          </p:nvPr>
        </p:nvSpPr>
        <p:spPr>
          <a:xfrm>
            <a:off x="685175" y="2309943"/>
            <a:ext cx="10364452" cy="3424107"/>
          </a:xfrm>
        </p:spPr>
        <p:txBody>
          <a:bodyPr/>
          <a:lstStyle/>
          <a:p>
            <a:pPr marL="0" indent="0">
              <a:buNone/>
            </a:pPr>
            <a:r>
              <a:rPr lang="es-MX" dirty="0">
                <a:hlinkClick r:id="rId2"/>
              </a:rPr>
              <a:t>https://github.com/lopezramirezsimone-cyber/practica-numeros-pseudoaleatorios.git</a:t>
            </a:r>
          </a:p>
          <a:p>
            <a:pPr marL="0" indent="0">
              <a:buNone/>
            </a:pPr>
            <a:endParaRPr lang="es-MX" dirty="0">
              <a:hlinkClick r:id="rId2"/>
            </a:endParaRPr>
          </a:p>
        </p:txBody>
      </p:sp>
    </p:spTree>
    <p:extLst>
      <p:ext uri="{BB962C8B-B14F-4D97-AF65-F5344CB8AC3E}">
        <p14:creationId xmlns:p14="http://schemas.microsoft.com/office/powerpoint/2010/main" val="1434526284"/>
      </p:ext>
    </p:extLst>
  </p:cSld>
  <p:clrMapOvr>
    <a:masterClrMapping/>
  </p:clrMapOvr>
</p:sld>
</file>

<file path=ppt/theme/theme1.xml><?xml version="1.0" encoding="utf-8"?>
<a:theme xmlns:a="http://schemas.openxmlformats.org/drawingml/2006/main" name="Gota">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Gota</Template>
  <TotalTime>1324</TotalTime>
  <Words>1206</Words>
  <Application>Microsoft Office PowerPoint</Application>
  <PresentationFormat>Panorámica</PresentationFormat>
  <Paragraphs>48</Paragraphs>
  <Slides>14</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Tw Cen MT</vt:lpstr>
      <vt:lpstr>Gota</vt:lpstr>
      <vt:lpstr>Presentación de PowerPoint</vt:lpstr>
      <vt:lpstr>Introducción </vt:lpstr>
      <vt:lpstr>Justificación </vt:lpstr>
      <vt:lpstr>Presentación de PowerPoint</vt:lpstr>
      <vt:lpstr>Presentación de PowerPoint</vt:lpstr>
      <vt:lpstr> </vt:lpstr>
      <vt:lpstr>Presentación de PowerPoint</vt:lpstr>
      <vt:lpstr>Simulación de inventario en R En este ejercicio simulo una tienda que comienza con 50 productos y realiza ventas durante siete días. El programa genera una demanda diaria de entre 5 y 12 productos y registra cuánto se vende y cuántos productos quedan disponibles. Si la demanda supera las existencias, solo se vende lo disponible y se registra la cantidad que no pudo atenderse. Esto permite observar cómo disminuye el inventario y reconocer cuándo hace falta reponer productos. </vt:lpstr>
      <vt:lpstr>Simulación de atención a 15 clientes en R En este ejercicio simulo la llegada de 15 clientes a un lugar donde una sola persona los atiende por orden de llegada. El programa genera los intervalos entre llegadas y la duración de cada servicio. Si alguien llega mientras se atiende a otro cliente, debe esperar su turno. La tabla muestra cuándo llega cada cliente, cuándo comienza y termina su atención y cuánto espera. También se calcula la espera promedio, la espera máxima y el tiempo total hasta terminar la última atención. Así puedo observar cómo se forma una fila. </vt:lpstr>
      <vt:lpstr>Simulación del lanzamiento de un dado en Java En este ejercicio simulo 20 lanzamientos de un dado mediante números pseudoaleatorios del 1 al 6. El programa cuenta cuántas veces aparece cada cara y calcula su porcentaje, lo que permite comparar los resultados de los lanzamientos. En los resultados se observa que la cara 6 apareció 3 veces, equivalente al 15 % de los lanzamientos, y el promedio fue de 3.85 </vt:lpstr>
      <vt:lpstr>Simulación de inventario en Java En este ejercicio simulo las ventas de una tienda durante siete días, comenzando con 50 productos. El programa genera una demanda diaria de entre 5 y 12 unidades, descuenta los productos vendidos y registra cuántos quedan disponibles. Los resultados muestran que se vendieron los 50 productos y el inventario terminó en cero. Además, quedó una demanda de 11 unidades sin atender porque las existencias se agotaron. </vt:lpstr>
      <vt:lpstr>simulación de atención a 15 clientes en java en este ejercicio simulo la llegada de 15 clientes que son atendidos por una sola persona, siguiendo su orden de llegada. el programa genera los tiempos entre llegadas y la duración de cada atención. cuando un cliente llega y la persona sigue ocupada, debe esperar su turno. la tabla permite identificar cuándo llega cada cliente, cuándo comienza y termina su atención y cuánto espera. también se calculan la espera promedio, la espera máxima y el momento en que termina la última atención, para comprender cómo se forma una fila. </vt:lpstr>
      <vt:lpstr>Conclusion </vt:lpstr>
      <vt:lpstr>ANEXO LINK DE LA ACTIVIDAD SOLICITADA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840 G5</dc:creator>
  <cp:lastModifiedBy>Belen</cp:lastModifiedBy>
  <cp:revision>42</cp:revision>
  <dcterms:created xsi:type="dcterms:W3CDTF">2025-08-17T02:41:38Z</dcterms:created>
  <dcterms:modified xsi:type="dcterms:W3CDTF">2026-10-03T11:53:41Z</dcterms:modified>
</cp:coreProperties>
</file>